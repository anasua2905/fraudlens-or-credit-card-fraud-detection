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d48119a-b47d-00c1-c672-3dbf2897934b}">
          <p14:sldIdLst>
            <p14:sldId id="256"/>
            <p14:sldId id="257"/>
          </p14:sldIdLst>
        </p14:section>
        <p14:section name="Lifecycle" id="{e1af44ad-0133-8656-9a51-f51112441a9e}">
          <p14:sldIdLst>
            <p14:sldId id="258"/>
            <p14:sldId id="259"/>
          </p14:sldIdLst>
        </p14:section>
        <p14:section name="Data" id="{7f094d91-b99d-5b9d-14aa-9d2888f43a4f}">
          <p14:sldIdLst>
            <p14:sldId id="260"/>
            <p14:sldId id="261"/>
          </p14:sldIdLst>
        </p14:section>
        <p14:section name="Modelling" id="{39648895-9898-5f12-436f-83090ccdfe7a}">
          <p14:sldIdLst>
            <p14:sldId id="262"/>
            <p14:sldId id="263"/>
            <p14:sldId id="264"/>
          </p14:sldIdLst>
        </p14:section>
        <p14:section name="Deployment" id="{bd56bf68-97a7-2834-2af4-da6f4ca76afe}">
          <p14:sldIdLst>
            <p14:sldId id="265"/>
            <p14:sldId id="266"/>
            <p14:sldId id="267"/>
          </p14:sldIdLst>
        </p14:section>
        <p14:section name="Close" id="{d3d4c99e-2a51-df44-f8c8-c2b0f4e20a4e}">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Transactions</c:v>
                </c:pt>
              </c:strCache>
            </c:strRef>
          </c:tx>
          <c:spPr>
            <a:solidFill>
              <a:srgbClr val="2A78D6"/>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c:v>
                  </c:pt>
                  <c:pt idx="1">
                    <c:v>Validation</c:v>
                  </c:pt>
                  <c:pt idx="2">
                    <c:v>Test</c:v>
                  </c:pt>
                </c:lvl>
              </c:multiLvlStrCache>
            </c:multiLvlStrRef>
          </c:cat>
          <c:val>
            <c:numRef>
              <c:f>Sheet1!$B$2:$B$4</c:f>
              <c:numCache>
                <c:formatCode>General</c:formatCode>
                <c:ptCount val="3"/>
                <c:pt idx="0">
                  <c:v>1185094</c:v>
                </c:pt>
                <c:pt idx="1">
                  <c:v>111581</c:v>
                </c:pt>
                <c:pt idx="2">
                  <c:v>555719</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Validation PR-AUC (fraud rate 0.006)</a:t>
            </a:r>
          </a:p>
        </c:rich>
      </c:tx>
      <c:layout/>
      <c:overlay val="0"/>
    </c:title>
    <c:autoTitleDeleted val="0"/>
    <c:plotArea>
      <c:layout/>
      <c:barChart>
        <c:barDir val="bar"/>
        <c:grouping val="clustered"/>
        <c:varyColors val="0"/>
        <c:ser>
          <c:idx val="0"/>
          <c:order val="0"/>
          <c:tx>
            <c:strRef>
              <c:f>Sheet1!$B$1</c:f>
              <c:strCache>
                <c:ptCount val="1"/>
                <c:pt idx="0">
                  <c:v>Validation PR-AUC</c:v>
                </c:pt>
              </c:strCache>
            </c:strRef>
          </c:tx>
          <c:spPr>
            <a:solidFill>
              <a:srgbClr val="8A94A6"/>
            </a:solidFill>
            <a:effectLst/>
          </c:spPr>
          <c:invertIfNegative val="0"/>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8A94A6"/>
              </a:solidFill>
              <a:effectLst/>
            </c:spPr>
          </c:dPt>
          <c:dPt>
            <c:idx val="2"/>
            <c:invertIfNegative val="0"/>
            <c:bubble3D val="0"/>
            <c:spPr>
              <a:solidFill>
                <a:srgbClr val="8A94A6"/>
              </a:solidFill>
              <a:effectLst/>
            </c:spPr>
          </c:dPt>
          <c:dPt>
            <c:idx val="3"/>
            <c:invertIfNegative val="0"/>
            <c:bubble3D val="0"/>
            <c:spPr>
              <a:solidFill>
                <a:srgbClr val="E4572E"/>
              </a:solidFill>
              <a:effectLst/>
            </c:spPr>
          </c:dPt>
          <c:dPt>
            <c:idx val="4"/>
            <c:invertIfNegative val="0"/>
            <c:bubble3D val="0"/>
            <c:spPr>
              <a:solidFill>
                <a:srgbClr val="8A94A6"/>
              </a:solidFill>
              <a:effectLst/>
            </c:spPr>
          </c:dPt>
          <c:dPt>
            <c:idx val="5"/>
            <c:invertIfNegative val="0"/>
            <c:bubble3D val="0"/>
            <c:spPr>
              <a:solidFill>
                <a:srgbClr val="8A94A6"/>
              </a:solidFill>
              <a:effectLst/>
            </c:spPr>
          </c:dPt>
          <c:cat>
            <c:multiLvlStrRef>
              <c:f>Sheet1!$A$2:$A$7</c:f>
              <c:multiLvlStrCache>
                <c:ptCount val="6"/>
                <c:lvl>
                  <c:pt idx="0">
                    <c:v>LightGBM</c:v>
                  </c:pt>
                  <c:pt idx="1">
                    <c:v>XGBoost</c:v>
                  </c:pt>
                  <c:pt idx="2">
                    <c:v>Hybrid</c:v>
                  </c:pt>
                  <c:pt idx="3">
                    <c:v>HistGB</c:v>
                  </c:pt>
                  <c:pt idx="4">
                    <c:v>Logistic</c:v>
                  </c:pt>
                  <c:pt idx="5">
                    <c:v>Isolation F.</c:v>
                  </c:pt>
                </c:lvl>
              </c:multiLvlStrCache>
            </c:multiLvlStrRef>
          </c:cat>
          <c:val>
            <c:numRef>
              <c:f>Sheet1!$B$2:$B$7</c:f>
              <c:numCache>
                <c:formatCode>General</c:formatCode>
                <c:ptCount val="6"/>
                <c:pt idx="0">
                  <c:v>0.988</c:v>
                </c:pt>
                <c:pt idx="1">
                  <c:v>0.987</c:v>
                </c:pt>
                <c:pt idx="2">
                  <c:v>0.984</c:v>
                </c:pt>
                <c:pt idx="3">
                  <c:v>0.982</c:v>
                </c:pt>
                <c:pt idx="4">
                  <c:v>0.684</c:v>
                </c:pt>
                <c:pt idx="5">
                  <c:v>0.356</c:v>
                </c:pt>
              </c:numCache>
            </c:numRef>
          </c:val>
        </c:ser>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Monthly performance on the test period</a:t>
            </a:r>
          </a:p>
        </c:rich>
      </c:tx>
      <c:layout/>
      <c:overlay val="0"/>
    </c:title>
    <c:autoTitleDeleted val="0"/>
    <c:plotArea>
      <c:layout/>
      <c:lineChart>
        <c:varyColors val="0"/>
        <c:ser>
          <c:idx val="0"/>
          <c:order val="0"/>
          <c:tx>
            <c:strRef>
              <c:f>Sheet1!$B$1</c:f>
              <c:strCache>
                <c:ptCount val="1"/>
                <c:pt idx="0">
                  <c:v>Recall</c:v>
                </c:pt>
              </c:strCache>
            </c:strRef>
          </c:tx>
          <c:spPr>
            <a:solidFill>
              <a:srgbClr val="1F8A70"/>
            </a:solidFill>
            <a:ln w="31750" cap="flat">
              <a:solidFill>
                <a:srgbClr val="1F8A70"/>
              </a:solidFill>
              <a:prstDash val="solid"/>
              <a:round/>
            </a:ln>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1F8A70"/>
              </a:solidFill>
              <a:ln w="9525" cap="flat">
                <a:solidFill>
                  <a:srgbClr val="1F8A70"/>
                </a:solidFill>
                <a:prstDash val="solid"/>
                <a:round/>
              </a:ln>
              <a:effectLst/>
            </c:spPr>
          </c:marker>
          <c:cat>
            <c:multiLvlStrRef>
              <c:f>Sheet1!$A$2:$A$8</c:f>
              <c:multiLvlStrCache>
                <c:ptCount val="7"/>
                <c:lvl>
                  <c:pt idx="0">
                    <c:v>2020-06</c:v>
                  </c:pt>
                  <c:pt idx="1">
                    <c:v>2020-07</c:v>
                  </c:pt>
                  <c:pt idx="2">
                    <c:v>2020-08</c:v>
                  </c:pt>
                  <c:pt idx="3">
                    <c:v>2020-09</c:v>
                  </c:pt>
                  <c:pt idx="4">
                    <c:v>2020-10</c:v>
                  </c:pt>
                  <c:pt idx="5">
                    <c:v>2020-11</c:v>
                  </c:pt>
                  <c:pt idx="6">
                    <c:v>2020-12</c:v>
                  </c:pt>
                </c:lvl>
              </c:multiLvlStrCache>
            </c:multiLvlStrRef>
          </c:cat>
          <c:val>
            <c:numRef>
              <c:f>Sheet1!$B$2:$B$8</c:f>
              <c:numCache>
                <c:formatCode>General</c:formatCode>
                <c:ptCount val="7"/>
                <c:pt idx="0">
                  <c:v>0.9699</c:v>
                </c:pt>
                <c:pt idx="1">
                  <c:v>0.9439</c:v>
                </c:pt>
                <c:pt idx="2">
                  <c:v>0.9687</c:v>
                </c:pt>
                <c:pt idx="3">
                  <c:v>0.9588</c:v>
                </c:pt>
                <c:pt idx="4">
                  <c:v>0.9661</c:v>
                </c:pt>
                <c:pt idx="5">
                  <c:v>0.9796</c:v>
                </c:pt>
                <c:pt idx="6">
                  <c:v>0.9496</c:v>
                </c:pt>
              </c:numCache>
            </c:numRef>
          </c:val>
          <c:smooth val="0"/>
        </c:ser>
        <c:ser>
          <c:idx val="1"/>
          <c:order val="1"/>
          <c:tx>
            <c:strRef>
              <c:f>Sheet1!$C$1</c:f>
              <c:strCache>
                <c:ptCount val="1"/>
                <c:pt idx="0">
                  <c:v>Precision</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E4572E"/>
              </a:solidFill>
              <a:ln w="9525" cap="flat">
                <a:solidFill>
                  <a:srgbClr val="E4572E"/>
                </a:solidFill>
                <a:prstDash val="solid"/>
                <a:round/>
              </a:ln>
              <a:effectLst/>
            </c:spPr>
          </c:marker>
          <c:cat>
            <c:multiLvlStrRef>
              <c:f>Sheet1!$A$2:$A$8</c:f>
              <c:multiLvlStrCache>
                <c:ptCount val="7"/>
                <c:lvl>
                  <c:pt idx="0">
                    <c:v>2020-06</c:v>
                  </c:pt>
                  <c:pt idx="1">
                    <c:v>2020-07</c:v>
                  </c:pt>
                  <c:pt idx="2">
                    <c:v>2020-08</c:v>
                  </c:pt>
                  <c:pt idx="3">
                    <c:v>2020-09</c:v>
                  </c:pt>
                  <c:pt idx="4">
                    <c:v>2020-10</c:v>
                  </c:pt>
                  <c:pt idx="5">
                    <c:v>2020-11</c:v>
                  </c:pt>
                  <c:pt idx="6">
                    <c:v>2020-12</c:v>
                  </c:pt>
                </c:lvl>
              </c:multiLvlStrCache>
            </c:multiLvlStrRef>
          </c:cat>
          <c:val>
            <c:numRef>
              <c:f>Sheet1!$C$2:$C$8</c:f>
              <c:numCache>
                <c:formatCode>General</c:formatCode>
                <c:ptCount val="7"/>
                <c:pt idx="0">
                  <c:v>0.7457</c:v>
                </c:pt>
                <c:pt idx="1">
                  <c:v>0.7146</c:v>
                </c:pt>
                <c:pt idx="2">
                  <c:v>0.7556</c:v>
                </c:pt>
                <c:pt idx="3">
                  <c:v>0.7376</c:v>
                </c:pt>
                <c:pt idx="4">
                  <c:v>0.726</c:v>
                </c:pt>
                <c:pt idx="5">
                  <c:v>0.7129</c:v>
                </c:pt>
                <c:pt idx="6">
                  <c:v>0.6712</c:v>
                </c:pt>
              </c:numCache>
            </c:numRef>
          </c:val>
          <c:smooth val="0"/>
        </c:ser>
        <c:dLbls>
          <c:numFmt formatCode="#,##0" sourceLinked="0"/>
          <c:txPr>
            <a:bodyPr/>
            <a:lstStyle/>
            <a:p>
              <a:pPr>
                <a:defRPr b="0" i="0" strike="noStrike" sz="10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Average impact on the fraud log-odds (SHAP)</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2A78D6"/>
            </a:solidFill>
            <a:effectLst/>
          </c:spPr>
          <c:invertIfNegative val="0"/>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Sheet1!$A$2:$A$9</c:f>
              <c:multiLvlStrCache>
                <c:ptCount val="8"/>
                <c:lvl>
                  <c:pt idx="0">
                    <c:v>secs_since_last_txn</c:v>
                  </c:pt>
                  <c:pt idx="1">
                    <c:v>txn_count_24h</c:v>
                  </c:pt>
                  <c:pt idx="2">
                    <c:v>amt_sum_1h</c:v>
                  </c:pt>
                  <c:pt idx="3">
                    <c:v>txn_count_7d</c:v>
                  </c:pt>
                  <c:pt idx="4">
                    <c:v>is_night</c:v>
                  </c:pt>
                  <c:pt idx="5">
                    <c:v>amt_sum_24h</c:v>
                  </c:pt>
                  <c:pt idx="6">
                    <c:v>category</c:v>
                  </c:pt>
                  <c:pt idx="7">
                    <c:v>amount</c:v>
                  </c:pt>
                </c:lvl>
              </c:multiLvlStrCache>
            </c:multiLvlStrRef>
          </c:cat>
          <c:val>
            <c:numRef>
              <c:f>Sheet1!$B$2:$B$9</c:f>
              <c:numCache>
                <c:formatCode>General</c:formatCode>
                <c:ptCount val="8"/>
                <c:pt idx="0">
                  <c:v>0.39</c:v>
                </c:pt>
                <c:pt idx="1">
                  <c:v>0.41</c:v>
                </c:pt>
                <c:pt idx="2">
                  <c:v>0.46</c:v>
                </c:pt>
                <c:pt idx="3">
                  <c:v>0.55</c:v>
                </c:pt>
                <c:pt idx="4">
                  <c:v>0.66</c:v>
                </c:pt>
                <c:pt idx="5">
                  <c:v>1.16</c:v>
                </c:pt>
                <c:pt idx="6">
                  <c:v>1.22</c:v>
                </c:pt>
                <c:pt idx="7">
                  <c:v>2.83</c:v>
                </c:pt>
              </c:numCache>
            </c:numRef>
          </c:val>
        </c:ser>
        <c:dLbls>
          <c:numFmt formatCode="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B5563"/>
                </a:solidFill>
                <a:latin typeface="+mn-lt"/>
              </a:defRPr>
            </a:pPr>
            <a:r>
              <a:rPr sz="1200" b="0" i="0" u="none" strike="noStrike">
                <a:solidFill>
                  <a:srgbClr val="4B5563"/>
                </a:solidFill>
                <a:latin typeface="+mn-lt"/>
              </a:rPr>
              <a:t>Share of monitored features drifting (Evidently); retrain trigger &gt; 30%</a:t>
            </a:r>
          </a:p>
        </c:rich>
      </c:tx>
      <c:layout/>
      <c:overlay val="0"/>
    </c:title>
    <c:autoTitleDeleted val="0"/>
    <c:plotArea>
      <c:layout/>
      <c:barChart>
        <c:barDir val="col"/>
        <c:grouping val="clustered"/>
        <c:varyColors val="0"/>
        <c:ser>
          <c:idx val="0"/>
          <c:order val="0"/>
          <c:tx>
            <c:strRef>
              <c:f>Sheet1!$B$1</c:f>
              <c:strCache>
                <c:ptCount val="1"/>
                <c:pt idx="0">
                  <c:v>Drift share</c:v>
                </c:pt>
              </c:strCache>
            </c:strRef>
          </c:tx>
          <c:spPr>
            <a:solidFill>
              <a:srgbClr val="2A78D6"/>
            </a:solidFill>
            <a:effectLst/>
          </c:spPr>
          <c:invertIfNegative val="0"/>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2A78D6"/>
              </a:solidFill>
              <a:effectLst/>
            </c:spPr>
          </c:dPt>
          <c:dPt>
            <c:idx val="3"/>
            <c:invertIfNegative val="0"/>
            <c:bubble3D val="0"/>
            <c:spPr>
              <a:solidFill>
                <a:srgbClr val="E4572E"/>
              </a:solidFill>
              <a:effectLst/>
            </c:spPr>
          </c:dPt>
          <c:dPt>
            <c:idx val="4"/>
            <c:invertIfNegative val="0"/>
            <c:bubble3D val="0"/>
            <c:spPr>
              <a:solidFill>
                <a:srgbClr val="2A78D6"/>
              </a:solidFill>
              <a:effectLst/>
            </c:spPr>
          </c:dPt>
          <c:dPt>
            <c:idx val="5"/>
            <c:invertIfNegative val="0"/>
            <c:bubble3D val="0"/>
            <c:spPr>
              <a:solidFill>
                <a:srgbClr val="2A78D6"/>
              </a:solidFill>
              <a:effectLst/>
            </c:spPr>
          </c:dPt>
          <c:dPt>
            <c:idx val="6"/>
            <c:invertIfNegative val="0"/>
            <c:bubble3D val="0"/>
            <c:spPr>
              <a:solidFill>
                <a:srgbClr val="2A78D6"/>
              </a:solidFill>
              <a:effectLst/>
            </c:spPr>
          </c:dPt>
          <c:dPt>
            <c:idx val="7"/>
            <c:invertIfNegative val="0"/>
            <c:bubble3D val="0"/>
            <c:spPr>
              <a:solidFill>
                <a:srgbClr val="E4572E"/>
              </a:solidFill>
              <a:effectLst/>
            </c:spPr>
          </c:dPt>
          <c:cat>
            <c:multiLvlStrRef>
              <c:f>Sheet1!$A$2:$A$9</c:f>
              <c:multiLvlStrCache>
                <c:ptCount val="8"/>
                <c:lvl>
                  <c:pt idx="0">
                    <c:v>2020-05</c:v>
                  </c:pt>
                  <c:pt idx="1">
                    <c:v>2020-06</c:v>
                  </c:pt>
                  <c:pt idx="2">
                    <c:v>2020-07</c:v>
                  </c:pt>
                  <c:pt idx="3">
                    <c:v>2020-08</c:v>
                  </c:pt>
                  <c:pt idx="4">
                    <c:v>2020-09</c:v>
                  </c:pt>
                  <c:pt idx="5">
                    <c:v>2020-10</c:v>
                  </c:pt>
                  <c:pt idx="6">
                    <c:v>2020-11</c:v>
                  </c:pt>
                  <c:pt idx="7">
                    <c:v>2020-12</c:v>
                  </c:pt>
                </c:lvl>
              </c:multiLvlStrCache>
            </c:multiLvlStrRef>
          </c:cat>
          <c:val>
            <c:numRef>
              <c:f>Sheet1!$B$2:$B$9</c:f>
              <c:numCache>
                <c:formatCode>General</c:formatCode>
                <c:ptCount val="8"/>
                <c:pt idx="0">
                  <c:v>0.14</c:v>
                </c:pt>
                <c:pt idx="1">
                  <c:v>0.29</c:v>
                </c:pt>
                <c:pt idx="2">
                  <c:v>0.29</c:v>
                </c:pt>
                <c:pt idx="3">
                  <c:v>0.36</c:v>
                </c:pt>
                <c:pt idx="4">
                  <c:v>0.14</c:v>
                </c:pt>
                <c:pt idx="5">
                  <c:v>0.29</c:v>
                </c:pt>
                <c:pt idx="6">
                  <c:v>0.21</c:v>
                </c:pt>
                <c:pt idx="7">
                  <c:v>0.5</c:v>
                </c:pt>
              </c:numCache>
            </c:numRef>
          </c:val>
        </c:ser>
        <c:dLbls>
          <c:numFmt formatCode="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2"/>
        <c:crosses val="autoZero"/>
        <c:auto val="1"/>
        <c:lblAlgn val="ctr"/>
        <c:noMultiLvlLbl val="1"/>
      </c:catAx>
      <c:valAx>
        <c:axId val="2094734552"/>
        <c:scaling>
          <c:orientation val="minMax"/>
          <c:max val="0.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FraudLens is our end-to-end anomaly detection framework for card fraud. In the next ten minutes we walk through all eight stages of the data science lifecycle, show the open-source platform it runs on, demonstrate the deployed system, and finish with monitoring and how the project was 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problem is a trade-off: catch fraud, but keep the analysts' queue small and trustworthy. We wrote four success criteria into the configuration before any model was trained. On the six months of test data the champion catches 96.2% of fraud with 72.4% precision at 14.7 alerts a day. In money terms that is an estimated $964,182 net benefit, but note the word estimated: it assumes a review costs fifteen dollars and that ninety percent of caught fraud value is recovered, on simulated data. It ranks operating points; real savings would have to be measured in a trial. Accuracy is not on the slide on purpose: never alerting would be 99.6%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the eight-stage lifecycle. Each stage has a module in the package and an executed notebook. One command reproduces everything from the raw files, and a verification stage checks that the stages agree with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role in a modern cloud data pipeline has an open-source component here. MinIO is the S3-compatible lake with raw, silver and gold buckets. NiFi ingests the files; a Python crawler infers schemas and registers tables in the Hive Metastore. Governance is enforced by Trino access rules and least-privilege MinIO accounts and documented in OpenMetadata. Trino and ClickHouse serve analytics; Superset, Grafana and our Streamlit dashboard visualise. MLflow, FastAPI, Evidently and Prometheus cover machine-learning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Acquisition records checksums, sizes and a column profile, and on the platform NiFi writes the files into an immutable raw bucket. Preparation validates a data contract, removes personal identifiers and builds behavioural features from each card's history, using only earlier transactions; we proved that with a brute-force recomputation. The split is chronological, because a fraud model is always deployed forward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EDA on the training period confirmed the hypotheses from stage one. Fraud is large compared with the card's own history, concentrated at night, arrives in bursts on compromised cards, and is two to three times more common in online shopping and grocery point-of-sale. Demographics carry little signal, so we kept them but check fairness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logistic regression, three gradient-boosting libraries, an unsupervised Isolation Forest and a hybrid. The boosted models are all around 0.98 PR-AUC on validation, logistic regression 0.68, and the anomaly detector alone only 0.36. Rather than pick the top number, we registered a rule in advance: choose the simplest model that is statistically non-inferior to the best. That is HistGB, which needs only scikit-learn and is the smallest and fastest to 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was chosen on validation to maximise net benefit and then applied once to the test period. Recall is 96.2% and precision 72.4%, with bootstrap intervals of about plus or minus one percentage point, and the monthly lines are stable from June to December. The fraud it misses is mostly small transactions, where an alert would cost more than it recovers.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Explanations come from SHAP. Amount, category, the last 24 hours of spend, night-time and velocity drive the score, which matches the EDA. Every alert carries its top three reasons, so the analyst sees why. We also report performance by group: recall is high for everyone, but slightly lower for women than for men, so before any real deployment we would retrain without gender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has two faces. The FastAPI service scores a raw transaction in real time: the online feature store keeps every card's running history, the model scores, and SHAP gives the reasons. The Streamlit dashboard is for analysts and managers. Here you see live scoring: a simulated card-testing burst of six rising amounts three minutes apart is flagged at 0.94 with readable reasons. Both run from one 40-megabyte bundle and are packaged as a container image.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main question from the last review: what happens to a transaction we have never seen. It arrives at the scoring API, or here in the dashboard, which runs the same code. The online feature store computes its card-history features from the card's earlier transactions. The champion scores it, SHAP explains the score, and for an alert we also show the amount at which it would have been approved. An alert opens a case in the review queue; the analyst sees exactly what the model saw and records fraud or legitimate, with their name in the audit log. Those decisions are labels: live precision is tracked against the policy floor and alerts in Prometheus if it drops, disputes on approved transactions count as misses, and every decided case becomes a training example for the next model. Access is controlled throughout: API keys by role and a dashboard sign-in where only analysts can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replays the scored months as if the model were live. Evidently measures drift against the training data; performance is measured at the fixed threshold. The policy flagged August and December, driven by seasonal spending, while recall stayed above the floor, so a person reviews the recommendation. A challenger retrained on more recent data scores slightly higher and would be promoted through the MLflow registry alias. In operation, Prometheus and Grafana watch the API and analyst feedback provides new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run like a product. The GitHub Project board is generated from a plan file, with milestones and an issue per task, and a lifecycle-stage field so progress is visible stage by stage. Three workflows test the lifecycle, the whole Docker platform, and the deployable image. On the runner every platform service starts, the sample lifecycle flows from NiFi through the lake, Trino and ClickHouse, and 14 of 14 smoke checks pass; OpenMetadata catalogues 13 tables with 29 PII-tagged columns and lineage. Fifty-six verification checks pass, including a train-to-serve parity test that caught a real precision bug during the final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FraudLens meets all five objectives, from data collection to a monitored deployment, on open-source tools. The limitation to keep in mind is that the data are simulated, so the numbers validate the method rather than predict production accuracy. Next steps are real data, calibrated probabilities and a scheduled retraining loop.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8046720" cy="164592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514600"/>
            <a:ext cx="8046720" cy="1828800"/>
          </a:xfrm>
          <a:prstGeom prst="rect">
            <a:avLst/>
          </a:prstGeom>
          <a:noFill/>
          <a:ln/>
        </p:spPr>
        <p:txBody>
          <a:bodyPr wrap="square" rtlCol="0"/>
          <a:lstStyle>
            <a:lvl1pPr algn="l" indent="0" marL="0">
              <a:buNone/>
              <a:defRPr lang="en-US" sz="1700" dirty="0">
                <a:solidFill>
                  <a:srgbClr val="CADCFC"/>
                </a:solidFill>
              </a:defRPr>
            </a:lvl1pPr>
          </a:lstStyle>
          <a:p>
            <a:pPr algn="l"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00600"/>
            <a:ext cx="3657600" cy="228600"/>
          </a:xfrm>
          <a:prstGeom prst="rect">
            <a:avLst/>
          </a:prstGeom>
          <a:noFill/>
          <a:ln/>
        </p:spPr>
        <p:txBody>
          <a:bodyPr wrap="square" rtlCol="0" anchor="ctr"/>
          <a:lstStyle/>
          <a:p>
            <a:pPr indent="0" marL="0">
              <a:buNone/>
            </a:pPr>
            <a:r>
              <a:rPr lang="en-US" sz="900" dirty="0">
                <a:solidFill>
                  <a:schemeClr val="accent6"/>
                </a:solidFill>
              </a:rPr>
              <a:t>FraudLens · PRT661 Assessment 4</a:t>
            </a:r>
            <a:endParaRPr lang="en-US" sz="9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8046720" cy="1645920"/>
          </a:xfrm>
          <a:prstGeom prst="rect">
            <a:avLst/>
          </a:prstGeom>
          <a:noFill/>
          <a:ln/>
        </p:spPr>
        <p:txBody>
          <a:bodyPr wrap="square"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FraudLens</a:t>
            </a:r>
            <a:endParaRPr lang="en-US" sz="3800" dirty="0"/>
          </a:p>
        </p:txBody>
      </p:sp>
      <p:sp>
        <p:nvSpPr>
          <p:cNvPr id="3" name="Text 0"/>
          <p:cNvSpPr/>
          <p:nvPr>
            <p:ph idx="101" type="body" hasCustomPrompt="1"/>
          </p:nvPr>
        </p:nvSpPr>
        <p:spPr>
          <a:xfrm>
            <a:off x="548640" y="2514600"/>
            <a:ext cx="8046720" cy="1828800"/>
          </a:xfrm>
          <a:prstGeom prst="rect">
            <a:avLst/>
          </a:prstGeom>
          <a:noFill/>
          <a:ln/>
        </p:spPr>
        <p:txBody>
          <a:bodyPr wrap="square" rtlCol="0" anchor="t"/>
          <a:lstStyle/>
          <a:p>
            <a:pPr algn="l" indent="0" marL="0">
              <a:buNone/>
            </a:pPr>
            <a:r>
              <a:rPr lang="en-US" sz="1700" dirty="0">
                <a:solidFill>
                  <a:srgbClr val="CADCFC"/>
                </a:solidFill>
              </a:rPr>
              <a:t>An anomaly detection framework for fraudulent credit card transactions</a:t>
            </a:r>
            <a:endParaRPr lang="en-US" sz="1700" dirty="0"/>
          </a:p>
          <a:p>
            <a:pPr algn="l" indent="0" marL="0">
              <a:buNone/>
            </a:pPr>
            <a:r>
              <a:rPr lang="en-US" sz="1400" dirty="0">
                <a:solidFill>
                  <a:srgbClr val="8FA6CF"/>
                </a:solidFill>
              </a:rPr>
              <a:t>The complete data science lifecycle on an open-source data platform</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Catch fraud without flooding the review queue</a:t>
            </a:r>
            <a:endParaRPr lang="en-US" sz="2800" dirty="0"/>
          </a:p>
        </p:txBody>
      </p:sp>
      <p:sp>
        <p:nvSpPr>
          <p:cNvPr id="3" name="Text 1"/>
          <p:cNvSpPr txBox="1"/>
          <p:nvPr/>
        </p:nvSpPr>
        <p:spPr>
          <a:xfrm>
            <a:off x="457200" y="1005840"/>
            <a:ext cx="8229600" cy="548640"/>
          </a:xfrm>
          <a:prstGeom prst="rect">
            <a:avLst/>
          </a:prstGeom>
          <a:noFill/>
          <a:ln/>
        </p:spPr>
        <p:txBody>
          <a:bodyPr wrap="square" lIns="0" tIns="0" rIns="0" bIns="0" rtlCol="0" anchor="t"/>
          <a:lstStyle/>
          <a:p>
            <a:pPr indent="0" marL="0">
              <a:buNone/>
            </a:pPr>
            <a:r>
              <a:rPr lang="en-US" sz="1500" dirty="0">
                <a:solidFill>
                  <a:schemeClr val="tx1"/>
                </a:solidFill>
              </a:rPr>
              <a:t>Every alert costs an analyst $15; every missed fraud costs its amount. Four success criteria were set before modelling; all four are met on the untouched test period (Jun-Dec 2020).</a:t>
            </a:r>
            <a:endParaRPr lang="en-US" sz="1500" dirty="0"/>
          </a:p>
        </p:txBody>
      </p:sp>
      <p:sp>
        <p:nvSpPr>
          <p:cNvPr id="4" name="card-1"/>
          <p:cNvSpPr/>
          <p:nvPr/>
        </p:nvSpPr>
        <p:spPr>
          <a:xfrm>
            <a:off x="457200" y="1783080"/>
            <a:ext cx="1920240" cy="1143000"/>
          </a:xfrm>
          <a:prstGeom prst="roundRect">
            <a:avLst>
              <a:gd name="adj" fmla="val 6400"/>
            </a:avLst>
          </a:prstGeom>
          <a:solidFill>
            <a:schemeClr val="bg2"/>
          </a:solidFill>
          <a:ln w="12700">
            <a:solidFill>
              <a:schemeClr val="bg2"/>
            </a:solidFill>
            <a:prstDash val="solid"/>
          </a:ln>
        </p:spPr>
      </p:sp>
      <p:sp>
        <p:nvSpPr>
          <p:cNvPr id="5" name="Text 3"/>
          <p:cNvSpPr txBox="1"/>
          <p:nvPr/>
        </p:nvSpPr>
        <p:spPr>
          <a:xfrm>
            <a:off x="640080" y="1892808"/>
            <a:ext cx="1554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96.2%</a:t>
            </a:r>
            <a:endParaRPr lang="en-US" sz="3000" dirty="0"/>
          </a:p>
        </p:txBody>
      </p:sp>
      <p:sp>
        <p:nvSpPr>
          <p:cNvPr id="6" name="Text 4"/>
          <p:cNvSpPr txBox="1"/>
          <p:nvPr/>
        </p:nvSpPr>
        <p:spPr>
          <a:xfrm>
            <a:off x="640080" y="2459736"/>
            <a:ext cx="1554480" cy="411480"/>
          </a:xfrm>
          <a:prstGeom prst="rect">
            <a:avLst/>
          </a:prstGeom>
          <a:noFill/>
          <a:ln/>
        </p:spPr>
        <p:txBody>
          <a:bodyPr wrap="square" lIns="0" tIns="0" rIns="0" bIns="0" rtlCol="0" anchor="t"/>
          <a:lstStyle/>
          <a:p>
            <a:pPr indent="0" marL="0">
              <a:buNone/>
            </a:pPr>
            <a:r>
              <a:rPr lang="en-US" sz="1200" dirty="0">
                <a:solidFill>
                  <a:schemeClr val="tx1"/>
                </a:solidFill>
              </a:rPr>
              <a:t>recall · target ≥ 90%</a:t>
            </a:r>
            <a:endParaRPr lang="en-US" sz="1200" dirty="0"/>
          </a:p>
        </p:txBody>
      </p:sp>
      <p:sp>
        <p:nvSpPr>
          <p:cNvPr id="7" name="card-2"/>
          <p:cNvSpPr/>
          <p:nvPr/>
        </p:nvSpPr>
        <p:spPr>
          <a:xfrm>
            <a:off x="2560320" y="1783080"/>
            <a:ext cx="1920240" cy="1143000"/>
          </a:xfrm>
          <a:prstGeom prst="roundRect">
            <a:avLst>
              <a:gd name="adj" fmla="val 6400"/>
            </a:avLst>
          </a:prstGeom>
          <a:solidFill>
            <a:schemeClr val="bg2"/>
          </a:solidFill>
          <a:ln w="12700">
            <a:solidFill>
              <a:schemeClr val="bg2"/>
            </a:solidFill>
            <a:prstDash val="solid"/>
          </a:ln>
        </p:spPr>
      </p:sp>
      <p:sp>
        <p:nvSpPr>
          <p:cNvPr id="8" name="Text 6"/>
          <p:cNvSpPr txBox="1"/>
          <p:nvPr/>
        </p:nvSpPr>
        <p:spPr>
          <a:xfrm>
            <a:off x="2743200" y="1892808"/>
            <a:ext cx="155448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72.4%</a:t>
            </a:r>
            <a:endParaRPr lang="en-US" sz="3000" dirty="0"/>
          </a:p>
        </p:txBody>
      </p:sp>
      <p:sp>
        <p:nvSpPr>
          <p:cNvPr id="9" name="Text 7"/>
          <p:cNvSpPr txBox="1"/>
          <p:nvPr/>
        </p:nvSpPr>
        <p:spPr>
          <a:xfrm>
            <a:off x="2743200" y="2459736"/>
            <a:ext cx="1554480" cy="411480"/>
          </a:xfrm>
          <a:prstGeom prst="rect">
            <a:avLst/>
          </a:prstGeom>
          <a:noFill/>
          <a:ln/>
        </p:spPr>
        <p:txBody>
          <a:bodyPr wrap="square" lIns="0" tIns="0" rIns="0" bIns="0" rtlCol="0" anchor="t"/>
          <a:lstStyle/>
          <a:p>
            <a:pPr indent="0" marL="0">
              <a:buNone/>
            </a:pPr>
            <a:r>
              <a:rPr lang="en-US" sz="1200" dirty="0">
                <a:solidFill>
                  <a:schemeClr val="tx1"/>
                </a:solidFill>
              </a:rPr>
              <a:t>precision · target ≥ 50%</a:t>
            </a:r>
            <a:endParaRPr lang="en-US" sz="1200" dirty="0"/>
          </a:p>
        </p:txBody>
      </p:sp>
      <p:sp>
        <p:nvSpPr>
          <p:cNvPr id="10" name="card-3"/>
          <p:cNvSpPr/>
          <p:nvPr/>
        </p:nvSpPr>
        <p:spPr>
          <a:xfrm>
            <a:off x="4663440" y="1783080"/>
            <a:ext cx="1920240" cy="1143000"/>
          </a:xfrm>
          <a:prstGeom prst="roundRect">
            <a:avLst>
              <a:gd name="adj" fmla="val 6400"/>
            </a:avLst>
          </a:prstGeom>
          <a:solidFill>
            <a:schemeClr val="bg2"/>
          </a:solidFill>
          <a:ln w="12700">
            <a:solidFill>
              <a:schemeClr val="bg2"/>
            </a:solidFill>
            <a:prstDash val="solid"/>
          </a:ln>
        </p:spPr>
      </p:sp>
      <p:sp>
        <p:nvSpPr>
          <p:cNvPr id="11" name="Text 9"/>
          <p:cNvSpPr txBox="1"/>
          <p:nvPr/>
        </p:nvSpPr>
        <p:spPr>
          <a:xfrm>
            <a:off x="4846320" y="1892808"/>
            <a:ext cx="1554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14.7</a:t>
            </a:r>
            <a:endParaRPr lang="en-US" sz="3000" dirty="0"/>
          </a:p>
        </p:txBody>
      </p:sp>
      <p:sp>
        <p:nvSpPr>
          <p:cNvPr id="12" name="Text 10"/>
          <p:cNvSpPr txBox="1"/>
          <p:nvPr/>
        </p:nvSpPr>
        <p:spPr>
          <a:xfrm>
            <a:off x="4846320" y="2459736"/>
            <a:ext cx="1554480" cy="411480"/>
          </a:xfrm>
          <a:prstGeom prst="rect">
            <a:avLst/>
          </a:prstGeom>
          <a:noFill/>
          <a:ln/>
        </p:spPr>
        <p:txBody>
          <a:bodyPr wrap="square" lIns="0" tIns="0" rIns="0" bIns="0" rtlCol="0" anchor="t"/>
          <a:lstStyle/>
          <a:p>
            <a:pPr indent="0" marL="0">
              <a:buNone/>
            </a:pPr>
            <a:r>
              <a:rPr lang="en-US" sz="1200" dirty="0">
                <a:solidFill>
                  <a:schemeClr val="tx1"/>
                </a:solidFill>
              </a:rPr>
              <a:t>alerts/day · target ≤ 20</a:t>
            </a:r>
            <a:endParaRPr lang="en-US" sz="1200" dirty="0"/>
          </a:p>
        </p:txBody>
      </p:sp>
      <p:sp>
        <p:nvSpPr>
          <p:cNvPr id="13" name="card-4"/>
          <p:cNvSpPr/>
          <p:nvPr/>
        </p:nvSpPr>
        <p:spPr>
          <a:xfrm>
            <a:off x="6766560" y="1783080"/>
            <a:ext cx="1920240" cy="1143000"/>
          </a:xfrm>
          <a:prstGeom prst="roundRect">
            <a:avLst>
              <a:gd name="adj" fmla="val 6400"/>
            </a:avLst>
          </a:prstGeom>
          <a:solidFill>
            <a:schemeClr val="bg2"/>
          </a:solidFill>
          <a:ln w="12700">
            <a:solidFill>
              <a:schemeClr val="bg2"/>
            </a:solidFill>
            <a:prstDash val="solid"/>
          </a:ln>
        </p:spPr>
      </p:sp>
      <p:sp>
        <p:nvSpPr>
          <p:cNvPr id="14" name="Text 12"/>
          <p:cNvSpPr txBox="1"/>
          <p:nvPr/>
        </p:nvSpPr>
        <p:spPr>
          <a:xfrm>
            <a:off x="6949440" y="1892808"/>
            <a:ext cx="155448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251×</a:t>
            </a:r>
            <a:endParaRPr lang="en-US" sz="3000" dirty="0"/>
          </a:p>
        </p:txBody>
      </p:sp>
      <p:sp>
        <p:nvSpPr>
          <p:cNvPr id="15" name="Text 13"/>
          <p:cNvSpPr txBox="1"/>
          <p:nvPr/>
        </p:nvSpPr>
        <p:spPr>
          <a:xfrm>
            <a:off x="6949440" y="2459736"/>
            <a:ext cx="1554480" cy="411480"/>
          </a:xfrm>
          <a:prstGeom prst="rect">
            <a:avLst/>
          </a:prstGeom>
          <a:noFill/>
          <a:ln/>
        </p:spPr>
        <p:txBody>
          <a:bodyPr wrap="square" lIns="0" tIns="0" rIns="0" bIns="0" rtlCol="0" anchor="t"/>
          <a:lstStyle/>
          <a:p>
            <a:pPr indent="0" marL="0">
              <a:buNone/>
            </a:pPr>
            <a:r>
              <a:rPr lang="en-US" sz="1200" dirty="0">
                <a:solidFill>
                  <a:schemeClr val="tx1"/>
                </a:solidFill>
              </a:rPr>
              <a:t>PR-AUC lift · target ≥ 50×</a:t>
            </a:r>
            <a:endParaRPr lang="en-US" sz="1200" dirty="0"/>
          </a:p>
        </p:txBody>
      </p:sp>
      <p:sp>
        <p:nvSpPr>
          <p:cNvPr id="16" name="Text 14"/>
          <p:cNvSpPr txBox="1"/>
          <p:nvPr/>
        </p:nvSpPr>
        <p:spPr>
          <a:xfrm>
            <a:off x="457200" y="3246120"/>
            <a:ext cx="8229600" cy="548640"/>
          </a:xfrm>
          <a:prstGeom prst="rect">
            <a:avLst/>
          </a:prstGeom>
          <a:noFill/>
          <a:ln/>
        </p:spPr>
        <p:txBody>
          <a:bodyPr wrap="square" lIns="0" tIns="0" rIns="0" bIns="0" rtlCol="0" anchor="t"/>
          <a:lstStyle/>
          <a:p>
            <a:pPr indent="0" marL="0">
              <a:buNone/>
            </a:pPr>
            <a:r>
              <a:rPr lang="en-US" sz="1500" b="1" dirty="0">
                <a:solidFill>
                  <a:schemeClr val="tx2"/>
                </a:solidFill>
              </a:rPr>
              <a:t>≈ $964,182 estimated net benefit</a:t>
            </a:r>
            <a:pPr indent="0" marL="0">
              <a:buNone/>
            </a:pPr>
            <a:r>
              <a:rPr lang="en-US" sz="1500" dirty="0">
                <a:solidFill>
                  <a:schemeClr val="tx1"/>
                </a:solidFill>
              </a:rPr>
              <a:t> on the test period (98.7% of fraud value caught), assuming $15 per review and 90% recovery: an estimate on simulated data, not demonstrated savings. All 56 verification checks pass.</a:t>
            </a:r>
            <a:endParaRPr lang="en-US" sz="1500" dirty="0"/>
          </a:p>
        </p:txBody>
      </p:sp>
      <p:sp>
        <p:nvSpPr>
          <p:cNvPr id="17" name="Text 15"/>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200" dirty="0">
                <a:solidFill>
                  <a:schemeClr val="accent6"/>
                </a:solidFill>
              </a:rPr>
              <a:t>Data: Sparkov simulated card transactions (Kaggle, CC0), 1.85 M transactions, 2019-2020, 0.52% fraud.</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Eight lifecycle stages, end to end</a:t>
            </a:r>
            <a:endParaRPr lang="en-US" sz="2800" dirty="0"/>
          </a:p>
        </p:txBody>
      </p:sp>
      <p:sp>
        <p:nvSpPr>
          <p:cNvPr id="3" name="card-5"/>
          <p:cNvSpPr/>
          <p:nvPr/>
        </p:nvSpPr>
        <p:spPr>
          <a:xfrm>
            <a:off x="457200" y="1097280"/>
            <a:ext cx="1920240" cy="1371600"/>
          </a:xfrm>
          <a:prstGeom prst="roundRect">
            <a:avLst>
              <a:gd name="adj" fmla="val 5333"/>
            </a:avLst>
          </a:prstGeom>
          <a:solidFill>
            <a:schemeClr val="bg2"/>
          </a:solidFill>
          <a:ln w="12700">
            <a:solidFill>
              <a:schemeClr val="bg2"/>
            </a:solidFill>
            <a:prstDash val="solid"/>
          </a:ln>
        </p:spPr>
      </p:sp>
      <p:sp>
        <p:nvSpPr>
          <p:cNvPr id="4" name="step-1"/>
          <p:cNvSpPr/>
          <p:nvPr/>
        </p:nvSpPr>
        <p:spPr>
          <a:xfrm>
            <a:off x="621792" y="1261872"/>
            <a:ext cx="457200" cy="457200"/>
          </a:xfrm>
          <a:prstGeom prst="ellipse">
            <a:avLst/>
          </a:prstGeom>
          <a:solidFill>
            <a:schemeClr val="accent3"/>
          </a:solidFill>
          <a:ln w="12700">
            <a:solidFill>
              <a:schemeClr val="accent3"/>
            </a:solidFill>
            <a:prstDash val="solid"/>
          </a:ln>
        </p:spPr>
      </p:sp>
      <p:sp>
        <p:nvSpPr>
          <p:cNvPr id="5" name="Text 3"/>
          <p:cNvSpPr txBox="1"/>
          <p:nvPr/>
        </p:nvSpPr>
        <p:spPr>
          <a:xfrm>
            <a:off x="621792" y="12618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88720" y="12984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Problem</a:t>
            </a:r>
            <a:endParaRPr lang="en-US" sz="1500" dirty="0"/>
          </a:p>
        </p:txBody>
      </p:sp>
      <p:sp>
        <p:nvSpPr>
          <p:cNvPr id="7" name="Text 5"/>
          <p:cNvSpPr txBox="1"/>
          <p:nvPr/>
        </p:nvSpPr>
        <p:spPr>
          <a:xfrm>
            <a:off x="621792" y="1828800"/>
            <a:ext cx="1645920" cy="548640"/>
          </a:xfrm>
          <a:prstGeom prst="rect">
            <a:avLst/>
          </a:prstGeom>
          <a:noFill/>
          <a:ln/>
        </p:spPr>
        <p:txBody>
          <a:bodyPr wrap="square" lIns="0" tIns="0" rIns="0" bIns="0" rtlCol="0" anchor="t"/>
          <a:lstStyle/>
          <a:p>
            <a:pPr indent="0" marL="0">
              <a:buNone/>
            </a:pPr>
            <a:r>
              <a:rPr lang="en-US" sz="1200" dirty="0">
                <a:solidFill>
                  <a:schemeClr val="tx1"/>
                </a:solidFill>
              </a:rPr>
              <a:t>criteria, cost model, hypotheses</a:t>
            </a:r>
            <a:endParaRPr lang="en-US" sz="1200" dirty="0"/>
          </a:p>
        </p:txBody>
      </p:sp>
      <p:sp>
        <p:nvSpPr>
          <p:cNvPr id="8" name="card-6"/>
          <p:cNvSpPr/>
          <p:nvPr/>
        </p:nvSpPr>
        <p:spPr>
          <a:xfrm>
            <a:off x="2560320" y="1097280"/>
            <a:ext cx="1920240" cy="1371600"/>
          </a:xfrm>
          <a:prstGeom prst="roundRect">
            <a:avLst>
              <a:gd name="adj" fmla="val 5333"/>
            </a:avLst>
          </a:prstGeom>
          <a:solidFill>
            <a:schemeClr val="bg2"/>
          </a:solidFill>
          <a:ln w="12700">
            <a:solidFill>
              <a:schemeClr val="bg2"/>
            </a:solidFill>
            <a:prstDash val="solid"/>
          </a:ln>
        </p:spPr>
      </p:sp>
      <p:sp>
        <p:nvSpPr>
          <p:cNvPr id="9" name="step-2"/>
          <p:cNvSpPr/>
          <p:nvPr/>
        </p:nvSpPr>
        <p:spPr>
          <a:xfrm>
            <a:off x="2724912" y="1261872"/>
            <a:ext cx="457200" cy="457200"/>
          </a:xfrm>
          <a:prstGeom prst="ellipse">
            <a:avLst/>
          </a:prstGeom>
          <a:solidFill>
            <a:schemeClr val="accent3"/>
          </a:solidFill>
          <a:ln w="12700">
            <a:solidFill>
              <a:schemeClr val="accent3"/>
            </a:solidFill>
            <a:prstDash val="solid"/>
          </a:ln>
        </p:spPr>
      </p:sp>
      <p:sp>
        <p:nvSpPr>
          <p:cNvPr id="10" name="Text 8"/>
          <p:cNvSpPr txBox="1"/>
          <p:nvPr/>
        </p:nvSpPr>
        <p:spPr>
          <a:xfrm>
            <a:off x="2724912" y="12618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3291840" y="12984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Acquisition</a:t>
            </a:r>
            <a:endParaRPr lang="en-US" sz="1500" dirty="0"/>
          </a:p>
        </p:txBody>
      </p:sp>
      <p:sp>
        <p:nvSpPr>
          <p:cNvPr id="12" name="Text 10"/>
          <p:cNvSpPr txBox="1"/>
          <p:nvPr/>
        </p:nvSpPr>
        <p:spPr>
          <a:xfrm>
            <a:off x="2724912" y="1828800"/>
            <a:ext cx="1645920" cy="548640"/>
          </a:xfrm>
          <a:prstGeom prst="rect">
            <a:avLst/>
          </a:prstGeom>
          <a:noFill/>
          <a:ln/>
        </p:spPr>
        <p:txBody>
          <a:bodyPr wrap="square" lIns="0" tIns="0" rIns="0" bIns="0" rtlCol="0" anchor="t"/>
          <a:lstStyle/>
          <a:p>
            <a:pPr indent="0" marL="0">
              <a:buNone/>
            </a:pPr>
            <a:r>
              <a:rPr lang="en-US" sz="1200" dirty="0">
                <a:solidFill>
                  <a:schemeClr val="tx1"/>
                </a:solidFill>
              </a:rPr>
              <a:t>Kaggle API, NiFi, checksums</a:t>
            </a:r>
            <a:endParaRPr lang="en-US" sz="1200" dirty="0"/>
          </a:p>
        </p:txBody>
      </p:sp>
      <p:sp>
        <p:nvSpPr>
          <p:cNvPr id="13" name="card-7"/>
          <p:cNvSpPr/>
          <p:nvPr/>
        </p:nvSpPr>
        <p:spPr>
          <a:xfrm>
            <a:off x="4663440" y="1097280"/>
            <a:ext cx="1920240" cy="1371600"/>
          </a:xfrm>
          <a:prstGeom prst="roundRect">
            <a:avLst>
              <a:gd name="adj" fmla="val 5333"/>
            </a:avLst>
          </a:prstGeom>
          <a:solidFill>
            <a:schemeClr val="bg2"/>
          </a:solidFill>
          <a:ln w="12700">
            <a:solidFill>
              <a:schemeClr val="bg2"/>
            </a:solidFill>
            <a:prstDash val="solid"/>
          </a:ln>
        </p:spPr>
      </p:sp>
      <p:sp>
        <p:nvSpPr>
          <p:cNvPr id="14" name="step-3"/>
          <p:cNvSpPr/>
          <p:nvPr/>
        </p:nvSpPr>
        <p:spPr>
          <a:xfrm>
            <a:off x="4828032" y="1261872"/>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4828032" y="12618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5394960" y="12984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Preparation</a:t>
            </a:r>
            <a:endParaRPr lang="en-US" sz="1500" dirty="0"/>
          </a:p>
        </p:txBody>
      </p:sp>
      <p:sp>
        <p:nvSpPr>
          <p:cNvPr id="17" name="Text 15"/>
          <p:cNvSpPr txBox="1"/>
          <p:nvPr/>
        </p:nvSpPr>
        <p:spPr>
          <a:xfrm>
            <a:off x="4828032" y="1828800"/>
            <a:ext cx="1645920" cy="548640"/>
          </a:xfrm>
          <a:prstGeom prst="rect">
            <a:avLst/>
          </a:prstGeom>
          <a:noFill/>
          <a:ln/>
        </p:spPr>
        <p:txBody>
          <a:bodyPr wrap="square" lIns="0" tIns="0" rIns="0" bIns="0" rtlCol="0" anchor="t"/>
          <a:lstStyle/>
          <a:p>
            <a:pPr indent="0" marL="0">
              <a:buNone/>
            </a:pPr>
            <a:r>
              <a:rPr lang="en-US" sz="1200" dirty="0">
                <a:solidFill>
                  <a:schemeClr val="tx1"/>
                </a:solidFill>
              </a:rPr>
              <a:t>contract, privacy, leakage-safe</a:t>
            </a:r>
            <a:endParaRPr lang="en-US" sz="1200" dirty="0"/>
          </a:p>
        </p:txBody>
      </p:sp>
      <p:sp>
        <p:nvSpPr>
          <p:cNvPr id="18" name="card-8"/>
          <p:cNvSpPr/>
          <p:nvPr/>
        </p:nvSpPr>
        <p:spPr>
          <a:xfrm>
            <a:off x="6766560" y="1097280"/>
            <a:ext cx="1920240" cy="1371600"/>
          </a:xfrm>
          <a:prstGeom prst="roundRect">
            <a:avLst>
              <a:gd name="adj" fmla="val 5333"/>
            </a:avLst>
          </a:prstGeom>
          <a:solidFill>
            <a:schemeClr val="bg2"/>
          </a:solidFill>
          <a:ln w="12700">
            <a:solidFill>
              <a:schemeClr val="bg2"/>
            </a:solidFill>
            <a:prstDash val="solid"/>
          </a:ln>
        </p:spPr>
      </p:sp>
      <p:sp>
        <p:nvSpPr>
          <p:cNvPr id="19" name="step-4"/>
          <p:cNvSpPr/>
          <p:nvPr/>
        </p:nvSpPr>
        <p:spPr>
          <a:xfrm>
            <a:off x="6931152" y="1261872"/>
            <a:ext cx="457200" cy="457200"/>
          </a:xfrm>
          <a:prstGeom prst="ellipse">
            <a:avLst/>
          </a:prstGeom>
          <a:solidFill>
            <a:schemeClr val="accent3"/>
          </a:solidFill>
          <a:ln w="12700">
            <a:solidFill>
              <a:schemeClr val="accent3"/>
            </a:solidFill>
            <a:prstDash val="solid"/>
          </a:ln>
        </p:spPr>
      </p:sp>
      <p:sp>
        <p:nvSpPr>
          <p:cNvPr id="20" name="Text 18"/>
          <p:cNvSpPr txBox="1"/>
          <p:nvPr/>
        </p:nvSpPr>
        <p:spPr>
          <a:xfrm>
            <a:off x="6931152" y="12618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7498080" y="12984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EDA</a:t>
            </a:r>
            <a:endParaRPr lang="en-US" sz="1500" dirty="0"/>
          </a:p>
        </p:txBody>
      </p:sp>
      <p:sp>
        <p:nvSpPr>
          <p:cNvPr id="22" name="Text 20"/>
          <p:cNvSpPr txBox="1"/>
          <p:nvPr/>
        </p:nvSpPr>
        <p:spPr>
          <a:xfrm>
            <a:off x="6931152" y="1828800"/>
            <a:ext cx="1645920" cy="548640"/>
          </a:xfrm>
          <a:prstGeom prst="rect">
            <a:avLst/>
          </a:prstGeom>
          <a:noFill/>
          <a:ln/>
        </p:spPr>
        <p:txBody>
          <a:bodyPr wrap="square" lIns="0" tIns="0" rIns="0" bIns="0" rtlCol="0" anchor="t"/>
          <a:lstStyle/>
          <a:p>
            <a:pPr indent="0" marL="0">
              <a:buNone/>
            </a:pPr>
            <a:r>
              <a:rPr lang="en-US" sz="1200" dirty="0">
                <a:solidFill>
                  <a:schemeClr val="tx1"/>
                </a:solidFill>
              </a:rPr>
              <a:t>Seaborn, Plotly, hypotheses</a:t>
            </a:r>
            <a:endParaRPr lang="en-US" sz="1200" dirty="0"/>
          </a:p>
        </p:txBody>
      </p:sp>
      <p:sp>
        <p:nvSpPr>
          <p:cNvPr id="23" name="card-9"/>
          <p:cNvSpPr/>
          <p:nvPr/>
        </p:nvSpPr>
        <p:spPr>
          <a:xfrm>
            <a:off x="457200" y="2697480"/>
            <a:ext cx="1920240" cy="1371600"/>
          </a:xfrm>
          <a:prstGeom prst="roundRect">
            <a:avLst>
              <a:gd name="adj" fmla="val 5333"/>
            </a:avLst>
          </a:prstGeom>
          <a:solidFill>
            <a:schemeClr val="bg2"/>
          </a:solidFill>
          <a:ln w="12700">
            <a:solidFill>
              <a:schemeClr val="bg2"/>
            </a:solidFill>
            <a:prstDash val="solid"/>
          </a:ln>
        </p:spPr>
      </p:sp>
      <p:sp>
        <p:nvSpPr>
          <p:cNvPr id="24" name="step-5"/>
          <p:cNvSpPr/>
          <p:nvPr/>
        </p:nvSpPr>
        <p:spPr>
          <a:xfrm>
            <a:off x="621792" y="2862072"/>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621792" y="2862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188720" y="28986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Modelling</a:t>
            </a:r>
            <a:endParaRPr lang="en-US" sz="1500" dirty="0"/>
          </a:p>
        </p:txBody>
      </p:sp>
      <p:sp>
        <p:nvSpPr>
          <p:cNvPr id="27" name="Text 25"/>
          <p:cNvSpPr txBox="1"/>
          <p:nvPr/>
        </p:nvSpPr>
        <p:spPr>
          <a:xfrm>
            <a:off x="621792" y="3429000"/>
            <a:ext cx="1645920" cy="548640"/>
          </a:xfrm>
          <a:prstGeom prst="rect">
            <a:avLst/>
          </a:prstGeom>
          <a:noFill/>
          <a:ln/>
        </p:spPr>
        <p:txBody>
          <a:bodyPr wrap="square" lIns="0" tIns="0" rIns="0" bIns="0" rtlCol="0" anchor="t"/>
          <a:lstStyle/>
          <a:p>
            <a:pPr indent="0" marL="0">
              <a:buNone/>
            </a:pPr>
            <a:r>
              <a:rPr lang="en-US" sz="1200" dirty="0">
                <a:solidFill>
                  <a:schemeClr val="tx1"/>
                </a:solidFill>
              </a:rPr>
              <a:t>6 models, time-series CV</a:t>
            </a:r>
            <a:endParaRPr lang="en-US" sz="1200" dirty="0"/>
          </a:p>
        </p:txBody>
      </p:sp>
      <p:sp>
        <p:nvSpPr>
          <p:cNvPr id="28" name="card-10"/>
          <p:cNvSpPr/>
          <p:nvPr/>
        </p:nvSpPr>
        <p:spPr>
          <a:xfrm>
            <a:off x="2560320" y="2697480"/>
            <a:ext cx="1920240" cy="1371600"/>
          </a:xfrm>
          <a:prstGeom prst="roundRect">
            <a:avLst>
              <a:gd name="adj" fmla="val 5333"/>
            </a:avLst>
          </a:prstGeom>
          <a:solidFill>
            <a:schemeClr val="bg2"/>
          </a:solidFill>
          <a:ln w="12700">
            <a:solidFill>
              <a:schemeClr val="bg2"/>
            </a:solidFill>
            <a:prstDash val="solid"/>
          </a:ln>
        </p:spPr>
      </p:sp>
      <p:sp>
        <p:nvSpPr>
          <p:cNvPr id="29" name="step-6"/>
          <p:cNvSpPr/>
          <p:nvPr/>
        </p:nvSpPr>
        <p:spPr>
          <a:xfrm>
            <a:off x="2724912" y="2862072"/>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2724912" y="2862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1" name="Text 29"/>
          <p:cNvSpPr txBox="1"/>
          <p:nvPr/>
        </p:nvSpPr>
        <p:spPr>
          <a:xfrm>
            <a:off x="3291840" y="28986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Evaluation</a:t>
            </a:r>
            <a:endParaRPr lang="en-US" sz="1500" dirty="0"/>
          </a:p>
        </p:txBody>
      </p:sp>
      <p:sp>
        <p:nvSpPr>
          <p:cNvPr id="32" name="Text 30"/>
          <p:cNvSpPr txBox="1"/>
          <p:nvPr/>
        </p:nvSpPr>
        <p:spPr>
          <a:xfrm>
            <a:off x="2724912" y="3429000"/>
            <a:ext cx="1645920" cy="548640"/>
          </a:xfrm>
          <a:prstGeom prst="rect">
            <a:avLst/>
          </a:prstGeom>
          <a:noFill/>
          <a:ln/>
        </p:spPr>
        <p:txBody>
          <a:bodyPr wrap="square" lIns="0" tIns="0" rIns="0" bIns="0" rtlCol="0" anchor="t"/>
          <a:lstStyle/>
          <a:p>
            <a:pPr indent="0" marL="0">
              <a:buNone/>
            </a:pPr>
            <a:r>
              <a:rPr lang="en-US" sz="1200" dirty="0">
                <a:solidFill>
                  <a:schemeClr val="tx1"/>
                </a:solidFill>
              </a:rPr>
              <a:t>CIs, cost, SHAP, fairness</a:t>
            </a:r>
            <a:endParaRPr lang="en-US" sz="1200" dirty="0"/>
          </a:p>
        </p:txBody>
      </p:sp>
      <p:sp>
        <p:nvSpPr>
          <p:cNvPr id="33" name="card-11"/>
          <p:cNvSpPr/>
          <p:nvPr/>
        </p:nvSpPr>
        <p:spPr>
          <a:xfrm>
            <a:off x="4663440" y="2697480"/>
            <a:ext cx="1920240" cy="1371600"/>
          </a:xfrm>
          <a:prstGeom prst="roundRect">
            <a:avLst>
              <a:gd name="adj" fmla="val 5333"/>
            </a:avLst>
          </a:prstGeom>
          <a:solidFill>
            <a:schemeClr val="bg2"/>
          </a:solidFill>
          <a:ln w="12700">
            <a:solidFill>
              <a:schemeClr val="bg2"/>
            </a:solidFill>
            <a:prstDash val="solid"/>
          </a:ln>
        </p:spPr>
      </p:sp>
      <p:sp>
        <p:nvSpPr>
          <p:cNvPr id="34" name="step-7"/>
          <p:cNvSpPr/>
          <p:nvPr/>
        </p:nvSpPr>
        <p:spPr>
          <a:xfrm>
            <a:off x="4828032" y="2862072"/>
            <a:ext cx="457200" cy="457200"/>
          </a:xfrm>
          <a:prstGeom prst="ellipse">
            <a:avLst/>
          </a:prstGeom>
          <a:solidFill>
            <a:schemeClr val="accent2"/>
          </a:solidFill>
          <a:ln w="12700">
            <a:solidFill>
              <a:schemeClr val="accent2"/>
            </a:solidFill>
            <a:prstDash val="solid"/>
          </a:ln>
        </p:spPr>
      </p:sp>
      <p:sp>
        <p:nvSpPr>
          <p:cNvPr id="35" name="Text 33"/>
          <p:cNvSpPr txBox="1"/>
          <p:nvPr/>
        </p:nvSpPr>
        <p:spPr>
          <a:xfrm>
            <a:off x="4828032" y="2862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6" name="Text 34"/>
          <p:cNvSpPr txBox="1"/>
          <p:nvPr/>
        </p:nvSpPr>
        <p:spPr>
          <a:xfrm>
            <a:off x="5394960" y="28986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Deployment</a:t>
            </a:r>
            <a:endParaRPr lang="en-US" sz="1500" dirty="0"/>
          </a:p>
        </p:txBody>
      </p:sp>
      <p:sp>
        <p:nvSpPr>
          <p:cNvPr id="37" name="Text 35"/>
          <p:cNvSpPr txBox="1"/>
          <p:nvPr/>
        </p:nvSpPr>
        <p:spPr>
          <a:xfrm>
            <a:off x="4828032" y="3429000"/>
            <a:ext cx="1645920" cy="548640"/>
          </a:xfrm>
          <a:prstGeom prst="rect">
            <a:avLst/>
          </a:prstGeom>
          <a:noFill/>
          <a:ln/>
        </p:spPr>
        <p:txBody>
          <a:bodyPr wrap="square" lIns="0" tIns="0" rIns="0" bIns="0" rtlCol="0" anchor="t"/>
          <a:lstStyle/>
          <a:p>
            <a:pPr indent="0" marL="0">
              <a:buNone/>
            </a:pPr>
            <a:r>
              <a:rPr lang="en-US" sz="1200" dirty="0">
                <a:solidFill>
                  <a:schemeClr val="tx1"/>
                </a:solidFill>
              </a:rPr>
              <a:t>FastAPI, Streamlit, Docker</a:t>
            </a:r>
            <a:endParaRPr lang="en-US" sz="1200" dirty="0"/>
          </a:p>
        </p:txBody>
      </p:sp>
      <p:sp>
        <p:nvSpPr>
          <p:cNvPr id="38" name="card-12"/>
          <p:cNvSpPr/>
          <p:nvPr/>
        </p:nvSpPr>
        <p:spPr>
          <a:xfrm>
            <a:off x="6766560" y="2697480"/>
            <a:ext cx="1920240" cy="1371600"/>
          </a:xfrm>
          <a:prstGeom prst="roundRect">
            <a:avLst>
              <a:gd name="adj" fmla="val 5333"/>
            </a:avLst>
          </a:prstGeom>
          <a:solidFill>
            <a:schemeClr val="bg2"/>
          </a:solidFill>
          <a:ln w="12700">
            <a:solidFill>
              <a:schemeClr val="bg2"/>
            </a:solidFill>
            <a:prstDash val="solid"/>
          </a:ln>
        </p:spPr>
      </p:sp>
      <p:sp>
        <p:nvSpPr>
          <p:cNvPr id="39" name="step-8"/>
          <p:cNvSpPr/>
          <p:nvPr/>
        </p:nvSpPr>
        <p:spPr>
          <a:xfrm>
            <a:off x="6931152" y="2862072"/>
            <a:ext cx="457200" cy="457200"/>
          </a:xfrm>
          <a:prstGeom prst="ellipse">
            <a:avLst/>
          </a:prstGeom>
          <a:solidFill>
            <a:schemeClr val="accent2"/>
          </a:solidFill>
          <a:ln w="12700">
            <a:solidFill>
              <a:schemeClr val="accent2"/>
            </a:solidFill>
            <a:prstDash val="solid"/>
          </a:ln>
        </p:spPr>
      </p:sp>
      <p:sp>
        <p:nvSpPr>
          <p:cNvPr id="40" name="Text 38"/>
          <p:cNvSpPr txBox="1"/>
          <p:nvPr/>
        </p:nvSpPr>
        <p:spPr>
          <a:xfrm>
            <a:off x="6931152" y="28620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41" name="Text 39"/>
          <p:cNvSpPr txBox="1"/>
          <p:nvPr/>
        </p:nvSpPr>
        <p:spPr>
          <a:xfrm>
            <a:off x="7498080" y="2898648"/>
            <a:ext cx="1143000" cy="411480"/>
          </a:xfrm>
          <a:prstGeom prst="rect">
            <a:avLst/>
          </a:prstGeom>
          <a:noFill/>
          <a:ln/>
        </p:spPr>
        <p:txBody>
          <a:bodyPr wrap="square" lIns="0" tIns="0" rIns="0" bIns="0" rtlCol="0" anchor="ctr"/>
          <a:lstStyle/>
          <a:p>
            <a:pPr indent="0" marL="0">
              <a:buNone/>
            </a:pPr>
            <a:r>
              <a:rPr lang="en-US" sz="1500" b="1" dirty="0">
                <a:solidFill>
                  <a:schemeClr val="tx2"/>
                </a:solidFill>
              </a:rPr>
              <a:t>Monitoring</a:t>
            </a:r>
            <a:endParaRPr lang="en-US" sz="1500" dirty="0"/>
          </a:p>
        </p:txBody>
      </p:sp>
      <p:sp>
        <p:nvSpPr>
          <p:cNvPr id="42" name="Text 40"/>
          <p:cNvSpPr txBox="1"/>
          <p:nvPr/>
        </p:nvSpPr>
        <p:spPr>
          <a:xfrm>
            <a:off x="6931152" y="3429000"/>
            <a:ext cx="1645920" cy="548640"/>
          </a:xfrm>
          <a:prstGeom prst="rect">
            <a:avLst/>
          </a:prstGeom>
          <a:noFill/>
          <a:ln/>
        </p:spPr>
        <p:txBody>
          <a:bodyPr wrap="square" lIns="0" tIns="0" rIns="0" bIns="0" rtlCol="0" anchor="t"/>
          <a:lstStyle/>
          <a:p>
            <a:pPr indent="0" marL="0">
              <a:buNone/>
            </a:pPr>
            <a:r>
              <a:rPr lang="en-US" sz="1200" dirty="0">
                <a:solidFill>
                  <a:schemeClr val="tx1"/>
                </a:solidFill>
              </a:rPr>
              <a:t>Evidently, Prometheus, retrain</a:t>
            </a:r>
            <a:endParaRPr lang="en-US" sz="1200" dirty="0"/>
          </a:p>
        </p:txBody>
      </p:sp>
      <p:sp>
        <p:nvSpPr>
          <p:cNvPr id="43" name="Text 41"/>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python -m fraudlens.run_all reproduces every stage; 8 executed notebooks document them.</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An open-source version of the cloud data pipeline</a:t>
            </a:r>
            <a:endParaRPr lang="en-US" sz="2800" dirty="0"/>
          </a:p>
        </p:txBody>
      </p:sp>
      <p:pic>
        <p:nvPicPr>
          <p:cNvPr id="3" name="architecture.png" descr="/home/claude/repo/docs/images/architecture.png">    </p:cNvPr>
          <p:cNvPicPr>
            <a:picLocks noChangeAspect="1"/>
          </p:cNvPicPr>
          <p:nvPr/>
        </p:nvPicPr>
        <p:blipFill>
          <a:blip r:embed="rId1"/>
          <a:stretch>
            <a:fillRect/>
          </a:stretch>
        </p:blipFill>
        <p:spPr>
          <a:xfrm>
            <a:off x="466465" y="1005840"/>
            <a:ext cx="8211070" cy="3566160"/>
          </a:xfrm>
          <a:prstGeom prst="rect">
            <a:avLst/>
          </a:prstGeom>
        </p:spPr>
      </p:pic>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Provenance in, leakage out</a:t>
            </a:r>
            <a:endParaRPr lang="en-US" sz="2800" dirty="0"/>
          </a:p>
        </p:txBody>
      </p:sp>
      <p:sp>
        <p:nvSpPr>
          <p:cNvPr id="3" name="card-13"/>
          <p:cNvSpPr/>
          <p:nvPr/>
        </p:nvSpPr>
        <p:spPr>
          <a:xfrm>
            <a:off x="457200" y="1051560"/>
            <a:ext cx="3931920" cy="3383280"/>
          </a:xfrm>
          <a:prstGeom prst="roundRect">
            <a:avLst>
              <a:gd name="adj" fmla="val 2162"/>
            </a:avLst>
          </a:prstGeom>
          <a:solidFill>
            <a:schemeClr val="bg2"/>
          </a:solidFill>
          <a:ln w="12700">
            <a:solidFill>
              <a:schemeClr val="bg2"/>
            </a:solidFill>
            <a:prstDash val="solid"/>
          </a:ln>
        </p:spPr>
      </p:sp>
      <p:sp>
        <p:nvSpPr>
          <p:cNvPr id="4" name="Text 2"/>
          <p:cNvSpPr txBox="1"/>
          <p:nvPr/>
        </p:nvSpPr>
        <p:spPr>
          <a:xfrm>
            <a:off x="685800" y="1188720"/>
            <a:ext cx="3474720" cy="365760"/>
          </a:xfrm>
          <a:prstGeom prst="rect">
            <a:avLst/>
          </a:prstGeom>
          <a:noFill/>
          <a:ln/>
        </p:spPr>
        <p:txBody>
          <a:bodyPr wrap="square" lIns="0" tIns="0" rIns="0" bIns="0" rtlCol="0" anchor="t"/>
          <a:lstStyle/>
          <a:p>
            <a:pPr indent="0" marL="0">
              <a:buNone/>
            </a:pPr>
            <a:r>
              <a:rPr lang="en-US" sz="1600" b="1" dirty="0">
                <a:solidFill>
                  <a:schemeClr val="tx2"/>
                </a:solidFill>
              </a:rPr>
              <a:t>Acquisition and preparation</a:t>
            </a:r>
            <a:endParaRPr lang="en-US" sz="1600" dirty="0"/>
          </a:p>
        </p:txBody>
      </p:sp>
      <p:sp>
        <p:nvSpPr>
          <p:cNvPr id="5" name="Text 3"/>
          <p:cNvSpPr txBox="1"/>
          <p:nvPr/>
        </p:nvSpPr>
        <p:spPr>
          <a:xfrm>
            <a:off x="685800" y="1645920"/>
            <a:ext cx="352044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Kaggle API or local copy; SHA-256 manifest re-verified every run</a:t>
            </a:r>
            <a:endParaRPr lang="en-US" sz="1300" dirty="0"/>
          </a:p>
          <a:p>
            <a:pPr marL="177800" indent="-177800">
              <a:spcAft>
                <a:spcPts val="600"/>
              </a:spcAft>
              <a:buSzPct val="100000"/>
              <a:buChar char="•"/>
            </a:pPr>
            <a:r>
              <a:rPr lang="en-US" sz="1300" dirty="0">
                <a:solidFill>
                  <a:schemeClr val="tx1"/>
                </a:solidFill>
              </a:rPr>
              <a:t>NiFi lands files in a versioned raw bucket with a write-only account</a:t>
            </a:r>
            <a:endParaRPr lang="en-US" sz="1300" dirty="0"/>
          </a:p>
          <a:p>
            <a:pPr marL="177800" indent="-177800">
              <a:spcAft>
                <a:spcPts val="600"/>
              </a:spcAft>
              <a:buSzPct val="100000"/>
              <a:buChar char="•"/>
            </a:pPr>
            <a:r>
              <a:rPr lang="en-US" sz="1300" dirty="0">
                <a:solidFill>
                  <a:schemeClr val="tx1"/>
                </a:solidFill>
              </a:rPr>
              <a:t>12-check data contract; no duplicates or invalid rows found</a:t>
            </a:r>
            <a:endParaRPr lang="en-US" sz="1300" dirty="0"/>
          </a:p>
          <a:p>
            <a:pPr marL="177800" indent="-177800">
              <a:spcAft>
                <a:spcPts val="600"/>
              </a:spcAft>
              <a:buSzPct val="100000"/>
              <a:buChar char="•"/>
            </a:pPr>
            <a:r>
              <a:rPr lang="en-US" sz="1300" dirty="0">
                <a:solidFill>
                  <a:schemeClr val="tx1"/>
                </a:solidFill>
              </a:rPr>
              <a:t>Names and streets dropped, card numbers salted-hashed</a:t>
            </a:r>
            <a:endParaRPr lang="en-US" sz="1300" dirty="0"/>
          </a:p>
          <a:p>
            <a:pPr marL="177800" indent="-177800">
              <a:spcAft>
                <a:spcPts val="600"/>
              </a:spcAft>
              <a:buSzPct val="100000"/>
              <a:buChar char="•"/>
            </a:pPr>
            <a:r>
              <a:rPr lang="en-US" sz="1300" dirty="0">
                <a:solidFill>
                  <a:schemeClr val="tx1"/>
                </a:solidFill>
              </a:rPr>
              <a:t>Features use only each card's earlier transactions (proved by brute-force check)</a:t>
            </a:r>
            <a:endParaRPr lang="en-US" sz="1300" dirty="0"/>
          </a:p>
        </p:txBody>
      </p:sp>
      <p:sp>
        <p:nvSpPr>
          <p:cNvPr id="6" name="Text 4"/>
          <p:cNvSpPr txBox="1"/>
          <p:nvPr/>
        </p:nvSpPr>
        <p:spPr>
          <a:xfrm>
            <a:off x="4754880" y="1097280"/>
            <a:ext cx="3931920" cy="365760"/>
          </a:xfrm>
          <a:prstGeom prst="rect">
            <a:avLst/>
          </a:prstGeom>
          <a:noFill/>
          <a:ln/>
        </p:spPr>
        <p:txBody>
          <a:bodyPr wrap="square" lIns="0" tIns="0" rIns="0" bIns="0" rtlCol="0" anchor="t"/>
          <a:lstStyle/>
          <a:p>
            <a:pPr indent="0" marL="0">
              <a:buNone/>
            </a:pPr>
            <a:r>
              <a:rPr lang="en-US" sz="1600" b="1" dirty="0">
                <a:solidFill>
                  <a:schemeClr val="tx2"/>
                </a:solidFill>
              </a:rPr>
              <a:t>Chronological split</a:t>
            </a:r>
            <a:endParaRPr lang="en-US" sz="1600" dirty="0"/>
          </a:p>
        </p:txBody>
      </p:sp>
      <p:graphicFrame>
        <p:nvGraphicFramePr>
          <p:cNvPr id="7" name="Chart 0" descr=""/>
          <p:cNvGraphicFramePr/>
          <p:nvPr/>
        </p:nvGraphicFramePr>
        <p:xfrm>
          <a:off x="4663440" y="1463040"/>
          <a:ext cx="4023360" cy="21945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3749040"/>
            <a:ext cx="3931920" cy="640080"/>
          </a:xfrm>
          <a:prstGeom prst="rect">
            <a:avLst/>
          </a:prstGeom>
          <a:noFill/>
          <a:ln/>
        </p:spPr>
        <p:txBody>
          <a:bodyPr wrap="square" lIns="0" tIns="0" rIns="0" bIns="0" rtlCol="0" anchor="t"/>
          <a:lstStyle/>
          <a:p>
            <a:pPr indent="0" marL="0">
              <a:buNone/>
            </a:pPr>
            <a:r>
              <a:rPr lang="en-US" sz="1200" dirty="0">
                <a:solidFill>
                  <a:schemeClr val="tx1"/>
                </a:solidFill>
              </a:rPr>
              <a:t>Train 2019-01-01 → 2020-05-10 · validation 6 weeks · test = Kaggle's later file. Fraud rate 0.58% → 0.39%.</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What the data says about fraud</a:t>
            </a:r>
            <a:endParaRPr lang="en-US" sz="2800" dirty="0"/>
          </a:p>
        </p:txBody>
      </p:sp>
      <p:sp>
        <p:nvSpPr>
          <p:cNvPr id="3" name="card-14"/>
          <p:cNvSpPr/>
          <p:nvPr/>
        </p:nvSpPr>
        <p:spPr>
          <a:xfrm>
            <a:off x="457200" y="1097280"/>
            <a:ext cx="1920240" cy="1143000"/>
          </a:xfrm>
          <a:prstGeom prst="roundRect">
            <a:avLst>
              <a:gd name="adj" fmla="val 6400"/>
            </a:avLst>
          </a:prstGeom>
          <a:solidFill>
            <a:schemeClr val="bg2"/>
          </a:solidFill>
          <a:ln w="12700">
            <a:solidFill>
              <a:schemeClr val="bg2"/>
            </a:solidFill>
            <a:prstDash val="solid"/>
          </a:ln>
        </p:spPr>
      </p:sp>
      <p:sp>
        <p:nvSpPr>
          <p:cNvPr id="4" name="Text 2"/>
          <p:cNvSpPr txBox="1"/>
          <p:nvPr/>
        </p:nvSpPr>
        <p:spPr>
          <a:xfrm>
            <a:off x="640080" y="1207008"/>
            <a:ext cx="1554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$387</a:t>
            </a:r>
            <a:endParaRPr lang="en-US" sz="3000" dirty="0"/>
          </a:p>
        </p:txBody>
      </p:sp>
      <p:sp>
        <p:nvSpPr>
          <p:cNvPr id="5" name="Text 3"/>
          <p:cNvSpPr txBox="1"/>
          <p:nvPr/>
        </p:nvSpPr>
        <p:spPr>
          <a:xfrm>
            <a:off x="640080" y="1773936"/>
            <a:ext cx="1554480" cy="411480"/>
          </a:xfrm>
          <a:prstGeom prst="rect">
            <a:avLst/>
          </a:prstGeom>
          <a:noFill/>
          <a:ln/>
        </p:spPr>
        <p:txBody>
          <a:bodyPr wrap="square" lIns="0" tIns="0" rIns="0" bIns="0" rtlCol="0" anchor="t"/>
          <a:lstStyle/>
          <a:p>
            <a:pPr indent="0" marL="0">
              <a:buNone/>
            </a:pPr>
            <a:r>
              <a:rPr lang="en-US" sz="1200" dirty="0">
                <a:solidFill>
                  <a:schemeClr val="tx1"/>
                </a:solidFill>
              </a:rPr>
              <a:t>median fraud amount vs $47 legitimate</a:t>
            </a:r>
            <a:endParaRPr lang="en-US" sz="1200" dirty="0"/>
          </a:p>
        </p:txBody>
      </p:sp>
      <p:sp>
        <p:nvSpPr>
          <p:cNvPr id="6" name="card-15"/>
          <p:cNvSpPr/>
          <p:nvPr/>
        </p:nvSpPr>
        <p:spPr>
          <a:xfrm>
            <a:off x="2560320" y="1097280"/>
            <a:ext cx="1920240" cy="1143000"/>
          </a:xfrm>
          <a:prstGeom prst="roundRect">
            <a:avLst>
              <a:gd name="adj" fmla="val 6400"/>
            </a:avLst>
          </a:prstGeom>
          <a:solidFill>
            <a:schemeClr val="bg2"/>
          </a:solidFill>
          <a:ln w="12700">
            <a:solidFill>
              <a:schemeClr val="bg2"/>
            </a:solidFill>
            <a:prstDash val="solid"/>
          </a:ln>
        </p:spPr>
      </p:sp>
      <p:sp>
        <p:nvSpPr>
          <p:cNvPr id="7" name="Text 5"/>
          <p:cNvSpPr txBox="1"/>
          <p:nvPr/>
        </p:nvSpPr>
        <p:spPr>
          <a:xfrm>
            <a:off x="2743200" y="1207008"/>
            <a:ext cx="1554480" cy="54864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85%</a:t>
            </a:r>
            <a:endParaRPr lang="en-US" sz="3000" dirty="0"/>
          </a:p>
        </p:txBody>
      </p:sp>
      <p:sp>
        <p:nvSpPr>
          <p:cNvPr id="8" name="Text 6"/>
          <p:cNvSpPr txBox="1"/>
          <p:nvPr/>
        </p:nvSpPr>
        <p:spPr>
          <a:xfrm>
            <a:off x="2743200" y="1773936"/>
            <a:ext cx="1554480" cy="411480"/>
          </a:xfrm>
          <a:prstGeom prst="rect">
            <a:avLst/>
          </a:prstGeom>
          <a:noFill/>
          <a:ln/>
        </p:spPr>
        <p:txBody>
          <a:bodyPr wrap="square" lIns="0" tIns="0" rIns="0" bIns="0" rtlCol="0" anchor="t"/>
          <a:lstStyle/>
          <a:p>
            <a:pPr indent="0" marL="0">
              <a:buNone/>
            </a:pPr>
            <a:r>
              <a:rPr lang="en-US" sz="1200" dirty="0">
                <a:solidFill>
                  <a:schemeClr val="tx1"/>
                </a:solidFill>
              </a:rPr>
              <a:t>of fraud happens 22:00-03:59</a:t>
            </a:r>
            <a:endParaRPr lang="en-US" sz="1200" dirty="0"/>
          </a:p>
        </p:txBody>
      </p:sp>
      <p:sp>
        <p:nvSpPr>
          <p:cNvPr id="9" name="card-16"/>
          <p:cNvSpPr/>
          <p:nvPr/>
        </p:nvSpPr>
        <p:spPr>
          <a:xfrm>
            <a:off x="4663440" y="1097280"/>
            <a:ext cx="1920240" cy="1143000"/>
          </a:xfrm>
          <a:prstGeom prst="roundRect">
            <a:avLst>
              <a:gd name="adj" fmla="val 6400"/>
            </a:avLst>
          </a:prstGeom>
          <a:solidFill>
            <a:schemeClr val="bg2"/>
          </a:solidFill>
          <a:ln w="12700">
            <a:solidFill>
              <a:schemeClr val="bg2"/>
            </a:solidFill>
            <a:prstDash val="solid"/>
          </a:ln>
        </p:spPr>
      </p:sp>
      <p:sp>
        <p:nvSpPr>
          <p:cNvPr id="10" name="Text 8"/>
          <p:cNvSpPr txBox="1"/>
          <p:nvPr/>
        </p:nvSpPr>
        <p:spPr>
          <a:xfrm>
            <a:off x="4846320" y="1207008"/>
            <a:ext cx="155448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28%</a:t>
            </a:r>
            <a:endParaRPr lang="en-US" sz="3000" dirty="0"/>
          </a:p>
        </p:txBody>
      </p:sp>
      <p:sp>
        <p:nvSpPr>
          <p:cNvPr id="11" name="Text 9"/>
          <p:cNvSpPr txBox="1"/>
          <p:nvPr/>
        </p:nvSpPr>
        <p:spPr>
          <a:xfrm>
            <a:off x="4846320" y="1773936"/>
            <a:ext cx="1554480" cy="411480"/>
          </a:xfrm>
          <a:prstGeom prst="rect">
            <a:avLst/>
          </a:prstGeom>
          <a:noFill/>
          <a:ln/>
        </p:spPr>
        <p:txBody>
          <a:bodyPr wrap="square" lIns="0" tIns="0" rIns="0" bIns="0" rtlCol="0" anchor="t"/>
          <a:lstStyle/>
          <a:p>
            <a:pPr indent="0" marL="0">
              <a:buNone/>
            </a:pPr>
            <a:r>
              <a:rPr lang="en-US" sz="1200" dirty="0">
                <a:solidFill>
                  <a:schemeClr val="tx1"/>
                </a:solidFill>
              </a:rPr>
              <a:t>fraud rate when amount &gt; 10× the card's usual</a:t>
            </a:r>
            <a:endParaRPr lang="en-US" sz="1200" dirty="0"/>
          </a:p>
        </p:txBody>
      </p:sp>
      <p:sp>
        <p:nvSpPr>
          <p:cNvPr id="12" name="card-17"/>
          <p:cNvSpPr/>
          <p:nvPr/>
        </p:nvSpPr>
        <p:spPr>
          <a:xfrm>
            <a:off x="6766560" y="1097280"/>
            <a:ext cx="1920240" cy="1143000"/>
          </a:xfrm>
          <a:prstGeom prst="roundRect">
            <a:avLst>
              <a:gd name="adj" fmla="val 6400"/>
            </a:avLst>
          </a:prstGeom>
          <a:solidFill>
            <a:schemeClr val="bg2"/>
          </a:solidFill>
          <a:ln w="12700">
            <a:solidFill>
              <a:schemeClr val="bg2"/>
            </a:solidFill>
            <a:prstDash val="solid"/>
          </a:ln>
        </p:spPr>
      </p:sp>
      <p:sp>
        <p:nvSpPr>
          <p:cNvPr id="13" name="Text 11"/>
          <p:cNvSpPr txBox="1"/>
          <p:nvPr/>
        </p:nvSpPr>
        <p:spPr>
          <a:xfrm>
            <a:off x="6949440" y="1207008"/>
            <a:ext cx="155448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10</a:t>
            </a:r>
            <a:endParaRPr lang="en-US" sz="3000" dirty="0"/>
          </a:p>
        </p:txBody>
      </p:sp>
      <p:sp>
        <p:nvSpPr>
          <p:cNvPr id="14" name="Text 12"/>
          <p:cNvSpPr txBox="1"/>
          <p:nvPr/>
        </p:nvSpPr>
        <p:spPr>
          <a:xfrm>
            <a:off x="6949440" y="1773936"/>
            <a:ext cx="1554480" cy="411480"/>
          </a:xfrm>
          <a:prstGeom prst="rect">
            <a:avLst/>
          </a:prstGeom>
          <a:noFill/>
          <a:ln/>
        </p:spPr>
        <p:txBody>
          <a:bodyPr wrap="square" lIns="0" tIns="0" rIns="0" bIns="0" rtlCol="0" anchor="t"/>
          <a:lstStyle/>
          <a:p>
            <a:pPr indent="0" marL="0">
              <a:buNone/>
            </a:pPr>
            <a:r>
              <a:rPr lang="en-US" sz="1200" dirty="0">
                <a:solidFill>
                  <a:schemeClr val="tx1"/>
                </a:solidFill>
              </a:rPr>
              <a:t>frauds per compromised card, within ~45 h</a:t>
            </a:r>
            <a:endParaRPr lang="en-US" sz="1200" dirty="0"/>
          </a:p>
        </p:txBody>
      </p:sp>
      <p:pic>
        <p:nvPicPr>
          <p:cNvPr id="15" name="eda-category" descr="reports/figures/03_fraud_by_category.png">    </p:cNvPr>
          <p:cNvPicPr>
            <a:picLocks noChangeAspect="1"/>
          </p:cNvPicPr>
          <p:nvPr/>
        </p:nvPicPr>
        <p:blipFill>
          <a:blip r:embed="rId1"/>
          <a:stretch>
            <a:fillRect/>
          </a:stretch>
        </p:blipFill>
        <p:spPr>
          <a:xfrm>
            <a:off x="457200" y="2423160"/>
            <a:ext cx="3513800" cy="2240280"/>
          </a:xfrm>
          <a:prstGeom prst="rect">
            <a:avLst/>
          </a:prstGeom>
        </p:spPr>
      </p:pic>
      <p:sp>
        <p:nvSpPr>
          <p:cNvPr id="16" name="Text 13"/>
          <p:cNvSpPr txBox="1"/>
          <p:nvPr/>
        </p:nvSpPr>
        <p:spPr>
          <a:xfrm>
            <a:off x="4663440" y="2514600"/>
            <a:ext cx="4023360" cy="365760"/>
          </a:xfrm>
          <a:prstGeom prst="rect">
            <a:avLst/>
          </a:prstGeom>
          <a:noFill/>
          <a:ln/>
        </p:spPr>
        <p:txBody>
          <a:bodyPr wrap="square" lIns="0" tIns="0" rIns="0" bIns="0" rtlCol="0" anchor="t"/>
          <a:lstStyle/>
          <a:p>
            <a:pPr indent="0" marL="0">
              <a:buNone/>
            </a:pPr>
            <a:r>
              <a:rPr lang="en-US" sz="1600" b="1" dirty="0">
                <a:solidFill>
                  <a:schemeClr val="tx2"/>
                </a:solidFill>
              </a:rPr>
              <a:t>Hypotheses confirmed</a:t>
            </a:r>
            <a:endParaRPr lang="en-US" sz="1600" dirty="0"/>
          </a:p>
        </p:txBody>
      </p:sp>
      <p:sp>
        <p:nvSpPr>
          <p:cNvPr id="17" name="Text 14"/>
          <p:cNvSpPr txBox="1"/>
          <p:nvPr/>
        </p:nvSpPr>
        <p:spPr>
          <a:xfrm>
            <a:off x="4663440" y="2926080"/>
            <a:ext cx="402336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H1 large amounts relative to the card: strongly</a:t>
            </a:r>
            <a:endParaRPr lang="en-US" sz="1300" dirty="0"/>
          </a:p>
          <a:p>
            <a:pPr marL="177800" indent="-177800">
              <a:spcAft>
                <a:spcPts val="600"/>
              </a:spcAft>
              <a:buSzPct val="100000"/>
              <a:buChar char="•"/>
            </a:pPr>
            <a:r>
              <a:rPr lang="en-US" sz="1300" dirty="0">
                <a:solidFill>
                  <a:schemeClr val="tx1"/>
                </a:solidFill>
              </a:rPr>
              <a:t>H2 night-time: strongly</a:t>
            </a:r>
            <a:endParaRPr lang="en-US" sz="1300" dirty="0"/>
          </a:p>
          <a:p>
            <a:pPr marL="177800" indent="-177800">
              <a:spcAft>
                <a:spcPts val="600"/>
              </a:spcAft>
              <a:buSzPct val="100000"/>
              <a:buChar char="•"/>
            </a:pPr>
            <a:r>
              <a:rPr lang="en-US" sz="1300" dirty="0">
                <a:solidFill>
                  <a:schemeClr val="tx1"/>
                </a:solidFill>
              </a:rPr>
              <a:t>H3 bursts on a compromised card: yes; 24 h spend is the top single feature</a:t>
            </a:r>
            <a:endParaRPr lang="en-US" sz="1300" dirty="0"/>
          </a:p>
          <a:p>
            <a:pPr marL="177800" indent="-177800">
              <a:spcAft>
                <a:spcPts val="600"/>
              </a:spcAft>
              <a:buSzPct val="100000"/>
              <a:buChar char="•"/>
            </a:pPr>
            <a:r>
              <a:rPr lang="en-US" sz="1300" dirty="0">
                <a:solidFill>
                  <a:schemeClr val="tx1"/>
                </a:solidFill>
              </a:rPr>
              <a:t>H4 online and grocery-POS categories: 2-3× base rate</a:t>
            </a:r>
            <a:endParaRPr lang="en-US" sz="1300" dirty="0"/>
          </a:p>
          <a:p>
            <a:pPr marL="177800" indent="-177800">
              <a:spcAft>
                <a:spcPts val="600"/>
              </a:spcAft>
              <a:buSzPct val="100000"/>
              <a:buChar char="•"/>
            </a:pPr>
            <a:r>
              <a:rPr lang="en-US" sz="1300" dirty="0">
                <a:solidFill>
                  <a:schemeClr val="tx1"/>
                </a:solidFill>
              </a:rPr>
              <a:t>H5 demographics: weak, kept but checked for fairness</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Six candidates, one pre-registered selection rule</a:t>
            </a:r>
            <a:endParaRPr lang="en-US" sz="2800" dirty="0"/>
          </a:p>
        </p:txBody>
      </p:sp>
      <p:graphicFrame>
        <p:nvGraphicFramePr>
          <p:cNvPr id="3" name="Chart 0" descr=""/>
          <p:cNvGraphicFramePr/>
          <p:nvPr/>
        </p:nvGraphicFramePr>
        <p:xfrm>
          <a:off x="365760" y="1005840"/>
          <a:ext cx="4754880" cy="3383280"/>
        </p:xfrm>
        <a:graphic xmlns:a="http://schemas.openxmlformats.org/drawingml/2006/main">
          <a:graphicData uri="http://schemas.openxmlformats.org/drawingml/2006/chart">
            <c:chart xmlns:c="http://schemas.openxmlformats.org/drawingml/2006/chart" r:id="rId1"/>
          </a:graphicData>
        </a:graphic>
      </p:graphicFrame>
      <p:sp>
        <p:nvSpPr>
          <p:cNvPr id="4" name="card-18"/>
          <p:cNvSpPr/>
          <p:nvPr/>
        </p:nvSpPr>
        <p:spPr>
          <a:xfrm>
            <a:off x="5394960" y="1051560"/>
            <a:ext cx="3291840" cy="3337560"/>
          </a:xfrm>
          <a:prstGeom prst="roundRect">
            <a:avLst>
              <a:gd name="adj" fmla="val 2222"/>
            </a:avLst>
          </a:prstGeom>
          <a:solidFill>
            <a:schemeClr val="bg2"/>
          </a:solidFill>
          <a:ln w="12700">
            <a:solidFill>
              <a:schemeClr val="bg2"/>
            </a:solidFill>
            <a:prstDash val="solid"/>
          </a:ln>
        </p:spPr>
      </p:sp>
      <p:sp>
        <p:nvSpPr>
          <p:cNvPr id="5" name="Text 2"/>
          <p:cNvSpPr txBox="1"/>
          <p:nvPr/>
        </p:nvSpPr>
        <p:spPr>
          <a:xfrm>
            <a:off x="5577840" y="1188720"/>
            <a:ext cx="2971800" cy="548640"/>
          </a:xfrm>
          <a:prstGeom prst="rect">
            <a:avLst/>
          </a:prstGeom>
          <a:noFill/>
          <a:ln/>
        </p:spPr>
        <p:txBody>
          <a:bodyPr wrap="square" lIns="0" tIns="0" rIns="0" bIns="0" rtlCol="0" anchor="t"/>
          <a:lstStyle/>
          <a:p>
            <a:pPr indent="0" marL="0">
              <a:buNone/>
            </a:pPr>
            <a:r>
              <a:rPr lang="en-US" sz="1500" b="1" dirty="0">
                <a:solidFill>
                  <a:schemeClr val="tx2"/>
                </a:solidFill>
              </a:rPr>
              <a:t>Simplest non-inferior model wins</a:t>
            </a:r>
            <a:endParaRPr lang="en-US" sz="1500" dirty="0"/>
          </a:p>
        </p:txBody>
      </p:sp>
      <p:sp>
        <p:nvSpPr>
          <p:cNvPr id="6" name="Text 3"/>
          <p:cNvSpPr txBox="1"/>
          <p:nvPr/>
        </p:nvSpPr>
        <p:spPr>
          <a:xfrm>
            <a:off x="5577840" y="1783080"/>
            <a:ext cx="2971800" cy="256032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Time-series CV tuning inside train; class weights, no SMOTE</a:t>
            </a:r>
            <a:endParaRPr lang="en-US" sz="1200" dirty="0"/>
          </a:p>
          <a:p>
            <a:pPr marL="177800" indent="-177800">
              <a:spcAft>
                <a:spcPts val="600"/>
              </a:spcAft>
              <a:buSzPct val="100000"/>
              <a:buChar char="•"/>
            </a:pPr>
            <a:r>
              <a:rPr lang="en-US" sz="1200" dirty="0">
                <a:solidFill>
                  <a:schemeClr val="tx1"/>
                </a:solidFill>
              </a:rPr>
              <a:t>Four boosted models within noise of each other</a:t>
            </a:r>
            <a:endParaRPr lang="en-US" sz="1200" dirty="0"/>
          </a:p>
          <a:p>
            <a:pPr marL="177800" indent="-177800">
              <a:spcAft>
                <a:spcPts val="600"/>
              </a:spcAft>
              <a:buSzPct val="100000"/>
              <a:buChar char="•"/>
            </a:pPr>
            <a:r>
              <a:rPr lang="en-US" sz="1200" dirty="0">
                <a:solidFill>
                  <a:schemeClr val="tx1"/>
                </a:solidFill>
              </a:rPr>
              <a:t>Rule: pick the simplest whose PR-AUC gap to the best has a 95% CI upper bound &lt; 0.01</a:t>
            </a:r>
            <a:endParaRPr lang="en-US" sz="1200" dirty="0"/>
          </a:p>
          <a:p>
            <a:pPr marL="177800" indent="-177800">
              <a:spcAft>
                <a:spcPts val="600"/>
              </a:spcAft>
              <a:buSzPct val="100000"/>
              <a:buChar char="•"/>
            </a:pPr>
            <a:r>
              <a:rPr lang="en-US" sz="1200" dirty="0">
                <a:solidFill>
                  <a:schemeClr val="tx1"/>
                </a:solidFill>
              </a:rPr>
              <a:t>HistGB (scikit-learn): gap CI [0.0032, 0.0084]</a:t>
            </a:r>
            <a:endParaRPr lang="en-US" sz="1200" dirty="0"/>
          </a:p>
          <a:p>
            <a:pPr marL="177800" indent="-177800">
              <a:spcAft>
                <a:spcPts val="600"/>
              </a:spcAft>
              <a:buSzPct val="100000"/>
              <a:buChar char="•"/>
            </a:pPr>
            <a:r>
              <a:rPr lang="en-US" sz="1200" dirty="0">
                <a:solidFill>
                  <a:schemeClr val="tx1"/>
                </a:solidFill>
              </a:rPr>
              <a:t>Tracked and registered in MLflow</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 unseen months: high recall, tight intervals</a:t>
            </a:r>
            <a:endParaRPr lang="en-US" sz="2800" dirty="0"/>
          </a:p>
        </p:txBody>
      </p:sp>
      <p:sp>
        <p:nvSpPr>
          <p:cNvPr id="3" name="card-19"/>
          <p:cNvSpPr/>
          <p:nvPr/>
        </p:nvSpPr>
        <p:spPr>
          <a:xfrm>
            <a:off x="457200" y="1051560"/>
            <a:ext cx="1920240" cy="1143000"/>
          </a:xfrm>
          <a:prstGeom prst="roundRect">
            <a:avLst>
              <a:gd name="adj" fmla="val 6400"/>
            </a:avLst>
          </a:prstGeom>
          <a:solidFill>
            <a:schemeClr val="bg2"/>
          </a:solidFill>
          <a:ln w="12700">
            <a:solidFill>
              <a:schemeClr val="bg2"/>
            </a:solidFill>
            <a:prstDash val="solid"/>
          </a:ln>
        </p:spPr>
      </p:sp>
      <p:sp>
        <p:nvSpPr>
          <p:cNvPr id="4" name="Text 2"/>
          <p:cNvSpPr txBox="1"/>
          <p:nvPr/>
        </p:nvSpPr>
        <p:spPr>
          <a:xfrm>
            <a:off x="640080" y="1161288"/>
            <a:ext cx="1554480" cy="54864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96.2%</a:t>
            </a:r>
            <a:endParaRPr lang="en-US" sz="3000" dirty="0"/>
          </a:p>
        </p:txBody>
      </p:sp>
      <p:sp>
        <p:nvSpPr>
          <p:cNvPr id="5" name="Text 3"/>
          <p:cNvSpPr txBox="1"/>
          <p:nvPr/>
        </p:nvSpPr>
        <p:spPr>
          <a:xfrm>
            <a:off x="640080" y="1728216"/>
            <a:ext cx="1554480" cy="411480"/>
          </a:xfrm>
          <a:prstGeom prst="rect">
            <a:avLst/>
          </a:prstGeom>
          <a:noFill/>
          <a:ln/>
        </p:spPr>
        <p:txBody>
          <a:bodyPr wrap="square" lIns="0" tIns="0" rIns="0" bIns="0" rtlCol="0" anchor="t"/>
          <a:lstStyle/>
          <a:p>
            <a:pPr indent="0" marL="0">
              <a:buNone/>
            </a:pPr>
            <a:r>
              <a:rPr lang="en-US" sz="1200" dirty="0">
                <a:solidFill>
                  <a:schemeClr val="tx1"/>
                </a:solidFill>
              </a:rPr>
              <a:t>recall (95% CI 95.3%-96.9%)</a:t>
            </a:r>
            <a:endParaRPr lang="en-US" sz="1200" dirty="0"/>
          </a:p>
        </p:txBody>
      </p:sp>
      <p:sp>
        <p:nvSpPr>
          <p:cNvPr id="6" name="card-20"/>
          <p:cNvSpPr/>
          <p:nvPr/>
        </p:nvSpPr>
        <p:spPr>
          <a:xfrm>
            <a:off x="457200" y="2331720"/>
            <a:ext cx="1920240" cy="1143000"/>
          </a:xfrm>
          <a:prstGeom prst="roundRect">
            <a:avLst>
              <a:gd name="adj" fmla="val 6400"/>
            </a:avLst>
          </a:prstGeom>
          <a:solidFill>
            <a:schemeClr val="bg2"/>
          </a:solidFill>
          <a:ln w="12700">
            <a:solidFill>
              <a:schemeClr val="bg2"/>
            </a:solidFill>
            <a:prstDash val="solid"/>
          </a:ln>
        </p:spPr>
      </p:sp>
      <p:sp>
        <p:nvSpPr>
          <p:cNvPr id="7" name="Text 5"/>
          <p:cNvSpPr txBox="1"/>
          <p:nvPr/>
        </p:nvSpPr>
        <p:spPr>
          <a:xfrm>
            <a:off x="640080" y="2441448"/>
            <a:ext cx="1554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72.4%</a:t>
            </a:r>
            <a:endParaRPr lang="en-US" sz="3000" dirty="0"/>
          </a:p>
        </p:txBody>
      </p:sp>
      <p:sp>
        <p:nvSpPr>
          <p:cNvPr id="8" name="Text 6"/>
          <p:cNvSpPr txBox="1"/>
          <p:nvPr/>
        </p:nvSpPr>
        <p:spPr>
          <a:xfrm>
            <a:off x="640080" y="3008376"/>
            <a:ext cx="1554480" cy="411480"/>
          </a:xfrm>
          <a:prstGeom prst="rect">
            <a:avLst/>
          </a:prstGeom>
          <a:noFill/>
          <a:ln/>
        </p:spPr>
        <p:txBody>
          <a:bodyPr wrap="square" lIns="0" tIns="0" rIns="0" bIns="0" rtlCol="0" anchor="t"/>
          <a:lstStyle/>
          <a:p>
            <a:pPr indent="0" marL="0">
              <a:buNone/>
            </a:pPr>
            <a:r>
              <a:rPr lang="en-US" sz="1200" dirty="0">
                <a:solidFill>
                  <a:schemeClr val="tx1"/>
                </a:solidFill>
              </a:rPr>
              <a:t>precision (95% CI 70.8%-73.9%)</a:t>
            </a:r>
            <a:endParaRPr lang="en-US" sz="1200" dirty="0"/>
          </a:p>
        </p:txBody>
      </p:sp>
      <p:sp>
        <p:nvSpPr>
          <p:cNvPr id="9" name="card-21"/>
          <p:cNvSpPr/>
          <p:nvPr/>
        </p:nvSpPr>
        <p:spPr>
          <a:xfrm>
            <a:off x="457200" y="3611880"/>
            <a:ext cx="1920240" cy="1143000"/>
          </a:xfrm>
          <a:prstGeom prst="roundRect">
            <a:avLst>
              <a:gd name="adj" fmla="val 6400"/>
            </a:avLst>
          </a:prstGeom>
          <a:solidFill>
            <a:schemeClr val="bg2"/>
          </a:solidFill>
          <a:ln w="12700">
            <a:solidFill>
              <a:schemeClr val="bg2"/>
            </a:solidFill>
            <a:prstDash val="solid"/>
          </a:ln>
        </p:spPr>
      </p:sp>
      <p:sp>
        <p:nvSpPr>
          <p:cNvPr id="10" name="Text 8"/>
          <p:cNvSpPr txBox="1"/>
          <p:nvPr/>
        </p:nvSpPr>
        <p:spPr>
          <a:xfrm>
            <a:off x="640080" y="3721608"/>
            <a:ext cx="1554480" cy="54864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14.7</a:t>
            </a:r>
            <a:endParaRPr lang="en-US" sz="3000" dirty="0"/>
          </a:p>
        </p:txBody>
      </p:sp>
      <p:sp>
        <p:nvSpPr>
          <p:cNvPr id="11" name="Text 9"/>
          <p:cNvSpPr txBox="1"/>
          <p:nvPr/>
        </p:nvSpPr>
        <p:spPr>
          <a:xfrm>
            <a:off x="640080" y="4288536"/>
            <a:ext cx="1554480" cy="411480"/>
          </a:xfrm>
          <a:prstGeom prst="rect">
            <a:avLst/>
          </a:prstGeom>
          <a:noFill/>
          <a:ln/>
        </p:spPr>
        <p:txBody>
          <a:bodyPr wrap="square" lIns="0" tIns="0" rIns="0" bIns="0" rtlCol="0" anchor="t"/>
          <a:lstStyle/>
          <a:p>
            <a:pPr indent="0" marL="0">
              <a:buNone/>
            </a:pPr>
            <a:r>
              <a:rPr lang="en-US" sz="1200" dirty="0">
                <a:solidFill>
                  <a:schemeClr val="tx1"/>
                </a:solidFill>
              </a:rPr>
              <a:t>alerts per day at threshold 0.740</a:t>
            </a:r>
            <a:endParaRPr lang="en-US" sz="1200" dirty="0"/>
          </a:p>
        </p:txBody>
      </p:sp>
      <p:graphicFrame>
        <p:nvGraphicFramePr>
          <p:cNvPr id="12" name="Chart 0" descr=""/>
          <p:cNvGraphicFramePr/>
          <p:nvPr/>
        </p:nvGraphicFramePr>
        <p:xfrm>
          <a:off x="2651760" y="1005840"/>
          <a:ext cx="6035040" cy="30175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2651760" y="4069080"/>
            <a:ext cx="6035040" cy="548640"/>
          </a:xfrm>
          <a:prstGeom prst="rect">
            <a:avLst/>
          </a:prstGeom>
          <a:noFill/>
          <a:ln/>
        </p:spPr>
        <p:txBody>
          <a:bodyPr wrap="square" lIns="0" tIns="0" rIns="0" bIns="0" rtlCol="0" anchor="t"/>
          <a:lstStyle/>
          <a:p>
            <a:pPr indent="0" marL="0">
              <a:buNone/>
            </a:pPr>
            <a:r>
              <a:rPr lang="en-US" sz="1200" dirty="0">
                <a:solidFill>
                  <a:schemeClr val="tx1"/>
                </a:solidFill>
              </a:rPr>
              <a:t>Threshold chosen on validation by maximising net benefit, applied once to test. 98.7% of fraud value caught; missed fraud is mostly low-value.</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Every alert explains itself</a:t>
            </a:r>
            <a:endParaRPr lang="en-US" sz="2800" dirty="0"/>
          </a:p>
        </p:txBody>
      </p:sp>
      <p:graphicFrame>
        <p:nvGraphicFramePr>
          <p:cNvPr id="3" name="Chart 0" descr=""/>
          <p:cNvGraphicFramePr/>
          <p:nvPr/>
        </p:nvGraphicFramePr>
        <p:xfrm>
          <a:off x="365760" y="1005840"/>
          <a:ext cx="4572000" cy="3474720"/>
        </p:xfrm>
        <a:graphic xmlns:a="http://schemas.openxmlformats.org/drawingml/2006/main">
          <a:graphicData uri="http://schemas.openxmlformats.org/drawingml/2006/chart">
            <c:chart xmlns:c="http://schemas.openxmlformats.org/drawingml/2006/chart" r:id="rId1"/>
          </a:graphicData>
        </a:graphic>
      </p:graphicFrame>
      <p:sp>
        <p:nvSpPr>
          <p:cNvPr id="4" name="card-22"/>
          <p:cNvSpPr/>
          <p:nvPr/>
        </p:nvSpPr>
        <p:spPr>
          <a:xfrm>
            <a:off x="5212080" y="1051560"/>
            <a:ext cx="3474720" cy="1600200"/>
          </a:xfrm>
          <a:prstGeom prst="roundRect">
            <a:avLst>
              <a:gd name="adj" fmla="val 4571"/>
            </a:avLst>
          </a:prstGeom>
          <a:solidFill>
            <a:schemeClr val="bg2"/>
          </a:solidFill>
          <a:ln w="12700">
            <a:solidFill>
              <a:schemeClr val="bg2"/>
            </a:solidFill>
            <a:prstDash val="solid"/>
          </a:ln>
        </p:spPr>
      </p:sp>
      <p:sp>
        <p:nvSpPr>
          <p:cNvPr id="5" name="Text 2"/>
          <p:cNvSpPr txBox="1"/>
          <p:nvPr/>
        </p:nvSpPr>
        <p:spPr>
          <a:xfrm>
            <a:off x="5394960" y="1170432"/>
            <a:ext cx="3108960" cy="365760"/>
          </a:xfrm>
          <a:prstGeom prst="rect">
            <a:avLst/>
          </a:prstGeom>
          <a:noFill/>
          <a:ln/>
        </p:spPr>
        <p:txBody>
          <a:bodyPr wrap="square" lIns="0" tIns="0" rIns="0" bIns="0" rtlCol="0" anchor="t"/>
          <a:lstStyle/>
          <a:p>
            <a:pPr indent="0" marL="0">
              <a:buNone/>
            </a:pPr>
            <a:r>
              <a:rPr lang="en-US" sz="1500" b="1" dirty="0">
                <a:solidFill>
                  <a:schemeClr val="tx2"/>
                </a:solidFill>
              </a:rPr>
              <a:t>Reasons an analyst can act on</a:t>
            </a:r>
            <a:endParaRPr lang="en-US" sz="1500" dirty="0"/>
          </a:p>
        </p:txBody>
      </p:sp>
      <p:sp>
        <p:nvSpPr>
          <p:cNvPr id="6" name="Text 3"/>
          <p:cNvSpPr txBox="1"/>
          <p:nvPr/>
        </p:nvSpPr>
        <p:spPr>
          <a:xfrm>
            <a:off x="5394960" y="1554480"/>
            <a:ext cx="3108960" cy="1051560"/>
          </a:xfrm>
          <a:prstGeom prst="rect">
            <a:avLst/>
          </a:prstGeom>
          <a:noFill/>
          <a:ln/>
        </p:spPr>
        <p:txBody>
          <a:bodyPr wrap="square" lIns="0" tIns="0" rIns="0" bIns="0" rtlCol="0" anchor="t"/>
          <a:lstStyle/>
          <a:p>
            <a:pPr indent="0" marL="0">
              <a:buNone/>
            </a:pPr>
            <a:r>
              <a:rPr lang="en-US" sz="1200" dirty="0">
                <a:solidFill>
                  <a:schemeClr val="tx1"/>
                </a:solidFill>
              </a:rPr>
              <a:t>Top-3 SHAP contributions on every alert, plus plain rules: "Amount is 7× this card's usual spend; 5 transactions in 24 h; 3 min since the last one".</a:t>
            </a:r>
            <a:endParaRPr lang="en-US" sz="1200" dirty="0"/>
          </a:p>
        </p:txBody>
      </p:sp>
      <p:sp>
        <p:nvSpPr>
          <p:cNvPr id="7" name="card-23"/>
          <p:cNvSpPr/>
          <p:nvPr/>
        </p:nvSpPr>
        <p:spPr>
          <a:xfrm>
            <a:off x="5212080" y="2834640"/>
            <a:ext cx="3474720" cy="1645920"/>
          </a:xfrm>
          <a:prstGeom prst="roundRect">
            <a:avLst>
              <a:gd name="adj" fmla="val 4444"/>
            </a:avLst>
          </a:prstGeom>
          <a:solidFill>
            <a:schemeClr val="bg2"/>
          </a:solidFill>
          <a:ln w="12700">
            <a:solidFill>
              <a:schemeClr val="bg2"/>
            </a:solidFill>
            <a:prstDash val="solid"/>
          </a:ln>
        </p:spPr>
      </p:sp>
      <p:sp>
        <p:nvSpPr>
          <p:cNvPr id="8" name="Text 5"/>
          <p:cNvSpPr txBox="1"/>
          <p:nvPr/>
        </p:nvSpPr>
        <p:spPr>
          <a:xfrm>
            <a:off x="5394960" y="2953512"/>
            <a:ext cx="3108960" cy="365760"/>
          </a:xfrm>
          <a:prstGeom prst="rect">
            <a:avLst/>
          </a:prstGeom>
          <a:noFill/>
          <a:ln/>
        </p:spPr>
        <p:txBody>
          <a:bodyPr wrap="square" lIns="0" tIns="0" rIns="0" bIns="0" rtlCol="0" anchor="t"/>
          <a:lstStyle/>
          <a:p>
            <a:pPr indent="0" marL="0">
              <a:buNone/>
            </a:pPr>
            <a:r>
              <a:rPr lang="en-US" sz="1500" b="1" dirty="0">
                <a:solidFill>
                  <a:schemeClr val="tx2"/>
                </a:solidFill>
              </a:rPr>
              <a:t>Fairness, reported honestly</a:t>
            </a:r>
            <a:endParaRPr lang="en-US" sz="1500" dirty="0"/>
          </a:p>
        </p:txBody>
      </p:sp>
      <p:sp>
        <p:nvSpPr>
          <p:cNvPr id="9" name="Text 6"/>
          <p:cNvSpPr txBox="1"/>
          <p:nvPr/>
        </p:nvSpPr>
        <p:spPr>
          <a:xfrm>
            <a:off x="5394960" y="3337560"/>
            <a:ext cx="3108960" cy="1097280"/>
          </a:xfrm>
          <a:prstGeom prst="rect">
            <a:avLst/>
          </a:prstGeom>
          <a:noFill/>
          <a:ln/>
        </p:spPr>
        <p:txBody>
          <a:bodyPr wrap="square" lIns="0" tIns="0" rIns="0" bIns="0" rtlCol="0" anchor="t"/>
          <a:lstStyle/>
          <a:p>
            <a:pPr indent="0" marL="0">
              <a:buNone/>
            </a:pPr>
            <a:r>
              <a:rPr lang="en-US" sz="1200" dirty="0">
                <a:solidFill>
                  <a:schemeClr val="tx1"/>
                </a:solidFill>
              </a:rPr>
              <a:t>Recall 0.947 for women vs 0.981 for men; false alarms 15.67 vs 12.45 per 10k. Next step on real data: retrain without gender and compare.</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Deployed: scoring API and analyst dashboard</a:t>
            </a:r>
            <a:endParaRPr lang="en-US" sz="2800" dirty="0"/>
          </a:p>
        </p:txBody>
      </p:sp>
      <p:pic>
        <p:nvPicPr>
          <p:cNvPr id="3" name="dashboard_live_scoring.png" descr="/home/claude/repo/docs/images/dashboard_live_scoring.png">    </p:cNvPr>
          <p:cNvPicPr>
            <a:picLocks noChangeAspect="1"/>
          </p:cNvPicPr>
          <p:nvPr/>
        </p:nvPicPr>
        <p:blipFill>
          <a:blip r:embed="rId1"/>
          <a:stretch>
            <a:fillRect/>
          </a:stretch>
        </p:blipFill>
        <p:spPr>
          <a:xfrm>
            <a:off x="457200" y="1051560"/>
            <a:ext cx="5577840" cy="3486150"/>
          </a:xfrm>
          <a:prstGeom prst="rect">
            <a:avLst/>
          </a:prstGeom>
        </p:spPr>
      </p:pic>
      <p:sp>
        <p:nvSpPr>
          <p:cNvPr id="4" name="Text 1"/>
          <p:cNvSpPr txBox="1"/>
          <p:nvPr/>
        </p:nvSpPr>
        <p:spPr>
          <a:xfrm>
            <a:off x="6309360" y="1097280"/>
            <a:ext cx="2377440" cy="32918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FastAPI /score: online feature store computes card history in real time; SHAP reasons and a counterfactual</a:t>
            </a:r>
            <a:endParaRPr lang="en-US" sz="1200" dirty="0"/>
          </a:p>
          <a:p>
            <a:pPr marL="177800" indent="-177800">
              <a:spcAft>
                <a:spcPts val="600"/>
              </a:spcAft>
              <a:buSzPct val="100000"/>
              <a:buChar char="•"/>
            </a:pPr>
            <a:r>
              <a:rPr lang="en-US" sz="1200" dirty="0">
                <a:solidFill>
                  <a:schemeClr val="tx1"/>
                </a:solidFill>
              </a:rPr>
              <a:t>Review queue: /alerts and /alerts/{id}/decision; the dashboard's Case review tab</a:t>
            </a:r>
            <a:endParaRPr lang="en-US" sz="1200" dirty="0"/>
          </a:p>
          <a:p>
            <a:pPr marL="177800" indent="-177800">
              <a:spcAft>
                <a:spcPts val="600"/>
              </a:spcAft>
              <a:buSzPct val="100000"/>
              <a:buChar char="•"/>
            </a:pPr>
            <a:r>
              <a:rPr lang="en-US" sz="1200" dirty="0">
                <a:solidFill>
                  <a:schemeClr val="tx1"/>
                </a:solidFill>
              </a:rPr>
              <a:t>Access control: role-based API keys (scorer, analyst, admin); dashboard sign-in (analyst, viewer); audit log</a:t>
            </a:r>
            <a:endParaRPr lang="en-US" sz="1200" dirty="0"/>
          </a:p>
          <a:p>
            <a:pPr marL="177800" indent="-177800">
              <a:spcAft>
                <a:spcPts val="600"/>
              </a:spcAft>
              <a:buSzPct val="100000"/>
              <a:buChar char="•"/>
            </a:pPr>
            <a:r>
              <a:rPr lang="en-US" sz="1200" dirty="0">
                <a:solidFill>
                  <a:schemeClr val="tx1"/>
                </a:solidFill>
              </a:rPr>
              <a:t>One 40 MB bundle; container image ghcr.io/…/fraudlens-app; public links with access control on</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new transaction, from features to an analyst decision</a:t>
            </a:r>
            <a:endParaRPr lang="en-US" sz="2800" dirty="0"/>
          </a:p>
        </p:txBody>
      </p:sp>
      <p:sp>
        <p:nvSpPr>
          <p:cNvPr id="3" name="card-24"/>
          <p:cNvSpPr/>
          <p:nvPr/>
        </p:nvSpPr>
        <p:spPr>
          <a:xfrm>
            <a:off x="365760" y="1051560"/>
            <a:ext cx="1572768" cy="1417320"/>
          </a:xfrm>
          <a:prstGeom prst="roundRect">
            <a:avLst>
              <a:gd name="adj" fmla="val 5161"/>
            </a:avLst>
          </a:prstGeom>
          <a:solidFill>
            <a:schemeClr val="bg2"/>
          </a:solidFill>
          <a:ln w="12700">
            <a:solidFill>
              <a:schemeClr val="bg2"/>
            </a:solidFill>
            <a:prstDash val="solid"/>
          </a:ln>
        </p:spPr>
      </p:sp>
      <p:sp>
        <p:nvSpPr>
          <p:cNvPr id="4" name="Text 2"/>
          <p:cNvSpPr txBox="1"/>
          <p:nvPr/>
        </p:nvSpPr>
        <p:spPr>
          <a:xfrm>
            <a:off x="475488" y="1143000"/>
            <a:ext cx="1371600" cy="320040"/>
          </a:xfrm>
          <a:prstGeom prst="rect">
            <a:avLst/>
          </a:prstGeom>
          <a:noFill/>
          <a:ln/>
        </p:spPr>
        <p:txBody>
          <a:bodyPr wrap="square" lIns="0" tIns="0" rIns="0" bIns="0" rtlCol="0" anchor="t"/>
          <a:lstStyle/>
          <a:p>
            <a:pPr indent="0" marL="0">
              <a:buNone/>
            </a:pPr>
            <a:r>
              <a:rPr lang="en-US" sz="1400" b="1" dirty="0">
                <a:solidFill>
                  <a:schemeClr val="tx2"/>
                </a:solidFill>
              </a:rPr>
              <a:t>1 Received</a:t>
            </a:r>
            <a:endParaRPr lang="en-US" sz="1400" dirty="0"/>
          </a:p>
        </p:txBody>
      </p:sp>
      <p:sp>
        <p:nvSpPr>
          <p:cNvPr id="5" name="Text 3"/>
          <p:cNvSpPr txBox="1"/>
          <p:nvPr/>
        </p:nvSpPr>
        <p:spPr>
          <a:xfrm>
            <a:off x="475488" y="1481328"/>
            <a:ext cx="1371600" cy="914400"/>
          </a:xfrm>
          <a:prstGeom prst="rect">
            <a:avLst/>
          </a:prstGeom>
          <a:noFill/>
          <a:ln/>
        </p:spPr>
        <p:txBody>
          <a:bodyPr wrap="square" lIns="0" tIns="0" rIns="0" bIns="0" rtlCol="0" anchor="t"/>
          <a:lstStyle/>
          <a:p>
            <a:pPr indent="0" marL="0">
              <a:buNone/>
            </a:pPr>
            <a:r>
              <a:rPr lang="en-US" sz="1100" dirty="0">
                <a:solidFill>
                  <a:schemeClr val="tx1"/>
                </a:solidFill>
              </a:rPr>
              <a:t>POST /score or the dashboard's Live transaction tab</a:t>
            </a:r>
            <a:endParaRPr lang="en-US" sz="1100" dirty="0"/>
          </a:p>
        </p:txBody>
      </p:sp>
      <p:sp>
        <p:nvSpPr>
          <p:cNvPr id="6" name="card-25"/>
          <p:cNvSpPr/>
          <p:nvPr/>
        </p:nvSpPr>
        <p:spPr>
          <a:xfrm>
            <a:off x="2066544" y="1051560"/>
            <a:ext cx="1572768" cy="1417320"/>
          </a:xfrm>
          <a:prstGeom prst="roundRect">
            <a:avLst>
              <a:gd name="adj" fmla="val 5161"/>
            </a:avLst>
          </a:prstGeom>
          <a:solidFill>
            <a:schemeClr val="bg2"/>
          </a:solidFill>
          <a:ln w="12700">
            <a:solidFill>
              <a:schemeClr val="bg2"/>
            </a:solidFill>
            <a:prstDash val="solid"/>
          </a:ln>
        </p:spPr>
      </p:sp>
      <p:sp>
        <p:nvSpPr>
          <p:cNvPr id="7" name="Text 5"/>
          <p:cNvSpPr txBox="1"/>
          <p:nvPr/>
        </p:nvSpPr>
        <p:spPr>
          <a:xfrm>
            <a:off x="2176272" y="1143000"/>
            <a:ext cx="1371600" cy="320040"/>
          </a:xfrm>
          <a:prstGeom prst="rect">
            <a:avLst/>
          </a:prstGeom>
          <a:noFill/>
          <a:ln/>
        </p:spPr>
        <p:txBody>
          <a:bodyPr wrap="square" lIns="0" tIns="0" rIns="0" bIns="0" rtlCol="0" anchor="t"/>
          <a:lstStyle/>
          <a:p>
            <a:pPr indent="0" marL="0">
              <a:buNone/>
            </a:pPr>
            <a:r>
              <a:rPr lang="en-US" sz="1400" b="1" dirty="0">
                <a:solidFill>
                  <a:schemeClr val="tx2"/>
                </a:solidFill>
              </a:rPr>
              <a:t>2 Features</a:t>
            </a:r>
            <a:endParaRPr lang="en-US" sz="1400" dirty="0"/>
          </a:p>
        </p:txBody>
      </p:sp>
      <p:sp>
        <p:nvSpPr>
          <p:cNvPr id="8" name="Text 6"/>
          <p:cNvSpPr txBox="1"/>
          <p:nvPr/>
        </p:nvSpPr>
        <p:spPr>
          <a:xfrm>
            <a:off x="2176272" y="1481328"/>
            <a:ext cx="1371600" cy="914400"/>
          </a:xfrm>
          <a:prstGeom prst="rect">
            <a:avLst/>
          </a:prstGeom>
          <a:noFill/>
          <a:ln/>
        </p:spPr>
        <p:txBody>
          <a:bodyPr wrap="square" lIns="0" tIns="0" rIns="0" bIns="0" rtlCol="0" anchor="t"/>
          <a:lstStyle/>
          <a:p>
            <a:pPr indent="0" marL="0">
              <a:buNone/>
            </a:pPr>
            <a:r>
              <a:rPr lang="en-US" sz="1100" dirty="0">
                <a:solidFill>
                  <a:schemeClr val="tx1"/>
                </a:solidFill>
              </a:rPr>
              <a:t>online feature store: card history, velocity 1 h / 24 h / 7 d</a:t>
            </a:r>
            <a:endParaRPr lang="en-US" sz="1100" dirty="0"/>
          </a:p>
        </p:txBody>
      </p:sp>
      <p:sp>
        <p:nvSpPr>
          <p:cNvPr id="9" name="card-26"/>
          <p:cNvSpPr/>
          <p:nvPr/>
        </p:nvSpPr>
        <p:spPr>
          <a:xfrm>
            <a:off x="3767328" y="1051560"/>
            <a:ext cx="1572768" cy="1417320"/>
          </a:xfrm>
          <a:prstGeom prst="roundRect">
            <a:avLst>
              <a:gd name="adj" fmla="val 5161"/>
            </a:avLst>
          </a:prstGeom>
          <a:solidFill>
            <a:schemeClr val="bg2"/>
          </a:solidFill>
          <a:ln w="12700">
            <a:solidFill>
              <a:schemeClr val="bg2"/>
            </a:solidFill>
            <a:prstDash val="solid"/>
          </a:ln>
        </p:spPr>
      </p:sp>
      <p:sp>
        <p:nvSpPr>
          <p:cNvPr id="10" name="Text 8"/>
          <p:cNvSpPr txBox="1"/>
          <p:nvPr/>
        </p:nvSpPr>
        <p:spPr>
          <a:xfrm>
            <a:off x="3877056" y="1143000"/>
            <a:ext cx="1371600" cy="320040"/>
          </a:xfrm>
          <a:prstGeom prst="rect">
            <a:avLst/>
          </a:prstGeom>
          <a:noFill/>
          <a:ln/>
        </p:spPr>
        <p:txBody>
          <a:bodyPr wrap="square" lIns="0" tIns="0" rIns="0" bIns="0" rtlCol="0" anchor="t"/>
          <a:lstStyle/>
          <a:p>
            <a:pPr indent="0" marL="0">
              <a:buNone/>
            </a:pPr>
            <a:r>
              <a:rPr lang="en-US" sz="1400" b="1" dirty="0">
                <a:solidFill>
                  <a:schemeClr val="tx2"/>
                </a:solidFill>
              </a:rPr>
              <a:t>3 Inference</a:t>
            </a:r>
            <a:endParaRPr lang="en-US" sz="1400" dirty="0"/>
          </a:p>
        </p:txBody>
      </p:sp>
      <p:sp>
        <p:nvSpPr>
          <p:cNvPr id="11" name="Text 9"/>
          <p:cNvSpPr txBox="1"/>
          <p:nvPr/>
        </p:nvSpPr>
        <p:spPr>
          <a:xfrm>
            <a:off x="3877056" y="1481328"/>
            <a:ext cx="1371600" cy="914400"/>
          </a:xfrm>
          <a:prstGeom prst="rect">
            <a:avLst/>
          </a:prstGeom>
          <a:noFill/>
          <a:ln/>
        </p:spPr>
        <p:txBody>
          <a:bodyPr wrap="square" lIns="0" tIns="0" rIns="0" bIns="0" rtlCol="0" anchor="t"/>
          <a:lstStyle/>
          <a:p>
            <a:pPr indent="0" marL="0">
              <a:buNone/>
            </a:pPr>
            <a:r>
              <a:rPr lang="en-US" sz="1100" dirty="0">
                <a:solidFill>
                  <a:schemeClr val="tx1"/>
                </a:solidFill>
              </a:rPr>
              <a:t>score vs threshold, SHAP reasons, counterfactual amount</a:t>
            </a:r>
            <a:endParaRPr lang="en-US" sz="1100" dirty="0"/>
          </a:p>
        </p:txBody>
      </p:sp>
      <p:sp>
        <p:nvSpPr>
          <p:cNvPr id="12" name="card-27"/>
          <p:cNvSpPr/>
          <p:nvPr/>
        </p:nvSpPr>
        <p:spPr>
          <a:xfrm>
            <a:off x="5468112" y="1051560"/>
            <a:ext cx="1572768" cy="1417320"/>
          </a:xfrm>
          <a:prstGeom prst="roundRect">
            <a:avLst>
              <a:gd name="adj" fmla="val 5161"/>
            </a:avLst>
          </a:prstGeom>
          <a:solidFill>
            <a:schemeClr val="bg2"/>
          </a:solidFill>
          <a:ln w="12700">
            <a:solidFill>
              <a:schemeClr val="bg2"/>
            </a:solidFill>
            <a:prstDash val="solid"/>
          </a:ln>
        </p:spPr>
      </p:sp>
      <p:sp>
        <p:nvSpPr>
          <p:cNvPr id="13" name="Text 11"/>
          <p:cNvSpPr txBox="1"/>
          <p:nvPr/>
        </p:nvSpPr>
        <p:spPr>
          <a:xfrm>
            <a:off x="5577840" y="1143000"/>
            <a:ext cx="1371600" cy="320040"/>
          </a:xfrm>
          <a:prstGeom prst="rect">
            <a:avLst/>
          </a:prstGeom>
          <a:noFill/>
          <a:ln/>
        </p:spPr>
        <p:txBody>
          <a:bodyPr wrap="square" lIns="0" tIns="0" rIns="0" bIns="0" rtlCol="0" anchor="t"/>
          <a:lstStyle/>
          <a:p>
            <a:pPr indent="0" marL="0">
              <a:buNone/>
            </a:pPr>
            <a:r>
              <a:rPr lang="en-US" sz="1400" b="1" dirty="0">
                <a:solidFill>
                  <a:schemeClr val="tx2"/>
                </a:solidFill>
              </a:rPr>
              <a:t>4 Routed</a:t>
            </a:r>
            <a:endParaRPr lang="en-US" sz="1400" dirty="0"/>
          </a:p>
        </p:txBody>
      </p:sp>
      <p:sp>
        <p:nvSpPr>
          <p:cNvPr id="14" name="Text 12"/>
          <p:cNvSpPr txBox="1"/>
          <p:nvPr/>
        </p:nvSpPr>
        <p:spPr>
          <a:xfrm>
            <a:off x="5577840" y="1481328"/>
            <a:ext cx="1371600" cy="914400"/>
          </a:xfrm>
          <a:prstGeom prst="rect">
            <a:avLst/>
          </a:prstGeom>
          <a:noFill/>
          <a:ln/>
        </p:spPr>
        <p:txBody>
          <a:bodyPr wrap="square" lIns="0" tIns="0" rIns="0" bIns="0" rtlCol="0" anchor="t"/>
          <a:lstStyle/>
          <a:p>
            <a:pPr indent="0" marL="0">
              <a:buNone/>
            </a:pPr>
            <a:r>
              <a:rPr lang="en-US" sz="1100" dirty="0">
                <a:solidFill>
                  <a:schemeClr val="tx1"/>
                </a:solidFill>
              </a:rPr>
              <a:t>alert → case opened in the review queue; else approved</a:t>
            </a:r>
            <a:endParaRPr lang="en-US" sz="1100" dirty="0"/>
          </a:p>
        </p:txBody>
      </p:sp>
      <p:sp>
        <p:nvSpPr>
          <p:cNvPr id="15" name="card-28"/>
          <p:cNvSpPr/>
          <p:nvPr/>
        </p:nvSpPr>
        <p:spPr>
          <a:xfrm>
            <a:off x="7168896" y="1051560"/>
            <a:ext cx="1572768" cy="1417320"/>
          </a:xfrm>
          <a:prstGeom prst="roundRect">
            <a:avLst>
              <a:gd name="adj" fmla="val 5161"/>
            </a:avLst>
          </a:prstGeom>
          <a:solidFill>
            <a:schemeClr val="bg2"/>
          </a:solidFill>
          <a:ln w="12700">
            <a:solidFill>
              <a:schemeClr val="bg2"/>
            </a:solidFill>
            <a:prstDash val="solid"/>
          </a:ln>
        </p:spPr>
      </p:sp>
      <p:sp>
        <p:nvSpPr>
          <p:cNvPr id="16" name="Text 14"/>
          <p:cNvSpPr txBox="1"/>
          <p:nvPr/>
        </p:nvSpPr>
        <p:spPr>
          <a:xfrm>
            <a:off x="7278624" y="1143000"/>
            <a:ext cx="1371600" cy="320040"/>
          </a:xfrm>
          <a:prstGeom prst="rect">
            <a:avLst/>
          </a:prstGeom>
          <a:noFill/>
          <a:ln/>
        </p:spPr>
        <p:txBody>
          <a:bodyPr wrap="square" lIns="0" tIns="0" rIns="0" bIns="0" rtlCol="0" anchor="t"/>
          <a:lstStyle/>
          <a:p>
            <a:pPr indent="0" marL="0">
              <a:buNone/>
            </a:pPr>
            <a:r>
              <a:rPr lang="en-US" sz="1400" b="1" dirty="0">
                <a:solidFill>
                  <a:schemeClr val="accent1"/>
                </a:solidFill>
              </a:rPr>
              <a:t>5 Decision</a:t>
            </a:r>
            <a:endParaRPr lang="en-US" sz="1400" dirty="0"/>
          </a:p>
        </p:txBody>
      </p:sp>
      <p:sp>
        <p:nvSpPr>
          <p:cNvPr id="17" name="Text 15"/>
          <p:cNvSpPr txBox="1"/>
          <p:nvPr/>
        </p:nvSpPr>
        <p:spPr>
          <a:xfrm>
            <a:off x="7278624" y="1481328"/>
            <a:ext cx="1371600" cy="914400"/>
          </a:xfrm>
          <a:prstGeom prst="rect">
            <a:avLst/>
          </a:prstGeom>
          <a:noFill/>
          <a:ln/>
        </p:spPr>
        <p:txBody>
          <a:bodyPr wrap="square" lIns="0" tIns="0" rIns="0" bIns="0" rtlCol="0" anchor="t"/>
          <a:lstStyle/>
          <a:p>
            <a:pPr indent="0" marL="0">
              <a:buNone/>
            </a:pPr>
            <a:r>
              <a:rPr lang="en-US" sz="1100" dirty="0">
                <a:solidFill>
                  <a:schemeClr val="tx1"/>
                </a:solidFill>
              </a:rPr>
              <a:t>analyst: fraud / legitimate + note; audit log</a:t>
            </a:r>
            <a:endParaRPr lang="en-US" sz="1100" dirty="0"/>
          </a:p>
        </p:txBody>
      </p:sp>
      <p:sp>
        <p:nvSpPr>
          <p:cNvPr id="18" name="card-29"/>
          <p:cNvSpPr/>
          <p:nvPr/>
        </p:nvSpPr>
        <p:spPr>
          <a:xfrm>
            <a:off x="365760" y="2697480"/>
            <a:ext cx="8412480" cy="1783080"/>
          </a:xfrm>
          <a:prstGeom prst="roundRect">
            <a:avLst>
              <a:gd name="adj" fmla="val 4103"/>
            </a:avLst>
          </a:prstGeom>
          <a:solidFill>
            <a:schemeClr val="bg2"/>
          </a:solidFill>
          <a:ln w="12700">
            <a:solidFill>
              <a:schemeClr val="bg2"/>
            </a:solidFill>
            <a:prstDash val="solid"/>
          </a:ln>
        </p:spPr>
      </p:sp>
      <p:sp>
        <p:nvSpPr>
          <p:cNvPr id="19" name="Text 17"/>
          <p:cNvSpPr txBox="1"/>
          <p:nvPr/>
        </p:nvSpPr>
        <p:spPr>
          <a:xfrm>
            <a:off x="548640" y="2788920"/>
            <a:ext cx="8046720" cy="320040"/>
          </a:xfrm>
          <a:prstGeom prst="rect">
            <a:avLst/>
          </a:prstGeom>
          <a:noFill/>
          <a:ln/>
        </p:spPr>
        <p:txBody>
          <a:bodyPr wrap="square" lIns="0" tIns="0" rIns="0" bIns="0" rtlCol="0" anchor="t"/>
          <a:lstStyle/>
          <a:p>
            <a:pPr indent="0" marL="0">
              <a:buNone/>
            </a:pPr>
            <a:r>
              <a:rPr lang="en-US" sz="1500" b="1" dirty="0">
                <a:solidFill>
                  <a:schemeClr val="accent3"/>
                </a:solidFill>
              </a:rPr>
              <a:t>How decisions inform monitoring</a:t>
            </a:r>
            <a:endParaRPr lang="en-US" sz="1500" dirty="0"/>
          </a:p>
        </p:txBody>
      </p:sp>
      <p:sp>
        <p:nvSpPr>
          <p:cNvPr id="20" name="Text 18"/>
          <p:cNvSpPr txBox="1"/>
          <p:nvPr/>
        </p:nvSpPr>
        <p:spPr>
          <a:xfrm>
            <a:off x="548640" y="3154680"/>
            <a:ext cx="8046720" cy="128016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Live precision (confirmed ÷ reviewed alerts) with a 95% interval vs the 40% floor → threshold/model review, Prometheus alert</a:t>
            </a:r>
            <a:endParaRPr lang="en-US" sz="1250" dirty="0"/>
          </a:p>
          <a:p>
            <a:pPr marL="177800" indent="-177800">
              <a:spcAft>
                <a:spcPts val="600"/>
              </a:spcAft>
              <a:buSzPct val="100000"/>
              <a:buChar char="•"/>
            </a:pPr>
            <a:r>
              <a:rPr lang="en-US" sz="1250" dirty="0">
                <a:solidFill>
                  <a:schemeClr val="tx1"/>
                </a:solidFill>
              </a:rPr>
              <a:t>Fraud reported on approved transactions = live misses; backlog and time to decision = workload</a:t>
            </a:r>
            <a:endParaRPr lang="en-US" sz="1250" dirty="0"/>
          </a:p>
          <a:p>
            <a:pPr marL="177800" indent="-177800">
              <a:spcAft>
                <a:spcPts val="600"/>
              </a:spcAft>
              <a:buSzPct val="100000"/>
              <a:buChar char="•"/>
            </a:pPr>
            <a:r>
              <a:rPr lang="en-US" sz="1250" dirty="0">
                <a:solidFill>
                  <a:schemeClr val="tx1"/>
                </a:solidFill>
              </a:rPr>
              <a:t>Every decided case keeps its exact model inputs → labelled examples for the next champion/challenger</a:t>
            </a:r>
            <a:endParaRPr lang="en-US" sz="125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Monitoring closes the loop</a:t>
            </a:r>
            <a:endParaRPr lang="en-US" sz="2800" dirty="0"/>
          </a:p>
        </p:txBody>
      </p:sp>
      <p:graphicFrame>
        <p:nvGraphicFramePr>
          <p:cNvPr id="3" name="Chart 0" descr=""/>
          <p:cNvGraphicFramePr/>
          <p:nvPr/>
        </p:nvGraphicFramePr>
        <p:xfrm>
          <a:off x="365760" y="1005840"/>
          <a:ext cx="4937760" cy="29260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023360"/>
            <a:ext cx="4846320" cy="457200"/>
          </a:xfrm>
          <a:prstGeom prst="rect">
            <a:avLst/>
          </a:prstGeom>
          <a:noFill/>
          <a:ln/>
        </p:spPr>
        <p:txBody>
          <a:bodyPr wrap="square" lIns="0" tIns="0" rIns="0" bIns="0" rtlCol="0" anchor="t"/>
          <a:lstStyle/>
          <a:p>
            <a:pPr indent="0" marL="0">
              <a:buNone/>
            </a:pPr>
            <a:r>
              <a:rPr lang="en-US" sz="1200" dirty="0">
                <a:solidFill>
                  <a:schemeClr val="tx1"/>
                </a:solidFill>
              </a:rPr>
              <a:t>Flagged 2020-08 and 2020-12 (seasonal spending); recall stayed ≥ 94.4%.</a:t>
            </a:r>
            <a:endParaRPr lang="en-US" sz="1200" dirty="0"/>
          </a:p>
        </p:txBody>
      </p:sp>
      <p:sp>
        <p:nvSpPr>
          <p:cNvPr id="5" name="card-30"/>
          <p:cNvSpPr/>
          <p:nvPr/>
        </p:nvSpPr>
        <p:spPr>
          <a:xfrm>
            <a:off x="5577840" y="1051560"/>
            <a:ext cx="3108960" cy="3383280"/>
          </a:xfrm>
          <a:prstGeom prst="roundRect">
            <a:avLst>
              <a:gd name="adj" fmla="val 2353"/>
            </a:avLst>
          </a:prstGeom>
          <a:solidFill>
            <a:schemeClr val="bg2"/>
          </a:solidFill>
          <a:ln w="12700">
            <a:solidFill>
              <a:schemeClr val="bg2"/>
            </a:solidFill>
            <a:prstDash val="solid"/>
          </a:ln>
        </p:spPr>
      </p:sp>
      <p:sp>
        <p:nvSpPr>
          <p:cNvPr id="6" name="Text 3"/>
          <p:cNvSpPr txBox="1"/>
          <p:nvPr/>
        </p:nvSpPr>
        <p:spPr>
          <a:xfrm>
            <a:off x="5760720" y="1188720"/>
            <a:ext cx="2743200" cy="365760"/>
          </a:xfrm>
          <a:prstGeom prst="rect">
            <a:avLst/>
          </a:prstGeom>
          <a:noFill/>
          <a:ln/>
        </p:spPr>
        <p:txBody>
          <a:bodyPr wrap="square" lIns="0" tIns="0" rIns="0" bIns="0" rtlCol="0" anchor="t"/>
          <a:lstStyle/>
          <a:p>
            <a:pPr indent="0" marL="0">
              <a:buNone/>
            </a:pPr>
            <a:r>
              <a:rPr lang="en-US" sz="1500" b="1" dirty="0">
                <a:solidFill>
                  <a:schemeClr val="tx2"/>
                </a:solidFill>
              </a:rPr>
              <a:t>Improvement loop</a:t>
            </a:r>
            <a:endParaRPr lang="en-US" sz="1500" dirty="0"/>
          </a:p>
        </p:txBody>
      </p:sp>
      <p:sp>
        <p:nvSpPr>
          <p:cNvPr id="7" name="Text 4"/>
          <p:cNvSpPr txBox="1"/>
          <p:nvPr/>
        </p:nvSpPr>
        <p:spPr>
          <a:xfrm>
            <a:off x="5760720" y="1600200"/>
            <a:ext cx="2788920" cy="27432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Evidently drift + PSI and performance each month</a:t>
            </a:r>
            <a:endParaRPr lang="en-US" sz="1200" dirty="0"/>
          </a:p>
          <a:p>
            <a:pPr marL="177800" indent="-177800">
              <a:spcAft>
                <a:spcPts val="600"/>
              </a:spcAft>
              <a:buSzPct val="100000"/>
              <a:buChar char="•"/>
            </a:pPr>
            <a:r>
              <a:rPr lang="en-US" sz="1200" dirty="0">
                <a:solidFill>
                  <a:schemeClr val="tx1"/>
                </a:solidFill>
              </a:rPr>
              <a:t>Prometheus alert rules; Grafana operations and business dashboards</a:t>
            </a:r>
            <a:endParaRPr lang="en-US" sz="1200" dirty="0"/>
          </a:p>
          <a:p>
            <a:pPr marL="177800" indent="-177800">
              <a:spcAft>
                <a:spcPts val="600"/>
              </a:spcAft>
              <a:buSzPct val="100000"/>
              <a:buChar char="•"/>
            </a:pPr>
            <a:r>
              <a:rPr lang="en-US" sz="1200" dirty="0">
                <a:solidFill>
                  <a:schemeClr val="tx1"/>
                </a:solidFill>
              </a:rPr>
              <a:t>Analyst feedback via /feedback</a:t>
            </a:r>
            <a:endParaRPr lang="en-US" sz="1200" dirty="0"/>
          </a:p>
          <a:p>
            <a:pPr marL="177800" indent="-177800">
              <a:spcAft>
                <a:spcPts val="600"/>
              </a:spcAft>
              <a:buSzPct val="100000"/>
              <a:buChar char="•"/>
            </a:pPr>
            <a:r>
              <a:rPr lang="en-US" sz="1200" dirty="0">
                <a:solidFill>
                  <a:schemeClr val="tx1"/>
                </a:solidFill>
              </a:rPr>
              <a:t>Challenger retrained on train + val: PR-AUC 0.9741 vs 0.9698 → promote via MLflow alias</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Managed and verified like a product</a:t>
            </a:r>
            <a:endParaRPr lang="en-US" sz="2800" dirty="0"/>
          </a:p>
        </p:txBody>
      </p:sp>
      <p:sp>
        <p:nvSpPr>
          <p:cNvPr id="3" name="card-31"/>
          <p:cNvSpPr/>
          <p:nvPr/>
        </p:nvSpPr>
        <p:spPr>
          <a:xfrm>
            <a:off x="457200" y="1097280"/>
            <a:ext cx="2606040" cy="320040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40080" y="1234440"/>
            <a:ext cx="2240280" cy="365760"/>
          </a:xfrm>
          <a:prstGeom prst="rect">
            <a:avLst/>
          </a:prstGeom>
          <a:noFill/>
          <a:ln/>
        </p:spPr>
        <p:txBody>
          <a:bodyPr wrap="square" lIns="0" tIns="0" rIns="0" bIns="0" rtlCol="0" anchor="t"/>
          <a:lstStyle/>
          <a:p>
            <a:pPr indent="0" marL="0">
              <a:buNone/>
            </a:pPr>
            <a:r>
              <a:rPr lang="en-US" sz="1600" b="1" dirty="0">
                <a:solidFill>
                  <a:schemeClr val="accent3"/>
                </a:solidFill>
              </a:rPr>
              <a:t>GitHub Project</a:t>
            </a:r>
            <a:endParaRPr lang="en-US" sz="1600" dirty="0"/>
          </a:p>
        </p:txBody>
      </p:sp>
      <p:sp>
        <p:nvSpPr>
          <p:cNvPr id="5" name="Text 3"/>
          <p:cNvSpPr txBox="1"/>
          <p:nvPr/>
        </p:nvSpPr>
        <p:spPr>
          <a:xfrm>
            <a:off x="640080" y="1691640"/>
            <a:ext cx="2286000" cy="2468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Board generated from project_plan.yaml</a:t>
            </a:r>
            <a:endParaRPr lang="en-US" sz="1300" dirty="0"/>
          </a:p>
          <a:p>
            <a:pPr marL="177800" indent="-177800">
              <a:spcAft>
                <a:spcPts val="600"/>
              </a:spcAft>
              <a:buSzPct val="100000"/>
              <a:buChar char="•"/>
            </a:pPr>
            <a:r>
              <a:rPr lang="en-US" sz="1300" dirty="0">
                <a:solidFill>
                  <a:schemeClr val="tx1"/>
                </a:solidFill>
              </a:rPr>
              <a:t>4 milestones, one issue per task with acceptance checklist</a:t>
            </a:r>
            <a:endParaRPr lang="en-US" sz="1300" dirty="0"/>
          </a:p>
          <a:p>
            <a:pPr marL="177800" indent="-177800">
              <a:spcAft>
                <a:spcPts val="600"/>
              </a:spcAft>
              <a:buSzPct val="100000"/>
              <a:buChar char="•"/>
            </a:pPr>
            <a:r>
              <a:rPr lang="en-US" sz="1300" dirty="0">
                <a:solidFill>
                  <a:schemeClr val="tx1"/>
                </a:solidFill>
              </a:rPr>
              <a:t>Lifecycle-stage field tracks progress stage by stage</a:t>
            </a:r>
            <a:endParaRPr lang="en-US" sz="1300" dirty="0"/>
          </a:p>
        </p:txBody>
      </p:sp>
      <p:sp>
        <p:nvSpPr>
          <p:cNvPr id="6" name="card-32"/>
          <p:cNvSpPr/>
          <p:nvPr/>
        </p:nvSpPr>
        <p:spPr>
          <a:xfrm>
            <a:off x="3246120" y="1097280"/>
            <a:ext cx="2606040" cy="3200400"/>
          </a:xfrm>
          <a:prstGeom prst="roundRect">
            <a:avLst>
              <a:gd name="adj" fmla="val 2807"/>
            </a:avLst>
          </a:prstGeom>
          <a:solidFill>
            <a:schemeClr val="bg2"/>
          </a:solidFill>
          <a:ln w="12700">
            <a:solidFill>
              <a:schemeClr val="bg2"/>
            </a:solidFill>
            <a:prstDash val="solid"/>
          </a:ln>
        </p:spPr>
      </p:sp>
      <p:sp>
        <p:nvSpPr>
          <p:cNvPr id="7" name="Text 5"/>
          <p:cNvSpPr txBox="1"/>
          <p:nvPr/>
        </p:nvSpPr>
        <p:spPr>
          <a:xfrm>
            <a:off x="3429000" y="1234440"/>
            <a:ext cx="2240280" cy="365760"/>
          </a:xfrm>
          <a:prstGeom prst="rect">
            <a:avLst/>
          </a:prstGeom>
          <a:noFill/>
          <a:ln/>
        </p:spPr>
        <p:txBody>
          <a:bodyPr wrap="square" lIns="0" tIns="0" rIns="0" bIns="0" rtlCol="0" anchor="t"/>
          <a:lstStyle/>
          <a:p>
            <a:pPr indent="0" marL="0">
              <a:buNone/>
            </a:pPr>
            <a:r>
              <a:rPr lang="en-US" sz="1600" b="1" dirty="0">
                <a:solidFill>
                  <a:schemeClr val="accent2"/>
                </a:solidFill>
              </a:rPr>
              <a:t>CI/CD</a:t>
            </a:r>
            <a:endParaRPr lang="en-US" sz="1600" dirty="0"/>
          </a:p>
        </p:txBody>
      </p:sp>
      <p:sp>
        <p:nvSpPr>
          <p:cNvPr id="8" name="Text 6"/>
          <p:cNvSpPr txBox="1"/>
          <p:nvPr/>
        </p:nvSpPr>
        <p:spPr>
          <a:xfrm>
            <a:off x="3429000" y="1691640"/>
            <a:ext cx="2286000" cy="2468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ci: full lifecycle on sample data + dashboard render</a:t>
            </a:r>
            <a:endParaRPr lang="en-US" sz="1300" dirty="0"/>
          </a:p>
          <a:p>
            <a:pPr marL="177800" indent="-177800">
              <a:spcAft>
                <a:spcPts val="600"/>
              </a:spcAft>
              <a:buSzPct val="100000"/>
              <a:buChar char="•"/>
            </a:pPr>
            <a:r>
              <a:rPr lang="en-US" sz="1300" dirty="0">
                <a:solidFill>
                  <a:schemeClr val="tx1"/>
                </a:solidFill>
              </a:rPr>
              <a:t>platform: Docker stack end to end, 14/14 smoke checks pass</a:t>
            </a:r>
            <a:endParaRPr lang="en-US" sz="1300" dirty="0"/>
          </a:p>
          <a:p>
            <a:pPr marL="177800" indent="-177800">
              <a:spcAft>
                <a:spcPts val="600"/>
              </a:spcAft>
              <a:buSzPct val="100000"/>
              <a:buChar char="•"/>
            </a:pPr>
            <a:r>
              <a:rPr lang="en-US" sz="1300" dirty="0">
                <a:solidFill>
                  <a:schemeClr val="tx1"/>
                </a:solidFill>
              </a:rPr>
              <a:t>deploy: build, test, publish the image</a:t>
            </a:r>
            <a:endParaRPr lang="en-US" sz="1300" dirty="0"/>
          </a:p>
        </p:txBody>
      </p:sp>
      <p:sp>
        <p:nvSpPr>
          <p:cNvPr id="9" name="card-33"/>
          <p:cNvSpPr/>
          <p:nvPr/>
        </p:nvSpPr>
        <p:spPr>
          <a:xfrm>
            <a:off x="6035040" y="1097280"/>
            <a:ext cx="2606040" cy="3200400"/>
          </a:xfrm>
          <a:prstGeom prst="roundRect">
            <a:avLst>
              <a:gd name="adj" fmla="val 2807"/>
            </a:avLst>
          </a:prstGeom>
          <a:solidFill>
            <a:schemeClr val="bg2"/>
          </a:solidFill>
          <a:ln w="12700">
            <a:solidFill>
              <a:schemeClr val="bg2"/>
            </a:solidFill>
            <a:prstDash val="solid"/>
          </a:ln>
        </p:spPr>
      </p:sp>
      <p:sp>
        <p:nvSpPr>
          <p:cNvPr id="10" name="Text 8"/>
          <p:cNvSpPr txBox="1"/>
          <p:nvPr/>
        </p:nvSpPr>
        <p:spPr>
          <a:xfrm>
            <a:off x="6217920" y="1234440"/>
            <a:ext cx="2240280" cy="365760"/>
          </a:xfrm>
          <a:prstGeom prst="rect">
            <a:avLst/>
          </a:prstGeom>
          <a:noFill/>
          <a:ln/>
        </p:spPr>
        <p:txBody>
          <a:bodyPr wrap="square" lIns="0" tIns="0" rIns="0" bIns="0" rtlCol="0" anchor="t"/>
          <a:lstStyle/>
          <a:p>
            <a:pPr indent="0" marL="0">
              <a:buNone/>
            </a:pPr>
            <a:r>
              <a:rPr lang="en-US" sz="1600" b="1" dirty="0">
                <a:solidFill>
                  <a:schemeClr val="accent1"/>
                </a:solidFill>
              </a:rPr>
              <a:t>Quality</a:t>
            </a:r>
            <a:endParaRPr lang="en-US" sz="1600" dirty="0"/>
          </a:p>
        </p:txBody>
      </p:sp>
      <p:sp>
        <p:nvSpPr>
          <p:cNvPr id="11" name="Text 9"/>
          <p:cNvSpPr txBox="1"/>
          <p:nvPr/>
        </p:nvSpPr>
        <p:spPr>
          <a:xfrm>
            <a:off x="6217920" y="1691640"/>
            <a:ext cx="2286000" cy="24688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56/56 verification checks pass</a:t>
            </a:r>
            <a:endParaRPr lang="en-US" sz="1300" dirty="0"/>
          </a:p>
          <a:p>
            <a:pPr marL="177800" indent="-177800">
              <a:spcAft>
                <a:spcPts val="600"/>
              </a:spcAft>
              <a:buSzPct val="100000"/>
              <a:buChar char="•"/>
            </a:pPr>
            <a:r>
              <a:rPr lang="en-US" sz="1300" dirty="0">
                <a:solidFill>
                  <a:schemeClr val="tx1"/>
                </a:solidFill>
              </a:rPr>
              <a:t>Train/serve parity test (caught a real bug)</a:t>
            </a:r>
            <a:endParaRPr lang="en-US" sz="1300" dirty="0"/>
          </a:p>
          <a:p>
            <a:pPr marL="177800" indent="-177800">
              <a:spcAft>
                <a:spcPts val="600"/>
              </a:spcAft>
              <a:buSzPct val="100000"/>
              <a:buChar char="•"/>
            </a:pPr>
            <a:r>
              <a:rPr lang="en-US" sz="1300" dirty="0">
                <a:solidFill>
                  <a:schemeClr val="tx1"/>
                </a:solidFill>
              </a:rPr>
              <a:t>Pinned versions, one-command rebuild</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8046720" cy="1645920"/>
          </a:xfrm>
          <a:prstGeom prst="rect">
            <a:avLst/>
          </a:prstGeom>
          <a:noFill/>
          <a:ln/>
        </p:spPr>
        <p:txBody>
          <a:bodyPr wrap="square"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From data collection to a monitored deployment</a:t>
            </a:r>
            <a:endParaRPr lang="en-US" sz="3800" dirty="0"/>
          </a:p>
        </p:txBody>
      </p:sp>
      <p:sp>
        <p:nvSpPr>
          <p:cNvPr id="3" name="Text 0"/>
          <p:cNvSpPr/>
          <p:nvPr>
            <p:ph idx="101" type="body" hasCustomPrompt="1"/>
          </p:nvPr>
        </p:nvSpPr>
        <p:spPr>
          <a:xfrm>
            <a:off x="548640" y="2514600"/>
            <a:ext cx="8046720" cy="1828800"/>
          </a:xfrm>
          <a:prstGeom prst="rect">
            <a:avLst/>
          </a:prstGeom>
          <a:noFill/>
          <a:ln/>
        </p:spPr>
        <p:txBody>
          <a:bodyPr wrap="square" rtlCol="0" anchor="t"/>
          <a:lstStyle/>
          <a:p>
            <a:pPr algn="l" marL="342900" indent="-342900">
              <a:buSzPct val="100000"/>
              <a:buChar char="•"/>
            </a:pPr>
            <a:r>
              <a:rPr lang="en-US" sz="1700" dirty="0">
                <a:solidFill>
                  <a:srgbClr val="CADCFC"/>
                </a:solidFill>
              </a:rPr>
              <a:t>96.2% of fraud caught at 14.7 alerts/day, 72.4% precision, every alert explained</a:t>
            </a:r>
            <a:endParaRPr lang="en-US" sz="1700" dirty="0"/>
          </a:p>
          <a:p>
            <a:pPr algn="l" marL="342900" indent="-342900">
              <a:buSzPct val="100000"/>
              <a:buChar char="•"/>
            </a:pPr>
            <a:r>
              <a:rPr lang="en-US" sz="1700" dirty="0">
                <a:solidFill>
                  <a:srgbClr val="CADCFC"/>
                </a:solidFill>
              </a:rPr>
              <a:t>Open-source platform: MinIO, NiFi, Hive Metastore, Trino, ClickHouse, Superset, Grafana, MLflow</a:t>
            </a:r>
            <a:endParaRPr lang="en-US" sz="1700" dirty="0"/>
          </a:p>
          <a:p>
            <a:pPr algn="l" marL="342900" indent="-342900">
              <a:buSzPct val="100000"/>
              <a:buChar char="•"/>
            </a:pPr>
            <a:r>
              <a:rPr lang="en-US" sz="1700" dirty="0">
                <a:solidFill>
                  <a:srgbClr val="CADCFC"/>
                </a:solidFill>
              </a:rPr>
              <a:t>Next: real transaction data, calibrated probabilities, scheduled retraining</a:t>
            </a:r>
            <a:endParaRPr lang="en-US" sz="1700" dirty="0"/>
          </a:p>
        </p:txBody>
      </p:sp>
    </p:spTree>
  </p:cSld>
  <p:clrMapOvr>
    <a:masterClrMapping/>
  </p:clrMapOvr>
</p:sld>
</file>

<file path=ppt/theme/theme1.xml><?xml version="1.0" encoding="utf-8"?>
<a:theme xmlns:a="http://schemas.openxmlformats.org/drawingml/2006/main" name="FraudLens">
  <a:themeElements>
    <a:clrScheme name="FraudLens">
      <a:dk1>
        <a:srgbClr val="1B2333"/>
      </a:dk1>
      <a:lt1>
        <a:srgbClr val="FFFFFF"/>
      </a:lt1>
      <a:dk2>
        <a:srgbClr val="14213D"/>
      </a:dk2>
      <a:lt2>
        <a:srgbClr val="F2F4F8"/>
      </a:lt2>
      <a:accent1>
        <a:srgbClr val="E4572E"/>
      </a:accent1>
      <a:accent2>
        <a:srgbClr val="1F8A70"/>
      </a:accent2>
      <a:accent3>
        <a:srgbClr val="2A78D6"/>
      </a:accent3>
      <a:accent4>
        <a:srgbClr val="F2A541"/>
      </a:accent4>
      <a:accent5>
        <a:srgbClr val="6C5CE7"/>
      </a:accent5>
      <a:accent6>
        <a:srgbClr val="8A94A6"/>
      </a:accent6>
      <a:hlink>
        <a:srgbClr val="2A78D6"/>
      </a:hlink>
      <a:folHlink>
        <a:srgbClr val="6C5CE7"/>
      </a:folHlink>
    </a:clrScheme>
    <a:fontScheme name="Fraud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FraudLens: final presentation</dc:title>
  <dc:subject>PptxGenJS Presentation</dc:subject>
  <dc:creator>FraudLens team</dc:creator>
  <cp:lastModifiedBy>FraudLens team</cp:lastModifiedBy>
  <cp:revision>1</cp:revision>
  <dcterms:created xsi:type="dcterms:W3CDTF">2026-10-21T04:26:36Z</dcterms:created>
  <dcterms:modified xsi:type="dcterms:W3CDTF">2026-10-21T04:26:36Z</dcterms:modified>
</cp:coreProperties>
</file>