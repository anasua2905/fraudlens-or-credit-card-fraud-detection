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64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57" r:id="rId12"/>
    <p:sldId id="259" r:id="rId13"/>
    <p:sldId id="258" r:id="rId14"/>
    <p:sldId id="260" r:id="rId15"/>
    <p:sldId id="261" r:id="rId16"/>
    <p:sldId id="262" r:id="rId17"/>
    <p:sldId id="263" r:id="rId18"/>
    <p:sldId id="274" r:id="rId19"/>
    <p:sldId id="275" r:id="rId20"/>
    <p:sldId id="276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C1537F9-6065-3479-93CB-4A8403CD1417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Demonstration of the current system" id="{EC094340-6989-08ED-4BAE-1EEF0252A5AF}">
          <p14:sldIdLst>
            <p14:sldId id="257"/>
          </p14:sldIdLst>
        </p14:section>
        <p14:section name="Analytics and machine learning" id="{1080EA00-835F-E379-7878-B225B11AB564}">
          <p14:sldIdLst>
            <p14:sldId id="259"/>
            <p14:sldId id="258"/>
            <p14:sldId id="260"/>
            <p14:sldId id="261"/>
            <p14:sldId id="262"/>
          </p14:sldIdLst>
        </p14:section>
        <p14:section name="Close" id="{29CE55EC-3E78-9D21-B526-9CAD604FA954}">
          <p14:sldIdLst>
            <p14:sldId id="263"/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0000" autoAdjust="0"/>
  </p:normalViewPr>
  <p:slideViewPr>
    <p:cSldViewPr snapToGrid="0" snapToObjects="1">
      <p:cViewPr varScale="1">
        <p:scale>
          <a:sx n="98" d="100"/>
          <a:sy n="98" d="100"/>
        </p:scale>
        <p:origin x="13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1B2A41"/>
                </a:solidFill>
                <a:latin typeface="+mn-lt"/>
              </a:rPr>
              <a:t>Fraud rate by hour of day (training data, 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rate (%)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3D7-4E13-8D0F-4A3BA2B60E09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73D7-4E13-8D0F-4A3BA2B60E09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73D7-4E13-8D0F-4A3BA2B60E09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73D7-4E13-8D0F-4A3BA2B60E09}"/>
              </c:ext>
            </c:extLst>
          </c:dPt>
          <c:dPt>
            <c:idx val="4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3D7-4E13-8D0F-4A3BA2B60E09}"/>
              </c:ext>
            </c:extLst>
          </c:dPt>
          <c:dPt>
            <c:idx val="5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3D7-4E13-8D0F-4A3BA2B60E09}"/>
              </c:ext>
            </c:extLst>
          </c:dPt>
          <c:dPt>
            <c:idx val="6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73D7-4E13-8D0F-4A3BA2B60E09}"/>
              </c:ext>
            </c:extLst>
          </c:dPt>
          <c:dPt>
            <c:idx val="7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73D7-4E13-8D0F-4A3BA2B60E09}"/>
              </c:ext>
            </c:extLst>
          </c:dPt>
          <c:dPt>
            <c:idx val="8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73D7-4E13-8D0F-4A3BA2B60E09}"/>
              </c:ext>
            </c:extLst>
          </c:dPt>
          <c:dPt>
            <c:idx val="9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73D7-4E13-8D0F-4A3BA2B60E09}"/>
              </c:ext>
            </c:extLst>
          </c:dPt>
          <c:dPt>
            <c:idx val="10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73D7-4E13-8D0F-4A3BA2B60E09}"/>
              </c:ext>
            </c:extLst>
          </c:dPt>
          <c:dPt>
            <c:idx val="11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73D7-4E13-8D0F-4A3BA2B60E09}"/>
              </c:ext>
            </c:extLst>
          </c:dPt>
          <c:dPt>
            <c:idx val="12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9-73D7-4E13-8D0F-4A3BA2B60E09}"/>
              </c:ext>
            </c:extLst>
          </c:dPt>
          <c:dPt>
            <c:idx val="13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B-73D7-4E13-8D0F-4A3BA2B60E09}"/>
              </c:ext>
            </c:extLst>
          </c:dPt>
          <c:dPt>
            <c:idx val="14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D-73D7-4E13-8D0F-4A3BA2B60E09}"/>
              </c:ext>
            </c:extLst>
          </c:dPt>
          <c:dPt>
            <c:idx val="15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F-73D7-4E13-8D0F-4A3BA2B60E09}"/>
              </c:ext>
            </c:extLst>
          </c:dPt>
          <c:dPt>
            <c:idx val="16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1-73D7-4E13-8D0F-4A3BA2B60E09}"/>
              </c:ext>
            </c:extLst>
          </c:dPt>
          <c:dPt>
            <c:idx val="17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3-73D7-4E13-8D0F-4A3BA2B60E09}"/>
              </c:ext>
            </c:extLst>
          </c:dPt>
          <c:dPt>
            <c:idx val="18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5-73D7-4E13-8D0F-4A3BA2B60E09}"/>
              </c:ext>
            </c:extLst>
          </c:dPt>
          <c:dPt>
            <c:idx val="19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7-73D7-4E13-8D0F-4A3BA2B60E09}"/>
              </c:ext>
            </c:extLst>
          </c:dPt>
          <c:dPt>
            <c:idx val="20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9-73D7-4E13-8D0F-4A3BA2B60E09}"/>
              </c:ext>
            </c:extLst>
          </c:dPt>
          <c:dPt>
            <c:idx val="21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B-73D7-4E13-8D0F-4A3BA2B60E09}"/>
              </c:ext>
            </c:extLst>
          </c:dPt>
          <c:dPt>
            <c:idx val="2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D-73D7-4E13-8D0F-4A3BA2B60E09}"/>
              </c:ext>
            </c:extLst>
          </c:dPt>
          <c:dPt>
            <c:idx val="2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F-73D7-4E13-8D0F-4A3BA2B60E09}"/>
              </c:ext>
            </c:extLst>
          </c:dPt>
          <c:cat>
            <c:strRef>
              <c:f>Sheet1!$A$2:$A$25</c:f>
              <c:strCache>
                <c:ptCount val="24"/>
                <c:pt idx="0">
                  <c:v>00</c:v>
                </c:pt>
                <c:pt idx="1">
                  <c:v>01</c:v>
                </c:pt>
                <c:pt idx="2">
                  <c:v>02</c:v>
                </c:pt>
                <c:pt idx="3">
                  <c:v>03</c:v>
                </c:pt>
                <c:pt idx="4">
                  <c:v>04</c:v>
                </c:pt>
                <c:pt idx="5">
                  <c:v>05</c:v>
                </c:pt>
                <c:pt idx="6">
                  <c:v>06</c:v>
                </c:pt>
                <c:pt idx="7">
                  <c:v>07</c:v>
                </c:pt>
                <c:pt idx="8">
                  <c:v>08</c:v>
                </c:pt>
                <c:pt idx="9">
                  <c:v>09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1.498</c:v>
                </c:pt>
                <c:pt idx="1">
                  <c:v>1.534</c:v>
                </c:pt>
                <c:pt idx="2">
                  <c:v>1.4750000000000001</c:v>
                </c:pt>
                <c:pt idx="3">
                  <c:v>1.452</c:v>
                </c:pt>
                <c:pt idx="4">
                  <c:v>0.11</c:v>
                </c:pt>
                <c:pt idx="5">
                  <c:v>0.13500000000000001</c:v>
                </c:pt>
                <c:pt idx="6">
                  <c:v>9.0999999999999998E-2</c:v>
                </c:pt>
                <c:pt idx="7">
                  <c:v>0.124</c:v>
                </c:pt>
                <c:pt idx="8">
                  <c:v>0.126</c:v>
                </c:pt>
                <c:pt idx="9">
                  <c:v>0.114</c:v>
                </c:pt>
                <c:pt idx="10">
                  <c:v>8.7999999999999995E-2</c:v>
                </c:pt>
                <c:pt idx="11">
                  <c:v>9.2999999999999999E-2</c:v>
                </c:pt>
                <c:pt idx="12">
                  <c:v>0.107</c:v>
                </c:pt>
                <c:pt idx="13">
                  <c:v>0.11700000000000001</c:v>
                </c:pt>
                <c:pt idx="14">
                  <c:v>0.14000000000000001</c:v>
                </c:pt>
                <c:pt idx="15">
                  <c:v>0.122</c:v>
                </c:pt>
                <c:pt idx="16">
                  <c:v>0.115</c:v>
                </c:pt>
                <c:pt idx="17">
                  <c:v>0.11899999999999999</c:v>
                </c:pt>
                <c:pt idx="18">
                  <c:v>0.114</c:v>
                </c:pt>
                <c:pt idx="19">
                  <c:v>0.122</c:v>
                </c:pt>
                <c:pt idx="20">
                  <c:v>9.9000000000000005E-2</c:v>
                </c:pt>
                <c:pt idx="21">
                  <c:v>0.109</c:v>
                </c:pt>
                <c:pt idx="22">
                  <c:v>2.8479999999999999</c:v>
                </c:pt>
                <c:pt idx="23">
                  <c:v>2.823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73D7-4E13-8D0F-4A3BA2B60E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1B2A41"/>
                </a:solidFill>
                <a:latin typeface="+mn-lt"/>
              </a:rPr>
              <a:t>Test PR-AUC (random baseline = 0.004)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PR-AUC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4ED-46D9-843A-A28A21B00EF9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4ED-46D9-843A-A28A21B00EF9}"/>
              </c:ext>
            </c:extLst>
          </c:dPt>
          <c:dPt>
            <c:idx val="2"/>
            <c:invertIfNegative val="0"/>
            <c:bubble3D val="0"/>
            <c:spPr>
              <a:solidFill>
                <a:srgbClr val="0E9F8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4ED-46D9-843A-A28A21B00EF9}"/>
              </c:ext>
            </c:extLst>
          </c:dPt>
          <c:dPt>
            <c:idx val="3"/>
            <c:invertIfNegative val="0"/>
            <c:bubble3D val="0"/>
            <c:spPr>
              <a:solidFill>
                <a:srgbClr val="0E9F8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4ED-46D9-843A-A28A21B00EF9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A41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Isolation Forest</c:v>
                </c:pt>
                <c:pt idx="1">
                  <c:v>Logistic regression</c:v>
                </c:pt>
                <c:pt idx="2">
                  <c:v>Hybrid gradient boosting</c:v>
                </c:pt>
                <c:pt idx="3">
                  <c:v>Gradient boosting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0.26600000000000001</c:v>
                </c:pt>
                <c:pt idx="1">
                  <c:v>0.59</c:v>
                </c:pt>
                <c:pt idx="2">
                  <c:v>0.97499999999999998</c:v>
                </c:pt>
                <c:pt idx="3">
                  <c:v>0.97499999999999998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4ED-46D9-843A-A28A21B00EF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4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100000000000000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1B2A41"/>
                </a:solidFill>
                <a:latin typeface="+mn-lt"/>
              </a:rPr>
              <a:t>Two operating points on the test period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A41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Selected threshold
(11.8 alerts/day)</c:v>
                </c:pt>
                <c:pt idx="1">
                  <c:v>Alert budget
(46.2 alerts/day)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89</c:v>
                </c:pt>
                <c:pt idx="1">
                  <c:v>23.8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B0-49EA-90F9-881CEA0707D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0E9F8E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A41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Selected threshold
(11.8 alerts/day)</c:v>
                </c:pt>
                <c:pt idx="1">
                  <c:v>Alert budget
(46.2 alerts/day)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94.7</c:v>
                </c:pt>
                <c:pt idx="1">
                  <c:v>99.3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6B0-49EA-90F9-881CEA0707D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4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A4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2349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FraudLens  ·  Credit card fraud detection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k name"/>
          <p:cNvSpPr txBox="1"/>
          <p:nvPr/>
        </p:nvSpPr>
        <p:spPr>
          <a:xfrm>
            <a:off x="731520" y="1234440"/>
            <a:ext cx="69494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400" b="1">
                <a:solidFill>
                  <a:srgbClr val="F59E0B"/>
                </a:solidFill>
                <a:latin typeface="Cambria"/>
              </a:rPr>
              <a:t>FRAUDLENS</a:t>
            </a:r>
          </a:p>
        </p:txBody>
      </p:sp>
      <p:sp>
        <p:nvSpPr>
          <p:cNvPr id="3" name="deck subtitle"/>
          <p:cNvSpPr txBox="1"/>
          <p:nvPr/>
        </p:nvSpPr>
        <p:spPr>
          <a:xfrm>
            <a:off x="731520" y="2286000"/>
            <a:ext cx="69494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mbria"/>
              </a:rPr>
              <a:t>An Anomaly Detection Framework for Identifying Fraudulent Credit Card Transactions</a:t>
            </a:r>
          </a:p>
        </p:txBody>
      </p:sp>
      <p:sp>
        <p:nvSpPr>
          <p:cNvPr id="6" name="unit"/>
          <p:cNvSpPr txBox="1"/>
          <p:nvPr/>
        </p:nvSpPr>
        <p:spPr>
          <a:xfrm>
            <a:off x="731520" y="5760720"/>
            <a:ext cx="69494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PRT661 – Data Science Practice</a:t>
            </a:r>
          </a:p>
        </p:txBody>
      </p:sp>
      <p:sp>
        <p:nvSpPr>
          <p:cNvPr id="7" name="assessment card"/>
          <p:cNvSpPr/>
          <p:nvPr/>
        </p:nvSpPr>
        <p:spPr>
          <a:xfrm>
            <a:off x="8229600" y="1920240"/>
            <a:ext cx="3200400" cy="301752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assessment pill"/>
          <p:cNvSpPr/>
          <p:nvPr/>
        </p:nvSpPr>
        <p:spPr>
          <a:xfrm>
            <a:off x="8549640" y="224028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ssessment pill text"/>
          <p:cNvSpPr txBox="1"/>
          <p:nvPr/>
        </p:nvSpPr>
        <p:spPr>
          <a:xfrm>
            <a:off x="8549640" y="2240280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spc="100">
                <a:solidFill>
                  <a:srgbClr val="0F1B2D"/>
                </a:solidFill>
              </a:rPr>
              <a:t>ASSESSMENT 2</a:t>
            </a:r>
          </a:p>
        </p:txBody>
      </p:sp>
      <p:sp>
        <p:nvSpPr>
          <p:cNvPr id="10" name="assessment text"/>
          <p:cNvSpPr txBox="1"/>
          <p:nvPr/>
        </p:nvSpPr>
        <p:spPr>
          <a:xfrm>
            <a:off x="8549640" y="2788920"/>
            <a:ext cx="25603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Current project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foundation</a:t>
            </a:r>
          </a:p>
        </p:txBody>
      </p:sp>
      <p:sp>
        <p:nvSpPr>
          <p:cNvPr id="11" name="dot"/>
          <p:cNvSpPr/>
          <p:nvPr/>
        </p:nvSpPr>
        <p:spPr>
          <a:xfrm>
            <a:off x="8549640" y="406908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dot"/>
          <p:cNvSpPr/>
          <p:nvPr/>
        </p:nvSpPr>
        <p:spPr>
          <a:xfrm>
            <a:off x="9144000" y="4069080"/>
            <a:ext cx="411480" cy="411480"/>
          </a:xfrm>
          <a:prstGeom prst="ellipse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dot"/>
          <p:cNvSpPr/>
          <p:nvPr/>
        </p:nvSpPr>
        <p:spPr>
          <a:xfrm>
            <a:off x="9738360" y="4069080"/>
            <a:ext cx="411480" cy="411480"/>
          </a:xfrm>
          <a:prstGeom prst="ellipse">
            <a:avLst/>
          </a:prstGeom>
          <a:solidFill>
            <a:srgbClr val="3B5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 lIns="0" tIns="0" rIns="0" bIns="0" anchor="ctr"/>
          <a:lstStyle/>
          <a:p>
            <a:r>
              <a:t>Why FraudLens?</a:t>
            </a:r>
          </a:p>
        </p:txBody>
      </p:sp>
      <p:sp>
        <p:nvSpPr>
          <p:cNvPr id="3" name="section pill"/>
          <p:cNvSpPr/>
          <p:nvPr/>
        </p:nvSpPr>
        <p:spPr>
          <a:xfrm>
            <a:off x="548640" y="347472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3B5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section pill text"/>
          <p:cNvSpPr txBox="1"/>
          <p:nvPr/>
        </p:nvSpPr>
        <p:spPr>
          <a:xfrm>
            <a:off x="548640" y="347472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spc="10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</a:rPr>
              <a:t>A focused data-science response to suspicious credit-card transaction behaviour.</a:t>
            </a:r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50" name="row card 1"/>
          <p:cNvSpPr/>
          <p:nvPr/>
        </p:nvSpPr>
        <p:spPr>
          <a:xfrm>
            <a:off x="548640" y="2103120"/>
            <a:ext cx="11064240" cy="1143000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number circle"/>
          <p:cNvSpPr/>
          <p:nvPr/>
        </p:nvSpPr>
        <p:spPr>
          <a:xfrm>
            <a:off x="822960" y="2331720"/>
            <a:ext cx="685800" cy="685800"/>
          </a:xfrm>
          <a:prstGeom prst="ellipse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number"/>
          <p:cNvSpPr txBox="1"/>
          <p:nvPr/>
        </p:nvSpPr>
        <p:spPr>
          <a:xfrm>
            <a:off x="822960" y="233172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01</a:t>
            </a:r>
          </a:p>
        </p:txBody>
      </p:sp>
      <p:sp>
        <p:nvSpPr>
          <p:cNvPr id="53" name="row 1 head"/>
          <p:cNvSpPr txBox="1"/>
          <p:nvPr/>
        </p:nvSpPr>
        <p:spPr>
          <a:xfrm>
            <a:off x="1783080" y="2103120"/>
            <a:ext cx="265176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1B2A41"/>
                </a:solidFill>
              </a:rPr>
              <a:t>Theme 3</a:t>
            </a:r>
          </a:p>
        </p:txBody>
      </p:sp>
      <p:sp>
        <p:nvSpPr>
          <p:cNvPr id="54" name="row 1 text"/>
          <p:cNvSpPr txBox="1"/>
          <p:nvPr/>
        </p:nvSpPr>
        <p:spPr>
          <a:xfrm>
            <a:off x="4572000" y="2103120"/>
            <a:ext cx="676656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1B2A41"/>
                </a:solidFill>
              </a:rPr>
              <a:t>Anomaly Detection and Intelligent Monitoring</a:t>
            </a:r>
          </a:p>
        </p:txBody>
      </p:sp>
      <p:sp>
        <p:nvSpPr>
          <p:cNvPr id="55" name="row card 2"/>
          <p:cNvSpPr/>
          <p:nvPr/>
        </p:nvSpPr>
        <p:spPr>
          <a:xfrm>
            <a:off x="548640" y="3429000"/>
            <a:ext cx="11064240" cy="1143000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number circle"/>
          <p:cNvSpPr/>
          <p:nvPr/>
        </p:nvSpPr>
        <p:spPr>
          <a:xfrm>
            <a:off x="822960" y="3657600"/>
            <a:ext cx="685800" cy="685800"/>
          </a:xfrm>
          <a:prstGeom prst="ellipse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number"/>
          <p:cNvSpPr txBox="1"/>
          <p:nvPr/>
        </p:nvSpPr>
        <p:spPr>
          <a:xfrm>
            <a:off x="822960" y="365760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02</a:t>
            </a:r>
          </a:p>
        </p:txBody>
      </p:sp>
      <p:sp>
        <p:nvSpPr>
          <p:cNvPr id="58" name="row 2 head"/>
          <p:cNvSpPr txBox="1"/>
          <p:nvPr/>
        </p:nvSpPr>
        <p:spPr>
          <a:xfrm>
            <a:off x="1783080" y="3429000"/>
            <a:ext cx="265176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1B2A41"/>
                </a:solidFill>
              </a:rPr>
              <a:t>Core challenge</a:t>
            </a:r>
          </a:p>
        </p:txBody>
      </p:sp>
      <p:sp>
        <p:nvSpPr>
          <p:cNvPr id="59" name="row 2 text"/>
          <p:cNvSpPr txBox="1"/>
          <p:nvPr/>
        </p:nvSpPr>
        <p:spPr>
          <a:xfrm>
            <a:off x="4572000" y="3429000"/>
            <a:ext cx="676656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1B2A41"/>
                </a:solidFill>
              </a:rPr>
              <a:t>Fraudulent transactions are rare compared with legitimate activity.</a:t>
            </a:r>
          </a:p>
        </p:txBody>
      </p:sp>
      <p:sp>
        <p:nvSpPr>
          <p:cNvPr id="60" name="row card 3"/>
          <p:cNvSpPr/>
          <p:nvPr/>
        </p:nvSpPr>
        <p:spPr>
          <a:xfrm>
            <a:off x="548640" y="4754879"/>
            <a:ext cx="11064240" cy="1143000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number circle"/>
          <p:cNvSpPr/>
          <p:nvPr/>
        </p:nvSpPr>
        <p:spPr>
          <a:xfrm>
            <a:off x="822960" y="4983479"/>
            <a:ext cx="685800" cy="685800"/>
          </a:xfrm>
          <a:prstGeom prst="ellipse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number"/>
          <p:cNvSpPr txBox="1"/>
          <p:nvPr/>
        </p:nvSpPr>
        <p:spPr>
          <a:xfrm>
            <a:off x="822960" y="4983479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03</a:t>
            </a:r>
          </a:p>
        </p:txBody>
      </p:sp>
      <p:sp>
        <p:nvSpPr>
          <p:cNvPr id="63" name="row 3 head"/>
          <p:cNvSpPr txBox="1"/>
          <p:nvPr/>
        </p:nvSpPr>
        <p:spPr>
          <a:xfrm>
            <a:off x="1783080" y="4754879"/>
            <a:ext cx="265176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1B2A41"/>
                </a:solidFill>
              </a:rPr>
              <a:t>Project direction</a:t>
            </a:r>
          </a:p>
        </p:txBody>
      </p:sp>
      <p:sp>
        <p:nvSpPr>
          <p:cNvPr id="64" name="row 3 text"/>
          <p:cNvSpPr txBox="1"/>
          <p:nvPr/>
        </p:nvSpPr>
        <p:spPr>
          <a:xfrm>
            <a:off x="4572000" y="4754879"/>
            <a:ext cx="676656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1B2A41"/>
                </a:solidFill>
              </a:rPr>
              <a:t>Use machine learning to identify unusual transaction behaviour and support investigation.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 lIns="0" tIns="0" rIns="0" bIns="0" anchor="ctr"/>
          <a:lstStyle/>
          <a:p>
            <a:r>
              <a:t>What FraudLens Covers</a:t>
            </a:r>
          </a:p>
        </p:txBody>
      </p:sp>
      <p:sp>
        <p:nvSpPr>
          <p:cNvPr id="3" name="section pill"/>
          <p:cNvSpPr/>
          <p:nvPr/>
        </p:nvSpPr>
        <p:spPr>
          <a:xfrm>
            <a:off x="548640" y="347472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3B5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section pill text"/>
          <p:cNvSpPr txBox="1"/>
          <p:nvPr/>
        </p:nvSpPr>
        <p:spPr>
          <a:xfrm>
            <a:off x="548640" y="347472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spc="100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50" name="stat card 1"/>
          <p:cNvSpPr/>
          <p:nvPr/>
        </p:nvSpPr>
        <p:spPr>
          <a:xfrm>
            <a:off x="548640" y="1645920"/>
            <a:ext cx="3474720" cy="141732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stat 1 value"/>
          <p:cNvSpPr txBox="1"/>
          <p:nvPr/>
        </p:nvSpPr>
        <p:spPr>
          <a:xfrm>
            <a:off x="822959" y="1783080"/>
            <a:ext cx="29260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1">
                <a:solidFill>
                  <a:srgbClr val="0E9F8E"/>
                </a:solidFill>
                <a:latin typeface="Cambria"/>
              </a:rPr>
              <a:t>1,852,394</a:t>
            </a:r>
          </a:p>
        </p:txBody>
      </p:sp>
      <p:sp>
        <p:nvSpPr>
          <p:cNvPr id="52" name="stat 1 label"/>
          <p:cNvSpPr txBox="1"/>
          <p:nvPr/>
        </p:nvSpPr>
        <p:spPr>
          <a:xfrm>
            <a:off x="822959" y="246888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1B2A41"/>
                </a:solidFill>
              </a:rPr>
              <a:t>Transactions</a:t>
            </a:r>
          </a:p>
        </p:txBody>
      </p:sp>
      <p:sp>
        <p:nvSpPr>
          <p:cNvPr id="53" name="stat card 2"/>
          <p:cNvSpPr/>
          <p:nvPr/>
        </p:nvSpPr>
        <p:spPr>
          <a:xfrm>
            <a:off x="4343400" y="1645920"/>
            <a:ext cx="3474720" cy="141732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stat 2 value"/>
          <p:cNvSpPr txBox="1"/>
          <p:nvPr/>
        </p:nvSpPr>
        <p:spPr>
          <a:xfrm>
            <a:off x="4617720" y="1783080"/>
            <a:ext cx="29260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1">
                <a:solidFill>
                  <a:srgbClr val="0E9F8E"/>
                </a:solidFill>
                <a:latin typeface="Cambria"/>
              </a:rPr>
              <a:t>9,651</a:t>
            </a:r>
          </a:p>
        </p:txBody>
      </p:sp>
      <p:sp>
        <p:nvSpPr>
          <p:cNvPr id="55" name="stat 2 label"/>
          <p:cNvSpPr txBox="1"/>
          <p:nvPr/>
        </p:nvSpPr>
        <p:spPr>
          <a:xfrm>
            <a:off x="4617720" y="246888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1B2A41"/>
                </a:solidFill>
              </a:rPr>
              <a:t>Confirmed fraud</a:t>
            </a:r>
          </a:p>
        </p:txBody>
      </p:sp>
      <p:sp>
        <p:nvSpPr>
          <p:cNvPr id="56" name="stat card 3"/>
          <p:cNvSpPr/>
          <p:nvPr/>
        </p:nvSpPr>
        <p:spPr>
          <a:xfrm>
            <a:off x="8138160" y="1645920"/>
            <a:ext cx="3474720" cy="141732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tat 3 value"/>
          <p:cNvSpPr txBox="1"/>
          <p:nvPr/>
        </p:nvSpPr>
        <p:spPr>
          <a:xfrm>
            <a:off x="8412480" y="1783080"/>
            <a:ext cx="29260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1">
                <a:solidFill>
                  <a:srgbClr val="0E9F8E"/>
                </a:solidFill>
                <a:latin typeface="Cambria"/>
              </a:rPr>
              <a:t>0.521%</a:t>
            </a:r>
          </a:p>
        </p:txBody>
      </p:sp>
      <p:sp>
        <p:nvSpPr>
          <p:cNvPr id="58" name="stat 3 label"/>
          <p:cNvSpPr txBox="1"/>
          <p:nvPr/>
        </p:nvSpPr>
        <p:spPr>
          <a:xfrm>
            <a:off x="8412480" y="246888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1B2A41"/>
                </a:solidFill>
              </a:rPr>
              <a:t>Overall fraud rate</a:t>
            </a:r>
          </a:p>
        </p:txBody>
      </p:sp>
      <p:sp>
        <p:nvSpPr>
          <p:cNvPr id="59" name="flow heading"/>
          <p:cNvSpPr txBox="1"/>
          <p:nvPr/>
        </p:nvSpPr>
        <p:spPr>
          <a:xfrm>
            <a:off x="548640" y="333756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1B2A41"/>
                </a:solidFill>
              </a:rPr>
              <a:t>Assessment 2 project flow</a:t>
            </a:r>
          </a:p>
        </p:txBody>
      </p:sp>
      <p:sp>
        <p:nvSpPr>
          <p:cNvPr id="60" name="flow card 1"/>
          <p:cNvSpPr/>
          <p:nvPr/>
        </p:nvSpPr>
        <p:spPr>
          <a:xfrm>
            <a:off x="548640" y="3840480"/>
            <a:ext cx="1920240" cy="219456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number circle"/>
          <p:cNvSpPr/>
          <p:nvPr/>
        </p:nvSpPr>
        <p:spPr>
          <a:xfrm>
            <a:off x="731520" y="4023360"/>
            <a:ext cx="457200" cy="457200"/>
          </a:xfrm>
          <a:prstGeom prst="ellipse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number"/>
          <p:cNvSpPr txBox="1"/>
          <p:nvPr/>
        </p:nvSpPr>
        <p:spPr>
          <a:xfrm>
            <a:off x="731520" y="40233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3" name="flow 1 head"/>
          <p:cNvSpPr txBox="1"/>
          <p:nvPr/>
        </p:nvSpPr>
        <p:spPr>
          <a:xfrm>
            <a:off x="731520" y="461772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spc="100">
                <a:solidFill>
                  <a:srgbClr val="0E9F8E"/>
                </a:solidFill>
              </a:rPr>
              <a:t>DATA</a:t>
            </a:r>
          </a:p>
        </p:txBody>
      </p:sp>
      <p:sp>
        <p:nvSpPr>
          <p:cNvPr id="64" name="flow 1 text"/>
          <p:cNvSpPr txBox="1"/>
          <p:nvPr/>
        </p:nvSpPr>
        <p:spPr>
          <a:xfrm>
            <a:off x="731520" y="4956048"/>
            <a:ext cx="15544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B2A41"/>
                </a:solidFill>
              </a:rPr>
              <a:t>Sparkov fraudTrain.csv + fraudTest.csv</a:t>
            </a:r>
          </a:p>
        </p:txBody>
      </p:sp>
      <p:cxnSp>
        <p:nvCxnSpPr>
          <p:cNvPr id="65" name="arrow"/>
          <p:cNvCxnSpPr/>
          <p:nvPr/>
        </p:nvCxnSpPr>
        <p:spPr>
          <a:xfrm>
            <a:off x="2523744" y="4937760"/>
            <a:ext cx="256032" cy="0"/>
          </a:xfrm>
          <a:prstGeom prst="line">
            <a:avLst/>
          </a:prstGeom>
          <a:ln w="25400">
            <a:solidFill>
              <a:srgbClr val="94A3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flow card 2"/>
          <p:cNvSpPr/>
          <p:nvPr/>
        </p:nvSpPr>
        <p:spPr>
          <a:xfrm>
            <a:off x="2834640" y="3840480"/>
            <a:ext cx="1920240" cy="219456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number circle"/>
          <p:cNvSpPr/>
          <p:nvPr/>
        </p:nvSpPr>
        <p:spPr>
          <a:xfrm>
            <a:off x="3017520" y="4023360"/>
            <a:ext cx="457200" cy="457200"/>
          </a:xfrm>
          <a:prstGeom prst="ellipse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number"/>
          <p:cNvSpPr txBox="1"/>
          <p:nvPr/>
        </p:nvSpPr>
        <p:spPr>
          <a:xfrm>
            <a:off x="3017520" y="40233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69" name="flow 2 head"/>
          <p:cNvSpPr txBox="1"/>
          <p:nvPr/>
        </p:nvSpPr>
        <p:spPr>
          <a:xfrm>
            <a:off x="3017520" y="461772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spc="100">
                <a:solidFill>
                  <a:srgbClr val="0E9F8E"/>
                </a:solidFill>
              </a:rPr>
              <a:t>PREPARE</a:t>
            </a:r>
          </a:p>
        </p:txBody>
      </p:sp>
      <p:sp>
        <p:nvSpPr>
          <p:cNvPr id="70" name="flow 2 text"/>
          <p:cNvSpPr txBox="1"/>
          <p:nvPr/>
        </p:nvSpPr>
        <p:spPr>
          <a:xfrm>
            <a:off x="3017520" y="4956048"/>
            <a:ext cx="15544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B2A41"/>
                </a:solidFill>
              </a:rPr>
              <a:t>Validation • cleaning • feature engineering</a:t>
            </a:r>
          </a:p>
        </p:txBody>
      </p:sp>
      <p:cxnSp>
        <p:nvCxnSpPr>
          <p:cNvPr id="71" name="arrow"/>
          <p:cNvCxnSpPr/>
          <p:nvPr/>
        </p:nvCxnSpPr>
        <p:spPr>
          <a:xfrm>
            <a:off x="4809744" y="4937760"/>
            <a:ext cx="256032" cy="0"/>
          </a:xfrm>
          <a:prstGeom prst="line">
            <a:avLst/>
          </a:prstGeom>
          <a:ln w="25400">
            <a:solidFill>
              <a:srgbClr val="94A3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flow card 3"/>
          <p:cNvSpPr/>
          <p:nvPr/>
        </p:nvSpPr>
        <p:spPr>
          <a:xfrm>
            <a:off x="5120640" y="3840480"/>
            <a:ext cx="1920240" cy="219456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number circle"/>
          <p:cNvSpPr/>
          <p:nvPr/>
        </p:nvSpPr>
        <p:spPr>
          <a:xfrm>
            <a:off x="5303520" y="4023360"/>
            <a:ext cx="457200" cy="457200"/>
          </a:xfrm>
          <a:prstGeom prst="ellipse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number"/>
          <p:cNvSpPr txBox="1"/>
          <p:nvPr/>
        </p:nvSpPr>
        <p:spPr>
          <a:xfrm>
            <a:off x="5303520" y="40233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75" name="flow 3 head"/>
          <p:cNvSpPr txBox="1"/>
          <p:nvPr/>
        </p:nvSpPr>
        <p:spPr>
          <a:xfrm>
            <a:off x="5303520" y="461772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spc="100">
                <a:solidFill>
                  <a:srgbClr val="0E9F8E"/>
                </a:solidFill>
              </a:rPr>
              <a:t>MODEL</a:t>
            </a:r>
          </a:p>
        </p:txBody>
      </p:sp>
      <p:sp>
        <p:nvSpPr>
          <p:cNvPr id="76" name="flow 3 text"/>
          <p:cNvSpPr txBox="1"/>
          <p:nvPr/>
        </p:nvSpPr>
        <p:spPr>
          <a:xfrm>
            <a:off x="5303520" y="4956048"/>
            <a:ext cx="15544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B2A41"/>
                </a:solidFill>
              </a:rPr>
              <a:t>LR • HGB • Isolation Forest • Hybrid</a:t>
            </a:r>
          </a:p>
        </p:txBody>
      </p:sp>
      <p:cxnSp>
        <p:nvCxnSpPr>
          <p:cNvPr id="77" name="arrow"/>
          <p:cNvCxnSpPr/>
          <p:nvPr/>
        </p:nvCxnSpPr>
        <p:spPr>
          <a:xfrm>
            <a:off x="7095744" y="4937760"/>
            <a:ext cx="256031" cy="0"/>
          </a:xfrm>
          <a:prstGeom prst="line">
            <a:avLst/>
          </a:prstGeom>
          <a:ln w="25400">
            <a:solidFill>
              <a:srgbClr val="94A3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flow card 4"/>
          <p:cNvSpPr/>
          <p:nvPr/>
        </p:nvSpPr>
        <p:spPr>
          <a:xfrm>
            <a:off x="7406640" y="3840480"/>
            <a:ext cx="1920240" cy="219456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number circle"/>
          <p:cNvSpPr/>
          <p:nvPr/>
        </p:nvSpPr>
        <p:spPr>
          <a:xfrm>
            <a:off x="7589519" y="4023360"/>
            <a:ext cx="457200" cy="457200"/>
          </a:xfrm>
          <a:prstGeom prst="ellipse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number"/>
          <p:cNvSpPr txBox="1"/>
          <p:nvPr/>
        </p:nvSpPr>
        <p:spPr>
          <a:xfrm>
            <a:off x="7589519" y="40233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81" name="flow 4 head"/>
          <p:cNvSpPr txBox="1"/>
          <p:nvPr/>
        </p:nvSpPr>
        <p:spPr>
          <a:xfrm>
            <a:off x="7589519" y="461772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spc="100">
                <a:solidFill>
                  <a:srgbClr val="0E9F8E"/>
                </a:solidFill>
              </a:rPr>
              <a:t>EVALUATE</a:t>
            </a:r>
          </a:p>
        </p:txBody>
      </p:sp>
      <p:sp>
        <p:nvSpPr>
          <p:cNvPr id="82" name="flow 4 text"/>
          <p:cNvSpPr txBox="1"/>
          <p:nvPr/>
        </p:nvSpPr>
        <p:spPr>
          <a:xfrm>
            <a:off x="7589519" y="4956048"/>
            <a:ext cx="15544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B2A41"/>
                </a:solidFill>
              </a:rPr>
              <a:t>Chronological split • metrics • threshold analysis</a:t>
            </a:r>
          </a:p>
        </p:txBody>
      </p:sp>
      <p:cxnSp>
        <p:nvCxnSpPr>
          <p:cNvPr id="83" name="arrow"/>
          <p:cNvCxnSpPr/>
          <p:nvPr/>
        </p:nvCxnSpPr>
        <p:spPr>
          <a:xfrm>
            <a:off x="9381744" y="4937760"/>
            <a:ext cx="256032" cy="0"/>
          </a:xfrm>
          <a:prstGeom prst="line">
            <a:avLst/>
          </a:prstGeom>
          <a:ln w="25400">
            <a:solidFill>
              <a:srgbClr val="94A3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flow card 5"/>
          <p:cNvSpPr/>
          <p:nvPr/>
        </p:nvSpPr>
        <p:spPr>
          <a:xfrm>
            <a:off x="9692640" y="3840480"/>
            <a:ext cx="1920240" cy="219456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number circle"/>
          <p:cNvSpPr/>
          <p:nvPr/>
        </p:nvSpPr>
        <p:spPr>
          <a:xfrm>
            <a:off x="9875519" y="402336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number"/>
          <p:cNvSpPr txBox="1"/>
          <p:nvPr/>
        </p:nvSpPr>
        <p:spPr>
          <a:xfrm>
            <a:off x="9875519" y="40233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87" name="flow 5 head"/>
          <p:cNvSpPr txBox="1"/>
          <p:nvPr/>
        </p:nvSpPr>
        <p:spPr>
          <a:xfrm>
            <a:off x="9875519" y="461772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spc="100">
                <a:solidFill>
                  <a:srgbClr val="0E9F8E"/>
                </a:solidFill>
              </a:rPr>
              <a:t>MONITOR</a:t>
            </a:r>
          </a:p>
        </p:txBody>
      </p:sp>
      <p:sp>
        <p:nvSpPr>
          <p:cNvPr id="88" name="flow 5 text"/>
          <p:cNvSpPr txBox="1"/>
          <p:nvPr/>
        </p:nvSpPr>
        <p:spPr>
          <a:xfrm>
            <a:off x="9875519" y="4956048"/>
            <a:ext cx="15544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B2A41"/>
                </a:solidFill>
              </a:rPr>
              <a:t>Dashboard-ready outputs for analyst investigation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 lIns="0" tIns="0" rIns="0" bIns="0" anchor="ctr"/>
          <a:lstStyle/>
          <a:p>
            <a:r>
              <a:t>Five Objectives of FraudLens</a:t>
            </a:r>
          </a:p>
        </p:txBody>
      </p:sp>
      <p:sp>
        <p:nvSpPr>
          <p:cNvPr id="3" name="section pill"/>
          <p:cNvSpPr/>
          <p:nvPr/>
        </p:nvSpPr>
        <p:spPr>
          <a:xfrm>
            <a:off x="548640" y="347472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3B5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section pill text"/>
          <p:cNvSpPr txBox="1"/>
          <p:nvPr/>
        </p:nvSpPr>
        <p:spPr>
          <a:xfrm>
            <a:off x="548640" y="347472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spc="100">
                <a:solidFill>
                  <a:srgbClr val="FFFFFF"/>
                </a:solidFill>
              </a:rPr>
              <a:t>PROJECT OBJECTIVES</a:t>
            </a:r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50" name="objective card 01"/>
          <p:cNvSpPr/>
          <p:nvPr/>
        </p:nvSpPr>
        <p:spPr>
          <a:xfrm>
            <a:off x="548640" y="1645920"/>
            <a:ext cx="3474720" cy="21031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number circle"/>
          <p:cNvSpPr/>
          <p:nvPr/>
        </p:nvSpPr>
        <p:spPr>
          <a:xfrm>
            <a:off x="822959" y="1920240"/>
            <a:ext cx="640080" cy="640080"/>
          </a:xfrm>
          <a:prstGeom prst="ellipse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number"/>
          <p:cNvSpPr txBox="1"/>
          <p:nvPr/>
        </p:nvSpPr>
        <p:spPr>
          <a:xfrm>
            <a:off x="822959" y="19202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01</a:t>
            </a:r>
          </a:p>
        </p:txBody>
      </p:sp>
      <p:sp>
        <p:nvSpPr>
          <p:cNvPr id="53" name="objective 01 head"/>
          <p:cNvSpPr txBox="1"/>
          <p:nvPr/>
        </p:nvSpPr>
        <p:spPr>
          <a:xfrm>
            <a:off x="1645919" y="192024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1B2A41"/>
                </a:solidFill>
              </a:rPr>
              <a:t>Fraud Detection</a:t>
            </a:r>
          </a:p>
        </p:txBody>
      </p:sp>
      <p:sp>
        <p:nvSpPr>
          <p:cNvPr id="54" name="objective 01 text"/>
          <p:cNvSpPr txBox="1"/>
          <p:nvPr/>
        </p:nvSpPr>
        <p:spPr>
          <a:xfrm>
            <a:off x="822959" y="2743200"/>
            <a:ext cx="292607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1B2A41"/>
                </a:solidFill>
              </a:rPr>
              <a:t>Identify potentially fraudulent transactions using machine-learning techniques.</a:t>
            </a:r>
          </a:p>
        </p:txBody>
      </p:sp>
      <p:sp>
        <p:nvSpPr>
          <p:cNvPr id="55" name="objective card 02"/>
          <p:cNvSpPr/>
          <p:nvPr/>
        </p:nvSpPr>
        <p:spPr>
          <a:xfrm>
            <a:off x="4343400" y="1645920"/>
            <a:ext cx="3474720" cy="21031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number circle"/>
          <p:cNvSpPr/>
          <p:nvPr/>
        </p:nvSpPr>
        <p:spPr>
          <a:xfrm>
            <a:off x="4617720" y="1920240"/>
            <a:ext cx="640080" cy="640080"/>
          </a:xfrm>
          <a:prstGeom prst="ellipse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number"/>
          <p:cNvSpPr txBox="1"/>
          <p:nvPr/>
        </p:nvSpPr>
        <p:spPr>
          <a:xfrm>
            <a:off x="4617720" y="19202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02</a:t>
            </a:r>
          </a:p>
        </p:txBody>
      </p:sp>
      <p:sp>
        <p:nvSpPr>
          <p:cNvPr id="58" name="objective 02 head"/>
          <p:cNvSpPr txBox="1"/>
          <p:nvPr/>
        </p:nvSpPr>
        <p:spPr>
          <a:xfrm>
            <a:off x="5440680" y="192024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1B2A41"/>
                </a:solidFill>
              </a:rPr>
              <a:t>Reliable Evaluation</a:t>
            </a:r>
          </a:p>
        </p:txBody>
      </p:sp>
      <p:sp>
        <p:nvSpPr>
          <p:cNvPr id="59" name="objective 02 text"/>
          <p:cNvSpPr txBox="1"/>
          <p:nvPr/>
        </p:nvSpPr>
        <p:spPr>
          <a:xfrm>
            <a:off x="4617720" y="2743200"/>
            <a:ext cx="292607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1B2A41"/>
                </a:solidFill>
              </a:rPr>
              <a:t>Use measures suited to highly imbalanced fraud data.</a:t>
            </a:r>
          </a:p>
        </p:txBody>
      </p:sp>
      <p:sp>
        <p:nvSpPr>
          <p:cNvPr id="60" name="objective card 03"/>
          <p:cNvSpPr/>
          <p:nvPr/>
        </p:nvSpPr>
        <p:spPr>
          <a:xfrm>
            <a:off x="8138160" y="1645920"/>
            <a:ext cx="3474720" cy="21031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number circle"/>
          <p:cNvSpPr/>
          <p:nvPr/>
        </p:nvSpPr>
        <p:spPr>
          <a:xfrm>
            <a:off x="8412480" y="1920240"/>
            <a:ext cx="640080" cy="640080"/>
          </a:xfrm>
          <a:prstGeom prst="ellipse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number"/>
          <p:cNvSpPr txBox="1"/>
          <p:nvPr/>
        </p:nvSpPr>
        <p:spPr>
          <a:xfrm>
            <a:off x="8412480" y="19202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03</a:t>
            </a:r>
          </a:p>
        </p:txBody>
      </p:sp>
      <p:sp>
        <p:nvSpPr>
          <p:cNvPr id="63" name="objective 03 head"/>
          <p:cNvSpPr txBox="1"/>
          <p:nvPr/>
        </p:nvSpPr>
        <p:spPr>
          <a:xfrm>
            <a:off x="9235440" y="192024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1B2A41"/>
                </a:solidFill>
              </a:rPr>
              <a:t>Model Comparison</a:t>
            </a:r>
          </a:p>
        </p:txBody>
      </p:sp>
      <p:sp>
        <p:nvSpPr>
          <p:cNvPr id="64" name="objective 03 text"/>
          <p:cNvSpPr txBox="1"/>
          <p:nvPr/>
        </p:nvSpPr>
        <p:spPr>
          <a:xfrm>
            <a:off x="8412480" y="2743200"/>
            <a:ext cx="292607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1B2A41"/>
                </a:solidFill>
              </a:rPr>
              <a:t>Compare different approaches and examine detection performance.</a:t>
            </a:r>
          </a:p>
        </p:txBody>
      </p:sp>
      <p:sp>
        <p:nvSpPr>
          <p:cNvPr id="65" name="objective card 04"/>
          <p:cNvSpPr/>
          <p:nvPr/>
        </p:nvSpPr>
        <p:spPr>
          <a:xfrm>
            <a:off x="548640" y="3931920"/>
            <a:ext cx="5372100" cy="21031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number circle"/>
          <p:cNvSpPr/>
          <p:nvPr/>
        </p:nvSpPr>
        <p:spPr>
          <a:xfrm>
            <a:off x="822959" y="4206240"/>
            <a:ext cx="640080" cy="640080"/>
          </a:xfrm>
          <a:prstGeom prst="ellipse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number"/>
          <p:cNvSpPr txBox="1"/>
          <p:nvPr/>
        </p:nvSpPr>
        <p:spPr>
          <a:xfrm>
            <a:off x="822959" y="42062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04</a:t>
            </a:r>
          </a:p>
        </p:txBody>
      </p:sp>
      <p:sp>
        <p:nvSpPr>
          <p:cNvPr id="68" name="objective 04 head"/>
          <p:cNvSpPr txBox="1"/>
          <p:nvPr/>
        </p:nvSpPr>
        <p:spPr>
          <a:xfrm>
            <a:off x="1645919" y="4206240"/>
            <a:ext cx="40005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1B2A41"/>
                </a:solidFill>
              </a:rPr>
              <a:t>Reproducibility</a:t>
            </a:r>
          </a:p>
        </p:txBody>
      </p:sp>
      <p:sp>
        <p:nvSpPr>
          <p:cNvPr id="69" name="objective 04 text"/>
          <p:cNvSpPr txBox="1"/>
          <p:nvPr/>
        </p:nvSpPr>
        <p:spPr>
          <a:xfrm>
            <a:off x="822959" y="5029200"/>
            <a:ext cx="48234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1B2A41"/>
                </a:solidFill>
              </a:rPr>
              <a:t>Maintain a structured workflow so results can be regenerated and checked.</a:t>
            </a:r>
          </a:p>
        </p:txBody>
      </p:sp>
      <p:sp>
        <p:nvSpPr>
          <p:cNvPr id="70" name="objective card 05"/>
          <p:cNvSpPr/>
          <p:nvPr/>
        </p:nvSpPr>
        <p:spPr>
          <a:xfrm>
            <a:off x="6240780" y="3931920"/>
            <a:ext cx="5372100" cy="21031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number circle"/>
          <p:cNvSpPr/>
          <p:nvPr/>
        </p:nvSpPr>
        <p:spPr>
          <a:xfrm>
            <a:off x="6515100" y="4206240"/>
            <a:ext cx="640080" cy="640080"/>
          </a:xfrm>
          <a:prstGeom prst="ellipse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number"/>
          <p:cNvSpPr txBox="1"/>
          <p:nvPr/>
        </p:nvSpPr>
        <p:spPr>
          <a:xfrm>
            <a:off x="6515100" y="42062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05</a:t>
            </a:r>
          </a:p>
        </p:txBody>
      </p:sp>
      <p:sp>
        <p:nvSpPr>
          <p:cNvPr id="73" name="objective 05 head"/>
          <p:cNvSpPr txBox="1"/>
          <p:nvPr/>
        </p:nvSpPr>
        <p:spPr>
          <a:xfrm>
            <a:off x="7338060" y="4206240"/>
            <a:ext cx="40005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1B2A41"/>
                </a:solidFill>
              </a:rPr>
              <a:t>Decision Support</a:t>
            </a:r>
          </a:p>
        </p:txBody>
      </p:sp>
      <p:sp>
        <p:nvSpPr>
          <p:cNvPr id="74" name="objective 05 text"/>
          <p:cNvSpPr txBox="1"/>
          <p:nvPr/>
        </p:nvSpPr>
        <p:spPr>
          <a:xfrm>
            <a:off x="6515100" y="5029200"/>
            <a:ext cx="48234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1B2A41"/>
                </a:solidFill>
              </a:rPr>
              <a:t>Present outputs in a monitoring format that supports analyst investigation.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 lIns="0" tIns="0" rIns="0" bIns="0" anchor="ctr"/>
          <a:lstStyle/>
          <a:p>
            <a:r>
              <a:t>From Proposal to Developed Solution</a:t>
            </a:r>
          </a:p>
        </p:txBody>
      </p:sp>
      <p:sp>
        <p:nvSpPr>
          <p:cNvPr id="3" name="section pill"/>
          <p:cNvSpPr/>
          <p:nvPr/>
        </p:nvSpPr>
        <p:spPr>
          <a:xfrm>
            <a:off x="548640" y="347472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3B5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section pill text"/>
          <p:cNvSpPr txBox="1"/>
          <p:nvPr/>
        </p:nvSpPr>
        <p:spPr>
          <a:xfrm>
            <a:off x="548640" y="347472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spc="100">
                <a:solidFill>
                  <a:srgbClr val="FFFFFF"/>
                </a:solidFill>
              </a:rPr>
              <a:t>HANDOVER</a:t>
            </a:r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0" name="assessment card 1"/>
          <p:cNvSpPr/>
          <p:nvPr/>
        </p:nvSpPr>
        <p:spPr>
          <a:xfrm>
            <a:off x="548640" y="1645920"/>
            <a:ext cx="5303520" cy="324612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assessment 1 tag"/>
          <p:cNvSpPr txBox="1"/>
          <p:nvPr/>
        </p:nvSpPr>
        <p:spPr>
          <a:xfrm>
            <a:off x="868680" y="1874519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spc="100">
                <a:solidFill>
                  <a:srgbClr val="3B5B8C"/>
                </a:solidFill>
              </a:rPr>
              <a:t>ASSESSMENT 1</a:t>
            </a:r>
          </a:p>
        </p:txBody>
      </p:sp>
      <p:sp>
        <p:nvSpPr>
          <p:cNvPr id="52" name="assessment 1 head"/>
          <p:cNvSpPr txBox="1"/>
          <p:nvPr/>
        </p:nvSpPr>
        <p:spPr>
          <a:xfrm>
            <a:off x="868680" y="2194560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0F1B2D"/>
                </a:solidFill>
                <a:latin typeface="Cambria"/>
              </a:rPr>
              <a:t>Established the problem</a:t>
            </a:r>
          </a:p>
        </p:txBody>
      </p:sp>
      <p:sp>
        <p:nvSpPr>
          <p:cNvPr id="53" name="bullet dot"/>
          <p:cNvSpPr/>
          <p:nvPr/>
        </p:nvSpPr>
        <p:spPr>
          <a:xfrm>
            <a:off x="868680" y="3145536"/>
            <a:ext cx="146304" cy="146304"/>
          </a:xfrm>
          <a:prstGeom prst="ellipse">
            <a:avLst/>
          </a:prstGeom>
          <a:solidFill>
            <a:srgbClr val="3B5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assessment 1 point 1"/>
          <p:cNvSpPr txBox="1"/>
          <p:nvPr/>
        </p:nvSpPr>
        <p:spPr>
          <a:xfrm>
            <a:off x="1188719" y="3017520"/>
            <a:ext cx="43891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1B2A41"/>
                </a:solidFill>
              </a:rPr>
              <a:t>Fraud-detection focus</a:t>
            </a:r>
          </a:p>
        </p:txBody>
      </p:sp>
      <p:sp>
        <p:nvSpPr>
          <p:cNvPr id="55" name="bullet dot"/>
          <p:cNvSpPr/>
          <p:nvPr/>
        </p:nvSpPr>
        <p:spPr>
          <a:xfrm>
            <a:off x="868680" y="3694176"/>
            <a:ext cx="146304" cy="146304"/>
          </a:xfrm>
          <a:prstGeom prst="ellipse">
            <a:avLst/>
          </a:prstGeom>
          <a:solidFill>
            <a:srgbClr val="3B5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assessment 1 point 2"/>
          <p:cNvSpPr txBox="1"/>
          <p:nvPr/>
        </p:nvSpPr>
        <p:spPr>
          <a:xfrm>
            <a:off x="1188719" y="3566160"/>
            <a:ext cx="43891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1B2A41"/>
                </a:solidFill>
              </a:rPr>
              <a:t>Initial objectives</a:t>
            </a:r>
          </a:p>
        </p:txBody>
      </p:sp>
      <p:sp>
        <p:nvSpPr>
          <p:cNvPr id="57" name="bullet dot"/>
          <p:cNvSpPr/>
          <p:nvPr/>
        </p:nvSpPr>
        <p:spPr>
          <a:xfrm>
            <a:off x="868680" y="4242816"/>
            <a:ext cx="146304" cy="146304"/>
          </a:xfrm>
          <a:prstGeom prst="ellipse">
            <a:avLst/>
          </a:prstGeom>
          <a:solidFill>
            <a:srgbClr val="3B5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assessment 1 point 3"/>
          <p:cNvSpPr txBox="1"/>
          <p:nvPr/>
        </p:nvSpPr>
        <p:spPr>
          <a:xfrm>
            <a:off x="1188719" y="4114800"/>
            <a:ext cx="43891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1B2A41"/>
                </a:solidFill>
              </a:rPr>
              <a:t>Proposed workflow</a:t>
            </a:r>
          </a:p>
        </p:txBody>
      </p:sp>
      <p:sp>
        <p:nvSpPr>
          <p:cNvPr id="59" name="assessment card 2"/>
          <p:cNvSpPr/>
          <p:nvPr/>
        </p:nvSpPr>
        <p:spPr>
          <a:xfrm>
            <a:off x="6309359" y="1645920"/>
            <a:ext cx="5303520" cy="324612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assessment 2 tag"/>
          <p:cNvSpPr txBox="1"/>
          <p:nvPr/>
        </p:nvSpPr>
        <p:spPr>
          <a:xfrm>
            <a:off x="6629399" y="1874519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spc="100">
                <a:solidFill>
                  <a:srgbClr val="0E9F8E"/>
                </a:solidFill>
              </a:rPr>
              <a:t>ASSESSMENT 2</a:t>
            </a:r>
          </a:p>
        </p:txBody>
      </p:sp>
      <p:sp>
        <p:nvSpPr>
          <p:cNvPr id="61" name="assessment 2 head"/>
          <p:cNvSpPr txBox="1"/>
          <p:nvPr/>
        </p:nvSpPr>
        <p:spPr>
          <a:xfrm>
            <a:off x="6629399" y="2194560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0F1B2D"/>
                </a:solidFill>
                <a:latin typeface="Cambria"/>
              </a:rPr>
              <a:t>Refined the solution</a:t>
            </a:r>
          </a:p>
        </p:txBody>
      </p:sp>
      <p:sp>
        <p:nvSpPr>
          <p:cNvPr id="62" name="bullet dot"/>
          <p:cNvSpPr/>
          <p:nvPr/>
        </p:nvSpPr>
        <p:spPr>
          <a:xfrm>
            <a:off x="6629399" y="3145536"/>
            <a:ext cx="146304" cy="146304"/>
          </a:xfrm>
          <a:prstGeom prst="ellipse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assessment 2 point 1"/>
          <p:cNvSpPr txBox="1"/>
          <p:nvPr/>
        </p:nvSpPr>
        <p:spPr>
          <a:xfrm>
            <a:off x="6949440" y="3017520"/>
            <a:ext cx="43891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1B2A41"/>
                </a:solidFill>
              </a:rPr>
              <a:t>Stronger data pipeline</a:t>
            </a:r>
          </a:p>
        </p:txBody>
      </p:sp>
      <p:sp>
        <p:nvSpPr>
          <p:cNvPr id="64" name="bullet dot"/>
          <p:cNvSpPr/>
          <p:nvPr/>
        </p:nvSpPr>
        <p:spPr>
          <a:xfrm>
            <a:off x="6629399" y="3694176"/>
            <a:ext cx="146304" cy="146304"/>
          </a:xfrm>
          <a:prstGeom prst="ellipse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assessment 2 point 2"/>
          <p:cNvSpPr txBox="1"/>
          <p:nvPr/>
        </p:nvSpPr>
        <p:spPr>
          <a:xfrm>
            <a:off x="6949440" y="3566160"/>
            <a:ext cx="43891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1B2A41"/>
                </a:solidFill>
              </a:rPr>
              <a:t>Chronological evaluation</a:t>
            </a:r>
          </a:p>
        </p:txBody>
      </p:sp>
      <p:sp>
        <p:nvSpPr>
          <p:cNvPr id="66" name="bullet dot"/>
          <p:cNvSpPr/>
          <p:nvPr/>
        </p:nvSpPr>
        <p:spPr>
          <a:xfrm>
            <a:off x="6629399" y="4242816"/>
            <a:ext cx="146304" cy="146304"/>
          </a:xfrm>
          <a:prstGeom prst="ellipse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assessment 2 point 3"/>
          <p:cNvSpPr txBox="1"/>
          <p:nvPr/>
        </p:nvSpPr>
        <p:spPr>
          <a:xfrm>
            <a:off x="6949440" y="4114800"/>
            <a:ext cx="43891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1B2A41"/>
                </a:solidFill>
              </a:rPr>
              <a:t>Reproducibility &amp; monitoring</a:t>
            </a:r>
          </a:p>
        </p:txBody>
      </p:sp>
      <p:cxnSp>
        <p:nvCxnSpPr>
          <p:cNvPr id="68" name="arrow"/>
          <p:cNvCxnSpPr/>
          <p:nvPr/>
        </p:nvCxnSpPr>
        <p:spPr>
          <a:xfrm>
            <a:off x="5907024" y="3246120"/>
            <a:ext cx="347472" cy="0"/>
          </a:xfrm>
          <a:prstGeom prst="line">
            <a:avLst/>
          </a:prstGeom>
          <a:ln w="25400">
            <a:solidFill>
              <a:srgbClr val="94A3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next banner"/>
          <p:cNvSpPr/>
          <p:nvPr/>
        </p:nvSpPr>
        <p:spPr>
          <a:xfrm>
            <a:off x="548640" y="5166360"/>
            <a:ext cx="11064240" cy="822960"/>
          </a:xfrm>
          <a:prstGeom prst="roundRect">
            <a:avLst>
              <a:gd name="adj" fmla="val 14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next text"/>
          <p:cNvSpPr txBox="1"/>
          <p:nvPr/>
        </p:nvSpPr>
        <p:spPr>
          <a:xfrm>
            <a:off x="822960" y="516636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</a:rPr>
              <a:t>Next:  </a:t>
            </a:r>
            <a:r>
              <a:rPr sz="1600" b="1">
                <a:solidFill>
                  <a:srgbClr val="FFFFFF"/>
                </a:solidFill>
              </a:rPr>
              <a:t>technical development, data engineering, modelling and evaluation.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 lIns="0" tIns="0" rIns="0" bIns="0" anchor="ctr"/>
          <a:lstStyle/>
          <a:p>
            <a:r>
              <a:t>Updated System Architecture</a:t>
            </a:r>
          </a:p>
        </p:txBody>
      </p:sp>
      <p:sp>
        <p:nvSpPr>
          <p:cNvPr id="3" name="section pill"/>
          <p:cNvSpPr/>
          <p:nvPr/>
        </p:nvSpPr>
        <p:spPr>
          <a:xfrm>
            <a:off x="548640" y="347472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section pill text"/>
          <p:cNvSpPr txBox="1"/>
          <p:nvPr/>
        </p:nvSpPr>
        <p:spPr>
          <a:xfrm>
            <a:off x="548640" y="347472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spc="10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50" name="summary card"/>
          <p:cNvSpPr/>
          <p:nvPr/>
        </p:nvSpPr>
        <p:spPr>
          <a:xfrm>
            <a:off x="548640" y="1645920"/>
            <a:ext cx="4846320" cy="4434840"/>
          </a:xfrm>
          <a:prstGeom prst="roundRect">
            <a:avLst>
              <a:gd name="adj" fmla="val 4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summary text"/>
          <p:cNvSpPr txBox="1"/>
          <p:nvPr/>
        </p:nvSpPr>
        <p:spPr>
          <a:xfrm>
            <a:off x="868680" y="1645920"/>
            <a:ext cx="4206240" cy="4434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0F1B2D"/>
                </a:solidFill>
                <a:latin typeface="Cambria"/>
              </a:rPr>
              <a:t>A layered, file-based pipeline replacing the earlier single-database design</a:t>
            </a:r>
          </a:p>
        </p:txBody>
      </p:sp>
      <p:pic>
        <p:nvPicPr>
          <p:cNvPr id="52" name="architecture diagram" descr="FraudLens layered architecture diagram: bronze source data, data contract validation, silver cleaning, gold feature engineering, chronological split, preprocessing, four machine learning models, threshold selection and evaluation, fraud monitoring dashbo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1497" y="1645920"/>
            <a:ext cx="4384885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 lIns="0" tIns="0" rIns="0" bIns="0" anchor="ctr"/>
          <a:lstStyle/>
          <a:p>
            <a:r>
              <a:t>Why a Layered Architecture</a:t>
            </a:r>
          </a:p>
        </p:txBody>
      </p:sp>
      <p:sp>
        <p:nvSpPr>
          <p:cNvPr id="3" name="section pill"/>
          <p:cNvSpPr/>
          <p:nvPr/>
        </p:nvSpPr>
        <p:spPr>
          <a:xfrm>
            <a:off x="548640" y="347472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section pill text"/>
          <p:cNvSpPr txBox="1"/>
          <p:nvPr/>
        </p:nvSpPr>
        <p:spPr>
          <a:xfrm>
            <a:off x="548640" y="347472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spc="10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50" name="layer card 1"/>
          <p:cNvSpPr/>
          <p:nvPr/>
        </p:nvSpPr>
        <p:spPr>
          <a:xfrm>
            <a:off x="548640" y="1645920"/>
            <a:ext cx="11064240" cy="768096"/>
          </a:xfrm>
          <a:prstGeom prst="roundRect">
            <a:avLst>
              <a:gd name="adj" fmla="val 14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layer label 1"/>
          <p:cNvSpPr/>
          <p:nvPr/>
        </p:nvSpPr>
        <p:spPr>
          <a:xfrm>
            <a:off x="548640" y="1645920"/>
            <a:ext cx="2011680" cy="768096"/>
          </a:xfrm>
          <a:prstGeom prst="roundRect">
            <a:avLst>
              <a:gd name="adj" fmla="val 14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layer 1 name"/>
          <p:cNvSpPr txBox="1"/>
          <p:nvPr/>
        </p:nvSpPr>
        <p:spPr>
          <a:xfrm>
            <a:off x="548640" y="1645920"/>
            <a:ext cx="201168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Bronze</a:t>
            </a:r>
          </a:p>
        </p:txBody>
      </p:sp>
      <p:sp>
        <p:nvSpPr>
          <p:cNvPr id="53" name="layer 1 text"/>
          <p:cNvSpPr txBox="1"/>
          <p:nvPr/>
        </p:nvSpPr>
        <p:spPr>
          <a:xfrm>
            <a:off x="2834640" y="1645920"/>
            <a:ext cx="854964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1B2A41"/>
                </a:solidFill>
              </a:rPr>
              <a:t>raw transaction files are ingested as-is, each run stamped with a SHA-256 checksum manifest for traceability.</a:t>
            </a:r>
          </a:p>
        </p:txBody>
      </p:sp>
      <p:sp>
        <p:nvSpPr>
          <p:cNvPr id="54" name="layer card 2"/>
          <p:cNvSpPr/>
          <p:nvPr/>
        </p:nvSpPr>
        <p:spPr>
          <a:xfrm>
            <a:off x="548640" y="2551176"/>
            <a:ext cx="11064240" cy="768096"/>
          </a:xfrm>
          <a:prstGeom prst="roundRect">
            <a:avLst>
              <a:gd name="adj" fmla="val 14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layer label 2"/>
          <p:cNvSpPr/>
          <p:nvPr/>
        </p:nvSpPr>
        <p:spPr>
          <a:xfrm>
            <a:off x="548640" y="2551176"/>
            <a:ext cx="2011680" cy="768096"/>
          </a:xfrm>
          <a:prstGeom prst="roundRect">
            <a:avLst>
              <a:gd name="adj" fmla="val 14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layer 2 name"/>
          <p:cNvSpPr txBox="1"/>
          <p:nvPr/>
        </p:nvSpPr>
        <p:spPr>
          <a:xfrm>
            <a:off x="548640" y="2551176"/>
            <a:ext cx="201168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Validation</a:t>
            </a:r>
          </a:p>
        </p:txBody>
      </p:sp>
      <p:sp>
        <p:nvSpPr>
          <p:cNvPr id="57" name="layer 2 text"/>
          <p:cNvSpPr txBox="1"/>
          <p:nvPr/>
        </p:nvSpPr>
        <p:spPr>
          <a:xfrm>
            <a:off x="2834640" y="2551176"/>
            <a:ext cx="854964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1B2A41"/>
                </a:solidFill>
              </a:rPr>
              <a:t>a 12-point data contract checks schema, nulls, value ranges, label validity and referential integrity before anything moves forward.</a:t>
            </a:r>
          </a:p>
        </p:txBody>
      </p:sp>
      <p:sp>
        <p:nvSpPr>
          <p:cNvPr id="58" name="layer card 3"/>
          <p:cNvSpPr/>
          <p:nvPr/>
        </p:nvSpPr>
        <p:spPr>
          <a:xfrm>
            <a:off x="548640" y="3456432"/>
            <a:ext cx="11064240" cy="768096"/>
          </a:xfrm>
          <a:prstGeom prst="roundRect">
            <a:avLst>
              <a:gd name="adj" fmla="val 14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layer label 3"/>
          <p:cNvSpPr/>
          <p:nvPr/>
        </p:nvSpPr>
        <p:spPr>
          <a:xfrm>
            <a:off x="548640" y="3456432"/>
            <a:ext cx="2011680" cy="768096"/>
          </a:xfrm>
          <a:prstGeom prst="roundRect">
            <a:avLst>
              <a:gd name="adj" fmla="val 14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layer 3 name"/>
          <p:cNvSpPr txBox="1"/>
          <p:nvPr/>
        </p:nvSpPr>
        <p:spPr>
          <a:xfrm>
            <a:off x="548640" y="3456432"/>
            <a:ext cx="201168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Silver</a:t>
            </a:r>
          </a:p>
        </p:txBody>
      </p:sp>
      <p:sp>
        <p:nvSpPr>
          <p:cNvPr id="61" name="layer 3 text"/>
          <p:cNvSpPr txBox="1"/>
          <p:nvPr/>
        </p:nvSpPr>
        <p:spPr>
          <a:xfrm>
            <a:off x="2834640" y="3456432"/>
            <a:ext cx="854964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1B2A41"/>
                </a:solidFill>
              </a:rPr>
              <a:t>cleaned, de-duplicated, type-corrected data that has passed validation.</a:t>
            </a:r>
          </a:p>
        </p:txBody>
      </p:sp>
      <p:sp>
        <p:nvSpPr>
          <p:cNvPr id="62" name="layer card 4"/>
          <p:cNvSpPr/>
          <p:nvPr/>
        </p:nvSpPr>
        <p:spPr>
          <a:xfrm>
            <a:off x="548640" y="4361688"/>
            <a:ext cx="11064240" cy="768096"/>
          </a:xfrm>
          <a:prstGeom prst="roundRect">
            <a:avLst>
              <a:gd name="adj" fmla="val 14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layer label 4"/>
          <p:cNvSpPr/>
          <p:nvPr/>
        </p:nvSpPr>
        <p:spPr>
          <a:xfrm>
            <a:off x="548640" y="4361688"/>
            <a:ext cx="2011680" cy="768096"/>
          </a:xfrm>
          <a:prstGeom prst="roundRect">
            <a:avLst>
              <a:gd name="adj" fmla="val 14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layer 4 name"/>
          <p:cNvSpPr txBox="1"/>
          <p:nvPr/>
        </p:nvSpPr>
        <p:spPr>
          <a:xfrm>
            <a:off x="548640" y="4361688"/>
            <a:ext cx="201168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Gold</a:t>
            </a:r>
          </a:p>
        </p:txBody>
      </p:sp>
      <p:sp>
        <p:nvSpPr>
          <p:cNvPr id="65" name="layer 4 text"/>
          <p:cNvSpPr txBox="1"/>
          <p:nvPr/>
        </p:nvSpPr>
        <p:spPr>
          <a:xfrm>
            <a:off x="2834640" y="4361688"/>
            <a:ext cx="854964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1B2A41"/>
                </a:solidFill>
              </a:rPr>
              <a:t>feature-engineered data (time features, distance, velocity/behavioural signals).</a:t>
            </a:r>
          </a:p>
        </p:txBody>
      </p:sp>
      <p:sp>
        <p:nvSpPr>
          <p:cNvPr id="66" name="layer card 5"/>
          <p:cNvSpPr/>
          <p:nvPr/>
        </p:nvSpPr>
        <p:spPr>
          <a:xfrm>
            <a:off x="548640" y="5266944"/>
            <a:ext cx="11064240" cy="768096"/>
          </a:xfrm>
          <a:prstGeom prst="roundRect">
            <a:avLst>
              <a:gd name="adj" fmla="val 14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layer label 5"/>
          <p:cNvSpPr/>
          <p:nvPr/>
        </p:nvSpPr>
        <p:spPr>
          <a:xfrm>
            <a:off x="548640" y="5266944"/>
            <a:ext cx="2011680" cy="768096"/>
          </a:xfrm>
          <a:prstGeom prst="roundRect">
            <a:avLst>
              <a:gd name="adj" fmla="val 14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layer 5 name"/>
          <p:cNvSpPr txBox="1"/>
          <p:nvPr/>
        </p:nvSpPr>
        <p:spPr>
          <a:xfrm>
            <a:off x="548640" y="5266944"/>
            <a:ext cx="201168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59E0B"/>
                </a:solidFill>
              </a:rPr>
              <a:t>Processed</a:t>
            </a:r>
          </a:p>
        </p:txBody>
      </p:sp>
      <p:sp>
        <p:nvSpPr>
          <p:cNvPr id="69" name="layer 5 text"/>
          <p:cNvSpPr txBox="1"/>
          <p:nvPr/>
        </p:nvSpPr>
        <p:spPr>
          <a:xfrm>
            <a:off x="2834640" y="5266944"/>
            <a:ext cx="854964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1B2A41"/>
                </a:solidFill>
              </a:rPr>
              <a:t>two model-ready views — a linear view for Logistic Regression/Isolation Forest, and a tree view for Histogram Gradient Boosting/Hybrid GB.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 lIns="0" tIns="0" rIns="0" bIns="0" anchor="ctr"/>
          <a:lstStyle/>
          <a:p>
            <a:r>
              <a:t>Workflow</a:t>
            </a:r>
          </a:p>
        </p:txBody>
      </p:sp>
      <p:sp>
        <p:nvSpPr>
          <p:cNvPr id="3" name="section pill"/>
          <p:cNvSpPr/>
          <p:nvPr/>
        </p:nvSpPr>
        <p:spPr>
          <a:xfrm>
            <a:off x="548640" y="347472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section pill text"/>
          <p:cNvSpPr txBox="1"/>
          <p:nvPr/>
        </p:nvSpPr>
        <p:spPr>
          <a:xfrm>
            <a:off x="548640" y="347472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spc="100">
                <a:solidFill>
                  <a:srgbClr val="FFFFFF"/>
                </a:solidFill>
              </a:rPr>
              <a:t>WORKFLOW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</a:rPr>
              <a:t>End-to-end sequence from raw data to a reviewable fraud alert</a:t>
            </a:r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50" name="step card 1"/>
          <p:cNvSpPr/>
          <p:nvPr/>
        </p:nvSpPr>
        <p:spPr>
          <a:xfrm>
            <a:off x="548640" y="2011680"/>
            <a:ext cx="11064240" cy="713232"/>
          </a:xfrm>
          <a:prstGeom prst="roundRect">
            <a:avLst>
              <a:gd name="adj" fmla="val 14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step badge 1"/>
          <p:cNvSpPr/>
          <p:nvPr/>
        </p:nvSpPr>
        <p:spPr>
          <a:xfrm>
            <a:off x="731520" y="2157984"/>
            <a:ext cx="1051560" cy="420624"/>
          </a:xfrm>
          <a:prstGeom prst="roundRect">
            <a:avLst>
              <a:gd name="adj" fmla="val 50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tep 1 number"/>
          <p:cNvSpPr txBox="1"/>
          <p:nvPr/>
        </p:nvSpPr>
        <p:spPr>
          <a:xfrm>
            <a:off x="731520" y="2157984"/>
            <a:ext cx="10515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1–5</a:t>
            </a:r>
          </a:p>
        </p:txBody>
      </p:sp>
      <p:sp>
        <p:nvSpPr>
          <p:cNvPr id="53" name="step 1 text"/>
          <p:cNvSpPr txBox="1"/>
          <p:nvPr/>
        </p:nvSpPr>
        <p:spPr>
          <a:xfrm>
            <a:off x="2011680" y="2011680"/>
            <a:ext cx="94183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B2A41"/>
                </a:solidFill>
              </a:rPr>
              <a:t>Ingest → Validate → Clean → Engineer features → </a:t>
            </a:r>
            <a:r>
              <a:rPr sz="1400" b="0">
                <a:solidFill>
                  <a:srgbClr val="1B2A41"/>
                </a:solidFill>
              </a:rPr>
              <a:t>produces the bronze/silver/gold layers above, each step auditable on its own.</a:t>
            </a:r>
          </a:p>
        </p:txBody>
      </p:sp>
      <p:sp>
        <p:nvSpPr>
          <p:cNvPr id="54" name="step card 2"/>
          <p:cNvSpPr/>
          <p:nvPr/>
        </p:nvSpPr>
        <p:spPr>
          <a:xfrm>
            <a:off x="548640" y="2834640"/>
            <a:ext cx="11064240" cy="713232"/>
          </a:xfrm>
          <a:prstGeom prst="roundRect">
            <a:avLst>
              <a:gd name="adj" fmla="val 14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step badge 2"/>
          <p:cNvSpPr/>
          <p:nvPr/>
        </p:nvSpPr>
        <p:spPr>
          <a:xfrm>
            <a:off x="731520" y="2980944"/>
            <a:ext cx="1051560" cy="420624"/>
          </a:xfrm>
          <a:prstGeom prst="roundRect">
            <a:avLst>
              <a:gd name="adj" fmla="val 50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step 2 number"/>
          <p:cNvSpPr txBox="1"/>
          <p:nvPr/>
        </p:nvSpPr>
        <p:spPr>
          <a:xfrm>
            <a:off x="731520" y="2980944"/>
            <a:ext cx="10515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57" name="step 2 text"/>
          <p:cNvSpPr txBox="1"/>
          <p:nvPr/>
        </p:nvSpPr>
        <p:spPr>
          <a:xfrm>
            <a:off x="2011680" y="2834640"/>
            <a:ext cx="94183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B2A41"/>
                </a:solidFill>
              </a:rPr>
              <a:t>Chronological split, </a:t>
            </a:r>
            <a:r>
              <a:rPr sz="1400" b="0">
                <a:solidFill>
                  <a:srgbClr val="1B2A41"/>
                </a:solidFill>
              </a:rPr>
              <a:t>not random — train/validation/test are cut by date, so the model is always evaluated on transactions it could not have seen in training. This avoids the optimistic bias a random split would give for a time-ordered fraud problem.</a:t>
            </a:r>
          </a:p>
        </p:txBody>
      </p:sp>
      <p:sp>
        <p:nvSpPr>
          <p:cNvPr id="58" name="step card 3"/>
          <p:cNvSpPr/>
          <p:nvPr/>
        </p:nvSpPr>
        <p:spPr>
          <a:xfrm>
            <a:off x="548640" y="3657600"/>
            <a:ext cx="11064240" cy="713232"/>
          </a:xfrm>
          <a:prstGeom prst="roundRect">
            <a:avLst>
              <a:gd name="adj" fmla="val 14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step badge 3"/>
          <p:cNvSpPr/>
          <p:nvPr/>
        </p:nvSpPr>
        <p:spPr>
          <a:xfrm>
            <a:off x="731520" y="3803904"/>
            <a:ext cx="1051560" cy="420624"/>
          </a:xfrm>
          <a:prstGeom prst="roundRect">
            <a:avLst>
              <a:gd name="adj" fmla="val 50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step 3 number"/>
          <p:cNvSpPr txBox="1"/>
          <p:nvPr/>
        </p:nvSpPr>
        <p:spPr>
          <a:xfrm>
            <a:off x="731520" y="3803904"/>
            <a:ext cx="10515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61" name="step 3 text"/>
          <p:cNvSpPr txBox="1"/>
          <p:nvPr/>
        </p:nvSpPr>
        <p:spPr>
          <a:xfrm>
            <a:off x="2011680" y="3657600"/>
            <a:ext cx="94183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B2A41"/>
                </a:solidFill>
              </a:rPr>
              <a:t>Class-weighting, </a:t>
            </a:r>
            <a:r>
              <a:rPr sz="1400" b="0">
                <a:solidFill>
                  <a:srgbClr val="1B2A41"/>
                </a:solidFill>
              </a:rPr>
              <a:t>not SMOTE — imbalance (~1 fraud per 172 legitimate transactions) is handled inside training via class weights on the training split only, avoiding synthetic data that could leak across the chronological boundary.</a:t>
            </a:r>
          </a:p>
        </p:txBody>
      </p:sp>
      <p:sp>
        <p:nvSpPr>
          <p:cNvPr id="62" name="step card 4"/>
          <p:cNvSpPr/>
          <p:nvPr/>
        </p:nvSpPr>
        <p:spPr>
          <a:xfrm>
            <a:off x="548640" y="4480560"/>
            <a:ext cx="11064240" cy="713232"/>
          </a:xfrm>
          <a:prstGeom prst="roundRect">
            <a:avLst>
              <a:gd name="adj" fmla="val 14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step badge 4"/>
          <p:cNvSpPr/>
          <p:nvPr/>
        </p:nvSpPr>
        <p:spPr>
          <a:xfrm>
            <a:off x="731520" y="4626864"/>
            <a:ext cx="1051560" cy="420624"/>
          </a:xfrm>
          <a:prstGeom prst="roundRect">
            <a:avLst>
              <a:gd name="adj" fmla="val 50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step 4 number"/>
          <p:cNvSpPr txBox="1"/>
          <p:nvPr/>
        </p:nvSpPr>
        <p:spPr>
          <a:xfrm>
            <a:off x="731520" y="4626864"/>
            <a:ext cx="10515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8–9</a:t>
            </a:r>
          </a:p>
        </p:txBody>
      </p:sp>
      <p:sp>
        <p:nvSpPr>
          <p:cNvPr id="65" name="step 4 text"/>
          <p:cNvSpPr txBox="1"/>
          <p:nvPr/>
        </p:nvSpPr>
        <p:spPr>
          <a:xfrm>
            <a:off x="2011680" y="4480560"/>
            <a:ext cx="94183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B2A41"/>
                </a:solidFill>
              </a:rPr>
              <a:t>Train &amp; evaluate </a:t>
            </a:r>
            <a:r>
              <a:rPr sz="1400" b="0">
                <a:solidFill>
                  <a:srgbClr val="1B2A41"/>
                </a:solidFill>
              </a:rPr>
              <a:t>four candidate models, each scored on PR-AUC (not accuracy/ROC-AUC) because of the extreme class imbalance.</a:t>
            </a:r>
          </a:p>
        </p:txBody>
      </p:sp>
      <p:sp>
        <p:nvSpPr>
          <p:cNvPr id="66" name="step card 5"/>
          <p:cNvSpPr/>
          <p:nvPr/>
        </p:nvSpPr>
        <p:spPr>
          <a:xfrm>
            <a:off x="548640" y="5303520"/>
            <a:ext cx="11064240" cy="713232"/>
          </a:xfrm>
          <a:prstGeom prst="roundRect">
            <a:avLst>
              <a:gd name="adj" fmla="val 14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step badge 5"/>
          <p:cNvSpPr/>
          <p:nvPr/>
        </p:nvSpPr>
        <p:spPr>
          <a:xfrm>
            <a:off x="731520" y="5449824"/>
            <a:ext cx="1051560" cy="420624"/>
          </a:xfrm>
          <a:prstGeom prst="roundRect">
            <a:avLst>
              <a:gd name="adj" fmla="val 50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step 5 number"/>
          <p:cNvSpPr txBox="1"/>
          <p:nvPr/>
        </p:nvSpPr>
        <p:spPr>
          <a:xfrm>
            <a:off x="731520" y="5449824"/>
            <a:ext cx="10515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10–12</a:t>
            </a:r>
          </a:p>
        </p:txBody>
      </p:sp>
      <p:sp>
        <p:nvSpPr>
          <p:cNvPr id="69" name="step 5 text"/>
          <p:cNvSpPr txBox="1"/>
          <p:nvPr/>
        </p:nvSpPr>
        <p:spPr>
          <a:xfrm>
            <a:off x="2011680" y="5303520"/>
            <a:ext cx="94183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B2A41"/>
                </a:solidFill>
              </a:rPr>
              <a:t>Threshold selection, </a:t>
            </a:r>
            <a:r>
              <a:rPr sz="1400" b="0">
                <a:solidFill>
                  <a:srgbClr val="1B2A41"/>
                </a:solidFill>
              </a:rPr>
              <a:t>net-benefit calculation and dashboard delivery — turning model scores into a business decision a reviewer can act 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 lIns="0" tIns="0" rIns="0" bIns="0" anchor="ctr"/>
          <a:lstStyle/>
          <a:p>
            <a:r>
              <a:t>Implementation Progress — Model Lineup</a:t>
            </a:r>
          </a:p>
        </p:txBody>
      </p:sp>
      <p:sp>
        <p:nvSpPr>
          <p:cNvPr id="3" name="section pill"/>
          <p:cNvSpPr/>
          <p:nvPr/>
        </p:nvSpPr>
        <p:spPr>
          <a:xfrm>
            <a:off x="548640" y="347472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section pill text"/>
          <p:cNvSpPr txBox="1"/>
          <p:nvPr/>
        </p:nvSpPr>
        <p:spPr>
          <a:xfrm>
            <a:off x="548640" y="347472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spc="100">
                <a:solidFill>
                  <a:srgbClr val="FFFFFF"/>
                </a:solidFill>
              </a:rPr>
              <a:t>IMPLEMENTATION PROGRESS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</a:rPr>
              <a:t>Four models trained on the processed layer; evaluated on the held-out chronological test set</a:t>
            </a:r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graphicFrame>
        <p:nvGraphicFramePr>
          <p:cNvPr id="50" name="model lineup table"/>
          <p:cNvGraphicFramePr>
            <a:graphicFrameLocks noGrp="1"/>
          </p:cNvGraphicFramePr>
          <p:nvPr/>
        </p:nvGraphicFramePr>
        <p:xfrm>
          <a:off x="548640" y="2057400"/>
          <a:ext cx="11064240" cy="2743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L="182880" marR="182880" anchor="ctr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Val PR-AUC</a:t>
                      </a:r>
                    </a:p>
                  </a:txBody>
                  <a:tcPr marL="182880" marR="182880" anchor="ctr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Test PR-AUC</a:t>
                      </a:r>
                    </a:p>
                  </a:txBody>
                  <a:tcPr marL="182880" marR="182880" anchor="ctr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 marL="182880" marR="182880" anchor="ctr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 marL="182880" marR="182880" anchor="ctr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Net benefit</a:t>
                      </a:r>
                    </a:p>
                  </a:txBody>
                  <a:tcPr marL="182880" marR="182880" anchor="ctr">
                    <a:solidFill>
                      <a:srgbClr val="0F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B2A41"/>
                          </a:solidFill>
                        </a:rPr>
                        <a:t>Hybrid gradient boosting</a:t>
                      </a:r>
                    </a:p>
                  </a:txBody>
                  <a:tcPr marL="182880" marR="182880" anchor="ctr">
                    <a:solidFill>
                      <a:srgbClr val="FEF3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B2A41"/>
                          </a:solidFill>
                        </a:rPr>
                        <a:t>0.9841</a:t>
                      </a:r>
                    </a:p>
                  </a:txBody>
                  <a:tcPr marL="182880" marR="182880" anchor="ctr">
                    <a:solidFill>
                      <a:srgbClr val="FEF3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B2A41"/>
                          </a:solidFill>
                        </a:rPr>
                        <a:t>0.9753</a:t>
                      </a:r>
                    </a:p>
                  </a:txBody>
                  <a:tcPr marL="182880" marR="182880" anchor="ctr">
                    <a:solidFill>
                      <a:srgbClr val="FEF3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B2A41"/>
                          </a:solidFill>
                        </a:rPr>
                        <a:t>89.9%</a:t>
                      </a:r>
                    </a:p>
                  </a:txBody>
                  <a:tcPr marL="182880" marR="182880" anchor="ctr">
                    <a:solidFill>
                      <a:srgbClr val="FEF3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B2A41"/>
                          </a:solidFill>
                        </a:rPr>
                        <a:t>94.9%</a:t>
                      </a:r>
                    </a:p>
                  </a:txBody>
                  <a:tcPr marL="182880" marR="182880" anchor="ctr">
                    <a:solidFill>
                      <a:srgbClr val="FEF3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B2A41"/>
                          </a:solidFill>
                        </a:rPr>
                        <a:t>$966,349</a:t>
                      </a:r>
                    </a:p>
                  </a:txBody>
                  <a:tcPr marL="182880" marR="182880" anchor="ctr">
                    <a:solidFill>
                      <a:srgbClr val="FEF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2A41"/>
                          </a:solidFill>
                        </a:rPr>
                        <a:t>Gradient boosting</a:t>
                      </a:r>
                    </a:p>
                  </a:txBody>
                  <a:tcPr marL="182880" marR="18288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41"/>
                          </a:solidFill>
                        </a:rPr>
                        <a:t>0.9840</a:t>
                      </a:r>
                    </a:p>
                  </a:txBody>
                  <a:tcPr marL="182880" marR="18288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41"/>
                          </a:solidFill>
                        </a:rPr>
                        <a:t>0.9749</a:t>
                      </a:r>
                    </a:p>
                  </a:txBody>
                  <a:tcPr marL="182880" marR="18288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41"/>
                          </a:solidFill>
                        </a:rPr>
                        <a:t>89.0%</a:t>
                      </a:r>
                    </a:p>
                  </a:txBody>
                  <a:tcPr marL="182880" marR="18288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41"/>
                          </a:solidFill>
                        </a:rPr>
                        <a:t>94.7%</a:t>
                      </a:r>
                    </a:p>
                  </a:txBody>
                  <a:tcPr marL="182880" marR="18288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41"/>
                          </a:solidFill>
                        </a:rPr>
                        <a:t>$967,019</a:t>
                      </a:r>
                    </a:p>
                  </a:txBody>
                  <a:tcPr marL="182880" marR="1828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2A41"/>
                          </a:solidFill>
                        </a:rPr>
                        <a:t>Logistic regression</a:t>
                      </a:r>
                    </a:p>
                  </a:txBody>
                  <a:tcPr marL="182880" marR="18288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41"/>
                          </a:solidFill>
                        </a:rPr>
                        <a:t>0.6839</a:t>
                      </a:r>
                    </a:p>
                  </a:txBody>
                  <a:tcPr marL="182880" marR="18288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41"/>
                          </a:solidFill>
                        </a:rPr>
                        <a:t>0.5900</a:t>
                      </a:r>
                    </a:p>
                  </a:txBody>
                  <a:tcPr marL="182880" marR="18288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41"/>
                          </a:solidFill>
                        </a:rPr>
                        <a:t>20.3%</a:t>
                      </a:r>
                    </a:p>
                  </a:txBody>
                  <a:tcPr marL="182880" marR="18288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41"/>
                          </a:solidFill>
                        </a:rPr>
                        <a:t>83.1%</a:t>
                      </a:r>
                    </a:p>
                  </a:txBody>
                  <a:tcPr marL="182880" marR="18288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41"/>
                          </a:solidFill>
                        </a:rPr>
                        <a:t>$822,772</a:t>
                      </a:r>
                    </a:p>
                  </a:txBody>
                  <a:tcPr marL="182880" marR="182880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2A41"/>
                          </a:solidFill>
                        </a:rPr>
                        <a:t>Isolation Forest</a:t>
                      </a:r>
                    </a:p>
                  </a:txBody>
                  <a:tcPr marL="182880" marR="18288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41"/>
                          </a:solidFill>
                        </a:rPr>
                        <a:t>0.3556</a:t>
                      </a:r>
                    </a:p>
                  </a:txBody>
                  <a:tcPr marL="182880" marR="18288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41"/>
                          </a:solidFill>
                        </a:rPr>
                        <a:t>0.2662</a:t>
                      </a:r>
                    </a:p>
                  </a:txBody>
                  <a:tcPr marL="182880" marR="18288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41"/>
                          </a:solidFill>
                        </a:rPr>
                        <a:t>7.1%</a:t>
                      </a:r>
                    </a:p>
                  </a:txBody>
                  <a:tcPr marL="182880" marR="18288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41"/>
                          </a:solidFill>
                        </a:rPr>
                        <a:t>57.2%</a:t>
                      </a:r>
                    </a:p>
                  </a:txBody>
                  <a:tcPr marL="182880" marR="18288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41"/>
                          </a:solidFill>
                        </a:rPr>
                        <a:t>$518,304</a:t>
                      </a:r>
                    </a:p>
                  </a:txBody>
                  <a:tcPr marL="182880" marR="1828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1" name="champion callout"/>
          <p:cNvSpPr/>
          <p:nvPr/>
        </p:nvSpPr>
        <p:spPr>
          <a:xfrm>
            <a:off x="548640" y="5120640"/>
            <a:ext cx="11064240" cy="822960"/>
          </a:xfrm>
          <a:prstGeom prst="roundRect">
            <a:avLst>
              <a:gd name="adj" fmla="val 14000"/>
            </a:avLst>
          </a:prstGeom>
          <a:solidFill>
            <a:srgbClr val="FE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champion text"/>
          <p:cNvSpPr txBox="1"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B2A41"/>
                </a:solidFill>
              </a:rPr>
              <a:t>Champion model: Hybrid gradient boosting (Histogram Gradient Boosting + Isolation Forest anomaly score as an input feature).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 lIns="0" tIns="0" rIns="0" bIns="0" anchor="ctr"/>
          <a:lstStyle/>
          <a:p>
            <a:r>
              <a:t>Where We Stand</a:t>
            </a:r>
          </a:p>
        </p:txBody>
      </p:sp>
      <p:sp>
        <p:nvSpPr>
          <p:cNvPr id="3" name="section pill"/>
          <p:cNvSpPr/>
          <p:nvPr/>
        </p:nvSpPr>
        <p:spPr>
          <a:xfrm>
            <a:off x="548640" y="347472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section pill text"/>
          <p:cNvSpPr txBox="1"/>
          <p:nvPr/>
        </p:nvSpPr>
        <p:spPr>
          <a:xfrm>
            <a:off x="548640" y="347472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spc="100">
                <a:solidFill>
                  <a:srgbClr val="FFFFFF"/>
                </a:solidFill>
              </a:rPr>
              <a:t>IMPLEMENTATION PROGRESS</a:t>
            </a:r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sp>
        <p:nvSpPr>
          <p:cNvPr id="50" name="impact card 1"/>
          <p:cNvSpPr/>
          <p:nvPr/>
        </p:nvSpPr>
        <p:spPr>
          <a:xfrm>
            <a:off x="548640" y="164592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impact 1 value"/>
          <p:cNvSpPr txBox="1"/>
          <p:nvPr/>
        </p:nvSpPr>
        <p:spPr>
          <a:xfrm>
            <a:off x="822959" y="1874519"/>
            <a:ext cx="29260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1">
                <a:solidFill>
                  <a:srgbClr val="F59E0B"/>
                </a:solidFill>
                <a:latin typeface="Cambria"/>
              </a:rPr>
              <a:t>2,035 / 2,145</a:t>
            </a:r>
          </a:p>
        </p:txBody>
      </p:sp>
      <p:sp>
        <p:nvSpPr>
          <p:cNvPr id="52" name="impact 1 label"/>
          <p:cNvSpPr txBox="1"/>
          <p:nvPr/>
        </p:nvSpPr>
        <p:spPr>
          <a:xfrm>
            <a:off x="822959" y="2743200"/>
            <a:ext cx="2926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frauds correctly flagged in the test period</a:t>
            </a:r>
          </a:p>
        </p:txBody>
      </p:sp>
      <p:sp>
        <p:nvSpPr>
          <p:cNvPr id="53" name="impact card 2"/>
          <p:cNvSpPr/>
          <p:nvPr/>
        </p:nvSpPr>
        <p:spPr>
          <a:xfrm>
            <a:off x="4343400" y="164592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impact 2 value"/>
          <p:cNvSpPr txBox="1"/>
          <p:nvPr/>
        </p:nvSpPr>
        <p:spPr>
          <a:xfrm>
            <a:off x="4617720" y="1874519"/>
            <a:ext cx="29260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1">
                <a:solidFill>
                  <a:srgbClr val="F59E0B"/>
                </a:solidFill>
                <a:latin typeface="Cambria"/>
              </a:rPr>
              <a:t>229</a:t>
            </a:r>
          </a:p>
        </p:txBody>
      </p:sp>
      <p:sp>
        <p:nvSpPr>
          <p:cNvPr id="55" name="impact 2 label"/>
          <p:cNvSpPr txBox="1"/>
          <p:nvPr/>
        </p:nvSpPr>
        <p:spPr>
          <a:xfrm>
            <a:off x="4617720" y="2743200"/>
            <a:ext cx="2926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false alerts raised alongside them</a:t>
            </a:r>
          </a:p>
        </p:txBody>
      </p:sp>
      <p:sp>
        <p:nvSpPr>
          <p:cNvPr id="56" name="impact card 3"/>
          <p:cNvSpPr/>
          <p:nvPr/>
        </p:nvSpPr>
        <p:spPr>
          <a:xfrm>
            <a:off x="8138160" y="164592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impact 3 value"/>
          <p:cNvSpPr txBox="1"/>
          <p:nvPr/>
        </p:nvSpPr>
        <p:spPr>
          <a:xfrm>
            <a:off x="8412480" y="1874519"/>
            <a:ext cx="29260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1">
                <a:solidFill>
                  <a:srgbClr val="F59E0B"/>
                </a:solidFill>
                <a:latin typeface="Cambria"/>
              </a:rPr>
              <a:t>$966,349</a:t>
            </a:r>
          </a:p>
        </p:txBody>
      </p:sp>
      <p:sp>
        <p:nvSpPr>
          <p:cNvPr id="58" name="impact 3 label"/>
          <p:cNvSpPr txBox="1"/>
          <p:nvPr/>
        </p:nvSpPr>
        <p:spPr>
          <a:xfrm>
            <a:off x="8412480" y="2743200"/>
            <a:ext cx="2926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estimated net benefit (recovered fraud value minus review cost)</a:t>
            </a:r>
          </a:p>
        </p:txBody>
      </p:sp>
      <p:sp>
        <p:nvSpPr>
          <p:cNvPr id="59" name="point card 1"/>
          <p:cNvSpPr/>
          <p:nvPr/>
        </p:nvSpPr>
        <p:spPr>
          <a:xfrm>
            <a:off x="548640" y="4206240"/>
            <a:ext cx="11064240" cy="822960"/>
          </a:xfrm>
          <a:prstGeom prst="roundRect">
            <a:avLst>
              <a:gd name="adj" fmla="val 14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bullet dot"/>
          <p:cNvSpPr/>
          <p:nvPr/>
        </p:nvSpPr>
        <p:spPr>
          <a:xfrm>
            <a:off x="822960" y="4517136"/>
            <a:ext cx="201168" cy="201168"/>
          </a:xfrm>
          <a:prstGeom prst="ellipse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point 1 text"/>
          <p:cNvSpPr txBox="1"/>
          <p:nvPr/>
        </p:nvSpPr>
        <p:spPr>
          <a:xfrm>
            <a:off x="1280160" y="420624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1B2A41"/>
                </a:solidFill>
              </a:rPr>
              <a:t>Pipeline, validation, and modeling layers are built and reproducible end-to-end on the real dataset (1,852,394 transactions).</a:t>
            </a:r>
          </a:p>
        </p:txBody>
      </p:sp>
      <p:sp>
        <p:nvSpPr>
          <p:cNvPr id="62" name="point card 2"/>
          <p:cNvSpPr/>
          <p:nvPr/>
        </p:nvSpPr>
        <p:spPr>
          <a:xfrm>
            <a:off x="548640" y="5166359"/>
            <a:ext cx="11064240" cy="822960"/>
          </a:xfrm>
          <a:prstGeom prst="roundRect">
            <a:avLst>
              <a:gd name="adj" fmla="val 14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bullet dot"/>
          <p:cNvSpPr/>
          <p:nvPr/>
        </p:nvSpPr>
        <p:spPr>
          <a:xfrm>
            <a:off x="822960" y="5477255"/>
            <a:ext cx="201168" cy="201168"/>
          </a:xfrm>
          <a:prstGeom prst="ellipse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point 2 text"/>
          <p:cNvSpPr txBox="1"/>
          <p:nvPr/>
        </p:nvSpPr>
        <p:spPr>
          <a:xfrm>
            <a:off x="1280160" y="5166359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1B2A41"/>
                </a:solidFill>
              </a:rPr>
              <a:t>Threshold is a business decision, tuned against net benefit rather than a fixed statistical cut-off.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pill"/>
          <p:cNvSpPr/>
          <p:nvPr/>
        </p:nvSpPr>
        <p:spPr>
          <a:xfrm>
            <a:off x="548640" y="347472"/>
            <a:ext cx="2651760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ection pill text"/>
          <p:cNvSpPr txBox="1"/>
          <p:nvPr/>
        </p:nvSpPr>
        <p:spPr>
          <a:xfrm>
            <a:off x="548640" y="3474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SYSTEM DEMO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command, raw data to dashboard</a:t>
            </a:r>
            <a:endParaRPr lang="en-US" sz="3400" dirty="0"/>
          </a:p>
        </p:txBody>
      </p:sp>
      <p:sp>
        <p:nvSpPr>
          <p:cNvPr id="5" name="stage 1 circle"/>
          <p:cNvSpPr/>
          <p:nvPr/>
        </p:nvSpPr>
        <p:spPr>
          <a:xfrm>
            <a:off x="548640" y="1810512"/>
            <a:ext cx="868680" cy="868680"/>
          </a:xfrm>
          <a:prstGeom prst="ellipse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stage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97" y="2036369"/>
            <a:ext cx="416966" cy="416966"/>
          </a:xfrm>
          <a:prstGeom prst="rect">
            <a:avLst/>
          </a:prstGeom>
        </p:spPr>
      </p:pic>
      <p:sp>
        <p:nvSpPr>
          <p:cNvPr id="7" name="stage 1 label"/>
          <p:cNvSpPr txBox="1"/>
          <p:nvPr/>
        </p:nvSpPr>
        <p:spPr>
          <a:xfrm>
            <a:off x="228600" y="277063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Ingest</a:t>
            </a:r>
            <a:endParaRPr lang="en-US" sz="1400" dirty="0"/>
          </a:p>
        </p:txBody>
      </p:sp>
      <p:sp>
        <p:nvSpPr>
          <p:cNvPr id="8" name="arrow 1"/>
          <p:cNvSpPr/>
          <p:nvPr/>
        </p:nvSpPr>
        <p:spPr>
          <a:xfrm>
            <a:off x="1490472" y="2240280"/>
            <a:ext cx="441525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tage 2 circle"/>
          <p:cNvSpPr/>
          <p:nvPr/>
        </p:nvSpPr>
        <p:spPr>
          <a:xfrm>
            <a:off x="2005149" y="1810512"/>
            <a:ext cx="868680" cy="868680"/>
          </a:xfrm>
          <a:prstGeom prst="ellipse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stage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1005" y="2036369"/>
            <a:ext cx="416966" cy="416966"/>
          </a:xfrm>
          <a:prstGeom prst="rect">
            <a:avLst/>
          </a:prstGeom>
        </p:spPr>
      </p:pic>
      <p:sp>
        <p:nvSpPr>
          <p:cNvPr id="11" name="stage 2 label"/>
          <p:cNvSpPr txBox="1"/>
          <p:nvPr/>
        </p:nvSpPr>
        <p:spPr>
          <a:xfrm>
            <a:off x="1685109" y="277063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Quality</a:t>
            </a:r>
            <a:endParaRPr lang="en-US" sz="1400" dirty="0"/>
          </a:p>
        </p:txBody>
      </p:sp>
      <p:sp>
        <p:nvSpPr>
          <p:cNvPr id="12" name="arrow 2"/>
          <p:cNvSpPr/>
          <p:nvPr/>
        </p:nvSpPr>
        <p:spPr>
          <a:xfrm>
            <a:off x="2946981" y="2240280"/>
            <a:ext cx="441525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tage 3 circle"/>
          <p:cNvSpPr/>
          <p:nvPr/>
        </p:nvSpPr>
        <p:spPr>
          <a:xfrm>
            <a:off x="3461657" y="1810512"/>
            <a:ext cx="868680" cy="868680"/>
          </a:xfrm>
          <a:prstGeom prst="ellipse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stage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7514" y="2036369"/>
            <a:ext cx="416966" cy="416966"/>
          </a:xfrm>
          <a:prstGeom prst="rect">
            <a:avLst/>
          </a:prstGeom>
        </p:spPr>
      </p:pic>
      <p:sp>
        <p:nvSpPr>
          <p:cNvPr id="15" name="stage 3 label"/>
          <p:cNvSpPr txBox="1"/>
          <p:nvPr/>
        </p:nvSpPr>
        <p:spPr>
          <a:xfrm>
            <a:off x="3141617" y="277063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Explore</a:t>
            </a:r>
            <a:endParaRPr lang="en-US" sz="1400" dirty="0"/>
          </a:p>
        </p:txBody>
      </p:sp>
      <p:sp>
        <p:nvSpPr>
          <p:cNvPr id="16" name="arrow 3"/>
          <p:cNvSpPr/>
          <p:nvPr/>
        </p:nvSpPr>
        <p:spPr>
          <a:xfrm>
            <a:off x="4403489" y="2240280"/>
            <a:ext cx="441525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tage 4 circle"/>
          <p:cNvSpPr/>
          <p:nvPr/>
        </p:nvSpPr>
        <p:spPr>
          <a:xfrm>
            <a:off x="4918166" y="1810512"/>
            <a:ext cx="868680" cy="868680"/>
          </a:xfrm>
          <a:prstGeom prst="ellipse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stage 4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4023" y="2036369"/>
            <a:ext cx="416966" cy="416966"/>
          </a:xfrm>
          <a:prstGeom prst="rect">
            <a:avLst/>
          </a:prstGeom>
        </p:spPr>
      </p:pic>
      <p:sp>
        <p:nvSpPr>
          <p:cNvPr id="19" name="stage 4 label"/>
          <p:cNvSpPr txBox="1"/>
          <p:nvPr/>
        </p:nvSpPr>
        <p:spPr>
          <a:xfrm>
            <a:off x="4598126" y="277063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Preprocess</a:t>
            </a:r>
            <a:endParaRPr lang="en-US" sz="1400" dirty="0"/>
          </a:p>
        </p:txBody>
      </p:sp>
      <p:sp>
        <p:nvSpPr>
          <p:cNvPr id="20" name="arrow 4"/>
          <p:cNvSpPr/>
          <p:nvPr/>
        </p:nvSpPr>
        <p:spPr>
          <a:xfrm>
            <a:off x="5859998" y="2240280"/>
            <a:ext cx="441525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tage 5 circle"/>
          <p:cNvSpPr/>
          <p:nvPr/>
        </p:nvSpPr>
        <p:spPr>
          <a:xfrm>
            <a:off x="6374674" y="1810512"/>
            <a:ext cx="868680" cy="868680"/>
          </a:xfrm>
          <a:prstGeom prst="ellipse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stage 5 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0531" y="2036369"/>
            <a:ext cx="416966" cy="416966"/>
          </a:xfrm>
          <a:prstGeom prst="rect">
            <a:avLst/>
          </a:prstGeom>
        </p:spPr>
      </p:pic>
      <p:sp>
        <p:nvSpPr>
          <p:cNvPr id="23" name="stage 5 label"/>
          <p:cNvSpPr txBox="1"/>
          <p:nvPr/>
        </p:nvSpPr>
        <p:spPr>
          <a:xfrm>
            <a:off x="6054634" y="277063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Train</a:t>
            </a:r>
            <a:endParaRPr lang="en-US" sz="1400" dirty="0"/>
          </a:p>
        </p:txBody>
      </p:sp>
      <p:sp>
        <p:nvSpPr>
          <p:cNvPr id="24" name="arrow 5"/>
          <p:cNvSpPr/>
          <p:nvPr/>
        </p:nvSpPr>
        <p:spPr>
          <a:xfrm>
            <a:off x="7316506" y="2240280"/>
            <a:ext cx="441525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tage 6 circle"/>
          <p:cNvSpPr/>
          <p:nvPr/>
        </p:nvSpPr>
        <p:spPr>
          <a:xfrm>
            <a:off x="7831183" y="1810512"/>
            <a:ext cx="868680" cy="868680"/>
          </a:xfrm>
          <a:prstGeom prst="ellipse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stage 6 icon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57040" y="2036369"/>
            <a:ext cx="416966" cy="416966"/>
          </a:xfrm>
          <a:prstGeom prst="rect">
            <a:avLst/>
          </a:prstGeom>
        </p:spPr>
      </p:pic>
      <p:sp>
        <p:nvSpPr>
          <p:cNvPr id="27" name="stage 6 label"/>
          <p:cNvSpPr txBox="1"/>
          <p:nvPr/>
        </p:nvSpPr>
        <p:spPr>
          <a:xfrm>
            <a:off x="7511143" y="277063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Score</a:t>
            </a:r>
            <a:endParaRPr lang="en-US" sz="1400" dirty="0"/>
          </a:p>
        </p:txBody>
      </p:sp>
      <p:sp>
        <p:nvSpPr>
          <p:cNvPr id="28" name="arrow 6"/>
          <p:cNvSpPr/>
          <p:nvPr/>
        </p:nvSpPr>
        <p:spPr>
          <a:xfrm>
            <a:off x="8773015" y="2240280"/>
            <a:ext cx="441525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tage 7 circle"/>
          <p:cNvSpPr/>
          <p:nvPr/>
        </p:nvSpPr>
        <p:spPr>
          <a:xfrm>
            <a:off x="9287691" y="1810512"/>
            <a:ext cx="868680" cy="868680"/>
          </a:xfrm>
          <a:prstGeom prst="ellipse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stage 7 icon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13548" y="2036369"/>
            <a:ext cx="416966" cy="416966"/>
          </a:xfrm>
          <a:prstGeom prst="rect">
            <a:avLst/>
          </a:prstGeom>
        </p:spPr>
      </p:pic>
      <p:sp>
        <p:nvSpPr>
          <p:cNvPr id="31" name="stage 7 label"/>
          <p:cNvSpPr txBox="1"/>
          <p:nvPr/>
        </p:nvSpPr>
        <p:spPr>
          <a:xfrm>
            <a:off x="8967651" y="277063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Verify</a:t>
            </a:r>
            <a:endParaRPr lang="en-US" sz="1400" dirty="0"/>
          </a:p>
        </p:txBody>
      </p:sp>
      <p:sp>
        <p:nvSpPr>
          <p:cNvPr id="32" name="arrow 7"/>
          <p:cNvSpPr/>
          <p:nvPr/>
        </p:nvSpPr>
        <p:spPr>
          <a:xfrm>
            <a:off x="10229523" y="2240280"/>
            <a:ext cx="441525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stage 8 circle"/>
          <p:cNvSpPr/>
          <p:nvPr/>
        </p:nvSpPr>
        <p:spPr>
          <a:xfrm>
            <a:off x="10744200" y="1810512"/>
            <a:ext cx="868680" cy="8686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stage 8 icon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0057" y="2036369"/>
            <a:ext cx="416966" cy="416966"/>
          </a:xfrm>
          <a:prstGeom prst="rect">
            <a:avLst/>
          </a:prstGeom>
        </p:spPr>
      </p:pic>
      <p:sp>
        <p:nvSpPr>
          <p:cNvPr id="35" name="stage 8 label"/>
          <p:cNvSpPr txBox="1"/>
          <p:nvPr/>
        </p:nvSpPr>
        <p:spPr>
          <a:xfrm>
            <a:off x="10424160" y="277063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Dashboard</a:t>
            </a:r>
            <a:endParaRPr lang="en-US" sz="1400" dirty="0"/>
          </a:p>
        </p:txBody>
      </p:sp>
      <p:sp>
        <p:nvSpPr>
          <p:cNvPr id="36" name="command"/>
          <p:cNvSpPr txBox="1"/>
          <p:nvPr/>
        </p:nvSpPr>
        <p:spPr>
          <a:xfrm>
            <a:off x="3566160" y="3246120"/>
            <a:ext cx="5029200" cy="384048"/>
          </a:xfrm>
          <a:prstGeom prst="rect">
            <a:avLst/>
          </a:prstGeom>
          <a:solidFill>
            <a:srgbClr val="EEF2F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fraud_pipeline.run_all</a:t>
            </a:r>
            <a:endParaRPr lang="en-US" sz="1400" dirty="0"/>
          </a:p>
        </p:txBody>
      </p:sp>
      <p:sp>
        <p:nvSpPr>
          <p:cNvPr id="37" name="stat card 1"/>
          <p:cNvSpPr/>
          <p:nvPr/>
        </p:nvSpPr>
        <p:spPr>
          <a:xfrm>
            <a:off x="548640" y="3977640"/>
            <a:ext cx="3474720" cy="2057400"/>
          </a:xfrm>
          <a:prstGeom prst="roundRect">
            <a:avLst>
              <a:gd name="adj" fmla="val 5333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tat 1 value"/>
          <p:cNvSpPr txBox="1"/>
          <p:nvPr/>
        </p:nvSpPr>
        <p:spPr>
          <a:xfrm>
            <a:off x="822960" y="41605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1,852,394</a:t>
            </a:r>
            <a:endParaRPr lang="en-US" sz="3600" dirty="0"/>
          </a:p>
        </p:txBody>
      </p:sp>
      <p:sp>
        <p:nvSpPr>
          <p:cNvPr id="39" name="stat 1 label"/>
          <p:cNvSpPr txBox="1"/>
          <p:nvPr/>
        </p:nvSpPr>
        <p:spPr>
          <a:xfrm>
            <a:off x="822960" y="4846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transactions processed</a:t>
            </a:r>
            <a:endParaRPr lang="en-US" sz="1600" dirty="0"/>
          </a:p>
        </p:txBody>
      </p:sp>
      <p:sp>
        <p:nvSpPr>
          <p:cNvPr id="40" name="stat 1 detail"/>
          <p:cNvSpPr txBox="1"/>
          <p:nvPr/>
        </p:nvSpPr>
        <p:spPr>
          <a:xfrm>
            <a:off x="822960" y="523036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Validated against a 12-check data contract; zero rows lost</a:t>
            </a:r>
            <a:endParaRPr lang="en-US" sz="1300" dirty="0"/>
          </a:p>
        </p:txBody>
      </p:sp>
      <p:sp>
        <p:nvSpPr>
          <p:cNvPr id="41" name="stat card 2"/>
          <p:cNvSpPr/>
          <p:nvPr/>
        </p:nvSpPr>
        <p:spPr>
          <a:xfrm>
            <a:off x="4343400" y="3977640"/>
            <a:ext cx="3474720" cy="2057400"/>
          </a:xfrm>
          <a:prstGeom prst="roundRect">
            <a:avLst>
              <a:gd name="adj" fmla="val 5333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tat 2 value"/>
          <p:cNvSpPr txBox="1"/>
          <p:nvPr/>
        </p:nvSpPr>
        <p:spPr>
          <a:xfrm>
            <a:off x="4617720" y="41605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 / 48</a:t>
            </a:r>
            <a:endParaRPr lang="en-US" sz="3600" dirty="0"/>
          </a:p>
        </p:txBody>
      </p:sp>
      <p:sp>
        <p:nvSpPr>
          <p:cNvPr id="43" name="stat 2 label"/>
          <p:cNvSpPr txBox="1"/>
          <p:nvPr/>
        </p:nvSpPr>
        <p:spPr>
          <a:xfrm>
            <a:off x="4617720" y="4846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verification checks pass</a:t>
            </a:r>
            <a:endParaRPr lang="en-US" sz="1600" dirty="0"/>
          </a:p>
        </p:txBody>
      </p:sp>
      <p:sp>
        <p:nvSpPr>
          <p:cNvPr id="44" name="stat 2 detail"/>
          <p:cNvSpPr txBox="1"/>
          <p:nvPr/>
        </p:nvSpPr>
        <p:spPr>
          <a:xfrm>
            <a:off x="4617720" y="523036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Every stage cross-checked against every other, end to end</a:t>
            </a:r>
            <a:endParaRPr lang="en-US" sz="1300" dirty="0"/>
          </a:p>
        </p:txBody>
      </p:sp>
      <p:sp>
        <p:nvSpPr>
          <p:cNvPr id="45" name="stat card 3"/>
          <p:cNvSpPr/>
          <p:nvPr/>
        </p:nvSpPr>
        <p:spPr>
          <a:xfrm>
            <a:off x="8138160" y="3977640"/>
            <a:ext cx="3474720" cy="2057400"/>
          </a:xfrm>
          <a:prstGeom prst="roundRect">
            <a:avLst>
              <a:gd name="adj" fmla="val 5333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tat 3 value"/>
          <p:cNvSpPr txBox="1"/>
          <p:nvPr/>
        </p:nvSpPr>
        <p:spPr>
          <a:xfrm>
            <a:off x="8412480" y="41605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</a:t>
            </a:r>
            <a:endParaRPr lang="en-US" sz="3600" dirty="0"/>
          </a:p>
        </p:txBody>
      </p:sp>
      <p:sp>
        <p:nvSpPr>
          <p:cNvPr id="47" name="stat 3 label"/>
          <p:cNvSpPr txBox="1"/>
          <p:nvPr/>
        </p:nvSpPr>
        <p:spPr>
          <a:xfrm>
            <a:off x="8412480" y="4846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match on re-scoring</a:t>
            </a:r>
            <a:endParaRPr lang="en-US" sz="1600" dirty="0"/>
          </a:p>
        </p:txBody>
      </p:sp>
      <p:sp>
        <p:nvSpPr>
          <p:cNvPr id="48" name="stat 3 detail"/>
          <p:cNvSpPr txBox="1"/>
          <p:nvPr/>
        </p:nvSpPr>
        <p:spPr>
          <a:xfrm>
            <a:off x="8412480" y="523036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Saved model re-scored independently: every reported metric matched</a:t>
            </a:r>
            <a:endParaRPr lang="en-US" sz="130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pill"/>
          <p:cNvSpPr/>
          <p:nvPr/>
        </p:nvSpPr>
        <p:spPr>
          <a:xfrm>
            <a:off x="548640" y="347472"/>
            <a:ext cx="265176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ection pill text"/>
          <p:cNvSpPr txBox="1"/>
          <p:nvPr/>
        </p:nvSpPr>
        <p:spPr>
          <a:xfrm>
            <a:off x="548640" y="3474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ANALYTICS &amp; ML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follows learnable patterns</a:t>
            </a:r>
            <a:endParaRPr lang="en-US" sz="3400" dirty="0"/>
          </a:p>
        </p:txBody>
      </p:sp>
      <p:graphicFrame>
        <p:nvGraphicFramePr>
          <p:cNvPr id="5" name="hourly fraud chart"/>
          <p:cNvGraphicFramePr/>
          <p:nvPr/>
        </p:nvGraphicFramePr>
        <p:xfrm>
          <a:off x="548640" y="1645920"/>
          <a:ext cx="64008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finding card 1"/>
          <p:cNvSpPr/>
          <p:nvPr/>
        </p:nvSpPr>
        <p:spPr>
          <a:xfrm>
            <a:off x="7269480" y="1645920"/>
            <a:ext cx="2103120" cy="2103120"/>
          </a:xfrm>
          <a:prstGeom prst="roundRect">
            <a:avLst>
              <a:gd name="adj" fmla="val 5217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finding 1 value"/>
          <p:cNvSpPr txBox="1"/>
          <p:nvPr/>
        </p:nvSpPr>
        <p:spPr>
          <a:xfrm>
            <a:off x="7452360" y="18288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84.8%</a:t>
            </a:r>
            <a:endParaRPr lang="en-US" sz="3200" dirty="0"/>
          </a:p>
        </p:txBody>
      </p:sp>
      <p:sp>
        <p:nvSpPr>
          <p:cNvPr id="8" name="finding 1 text"/>
          <p:cNvSpPr txBox="1"/>
          <p:nvPr/>
        </p:nvSpPr>
        <p:spPr>
          <a:xfrm>
            <a:off x="7452360" y="251460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of fraud happens between 22:00 and 04:00</a:t>
            </a:r>
            <a:endParaRPr lang="en-US" sz="1300" dirty="0"/>
          </a:p>
        </p:txBody>
      </p:sp>
      <p:sp>
        <p:nvSpPr>
          <p:cNvPr id="9" name="finding card 2"/>
          <p:cNvSpPr/>
          <p:nvPr/>
        </p:nvSpPr>
        <p:spPr>
          <a:xfrm>
            <a:off x="9509760" y="1645920"/>
            <a:ext cx="2103120" cy="2103120"/>
          </a:xfrm>
          <a:prstGeom prst="roundRect">
            <a:avLst>
              <a:gd name="adj" fmla="val 5217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finding 2 value"/>
          <p:cNvSpPr txBox="1"/>
          <p:nvPr/>
        </p:nvSpPr>
        <p:spPr>
          <a:xfrm>
            <a:off x="9692640" y="18288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27.6%</a:t>
            </a:r>
            <a:endParaRPr lang="en-US" sz="3200" dirty="0"/>
          </a:p>
        </p:txBody>
      </p:sp>
      <p:sp>
        <p:nvSpPr>
          <p:cNvPr id="11" name="finding 2 text"/>
          <p:cNvSpPr txBox="1"/>
          <p:nvPr/>
        </p:nvSpPr>
        <p:spPr>
          <a:xfrm>
            <a:off x="9692640" y="251460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fraud rate when the amount is &gt;10× the card's usual (vs 0.58% overall)</a:t>
            </a:r>
            <a:endParaRPr lang="en-US" sz="1300" dirty="0"/>
          </a:p>
        </p:txBody>
      </p:sp>
      <p:sp>
        <p:nvSpPr>
          <p:cNvPr id="12" name="finding card 3"/>
          <p:cNvSpPr/>
          <p:nvPr/>
        </p:nvSpPr>
        <p:spPr>
          <a:xfrm>
            <a:off x="7269480" y="3931920"/>
            <a:ext cx="2103120" cy="2103120"/>
          </a:xfrm>
          <a:prstGeom prst="roundRect">
            <a:avLst>
              <a:gd name="adj" fmla="val 5217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finding 3 value"/>
          <p:cNvSpPr txBox="1"/>
          <p:nvPr/>
        </p:nvSpPr>
        <p:spPr>
          <a:xfrm>
            <a:off x="7452360" y="41148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h</a:t>
            </a:r>
            <a:endParaRPr lang="en-US" sz="3200" dirty="0"/>
          </a:p>
        </p:txBody>
      </p:sp>
      <p:sp>
        <p:nvSpPr>
          <p:cNvPr id="14" name="finding 3 text"/>
          <p:cNvSpPr txBox="1"/>
          <p:nvPr/>
        </p:nvSpPr>
        <p:spPr>
          <a:xfrm>
            <a:off x="7452360" y="480060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median window holding all fraud on a card</a:t>
            </a:r>
            <a:endParaRPr lang="en-US" sz="1300" dirty="0"/>
          </a:p>
        </p:txBody>
      </p:sp>
      <p:sp>
        <p:nvSpPr>
          <p:cNvPr id="15" name="finding card 4"/>
          <p:cNvSpPr/>
          <p:nvPr/>
        </p:nvSpPr>
        <p:spPr>
          <a:xfrm>
            <a:off x="9509760" y="3931920"/>
            <a:ext cx="2103120" cy="2103120"/>
          </a:xfrm>
          <a:prstGeom prst="roundRect">
            <a:avLst>
              <a:gd name="adj" fmla="val 5217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finding 4 value"/>
          <p:cNvSpPr txBox="1"/>
          <p:nvPr/>
        </p:nvSpPr>
        <p:spPr>
          <a:xfrm>
            <a:off x="9692640" y="41148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76%</a:t>
            </a:r>
            <a:endParaRPr lang="en-US" sz="3200" dirty="0"/>
          </a:p>
        </p:txBody>
      </p:sp>
      <p:sp>
        <p:nvSpPr>
          <p:cNvPr id="17" name="finding 4 text"/>
          <p:cNvSpPr txBox="1"/>
          <p:nvPr/>
        </p:nvSpPr>
        <p:spPr>
          <a:xfrm>
            <a:off x="9692640" y="480060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of fraud sits in amount outliers, so we kept them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pill"/>
          <p:cNvSpPr/>
          <p:nvPr/>
        </p:nvSpPr>
        <p:spPr>
          <a:xfrm>
            <a:off x="548640" y="347472"/>
            <a:ext cx="2651760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ection pill text"/>
          <p:cNvSpPr txBox="1"/>
          <p:nvPr/>
        </p:nvSpPr>
        <p:spPr>
          <a:xfrm>
            <a:off x="548640" y="3474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SYSTEM DEMO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dashboard turns scores into decisions</a:t>
            </a:r>
            <a:endParaRPr lang="en-US" sz="3400" dirty="0"/>
          </a:p>
        </p:txBody>
      </p:sp>
      <p:sp>
        <p:nvSpPr>
          <p:cNvPr id="5" name="live pill"/>
          <p:cNvSpPr/>
          <p:nvPr/>
        </p:nvSpPr>
        <p:spPr>
          <a:xfrm>
            <a:off x="10012680" y="347472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live pill text"/>
          <p:cNvSpPr txBox="1"/>
          <p:nvPr/>
        </p:nvSpPr>
        <p:spPr>
          <a:xfrm>
            <a:off x="10012680" y="3474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●  LIVE DEMO</a:t>
            </a:r>
            <a:endParaRPr lang="en-US" sz="1100" dirty="0"/>
          </a:p>
        </p:txBody>
      </p:sp>
      <p:sp>
        <p:nvSpPr>
          <p:cNvPr id="7" name="view card 1"/>
          <p:cNvSpPr/>
          <p:nvPr/>
        </p:nvSpPr>
        <p:spPr>
          <a:xfrm>
            <a:off x="548640" y="1691640"/>
            <a:ext cx="3474720" cy="44348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blurRad="101600" dist="25400" dir="5400000" algn="bl" rotWithShape="0">
              <a:srgbClr val="1B2A4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view 1 circle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view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2132381"/>
            <a:ext cx="307238" cy="307238"/>
          </a:xfrm>
          <a:prstGeom prst="rect">
            <a:avLst/>
          </a:prstGeom>
        </p:spPr>
      </p:pic>
      <p:sp>
        <p:nvSpPr>
          <p:cNvPr id="10" name="view 1 name"/>
          <p:cNvSpPr txBox="1"/>
          <p:nvPr/>
        </p:nvSpPr>
        <p:spPr>
          <a:xfrm>
            <a:off x="1600200" y="2011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1  Overview</a:t>
            </a:r>
            <a:endParaRPr lang="en-US" sz="1800" dirty="0"/>
          </a:p>
        </p:txBody>
      </p:sp>
      <p:sp>
        <p:nvSpPr>
          <p:cNvPr id="11" name="view 1 value"/>
          <p:cNvSpPr txBox="1"/>
          <p:nvPr/>
        </p:nvSpPr>
        <p:spPr>
          <a:xfrm>
            <a:off x="822960" y="28346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2,282</a:t>
            </a:r>
            <a:endParaRPr lang="en-US" sz="3800" dirty="0"/>
          </a:p>
        </p:txBody>
      </p:sp>
      <p:sp>
        <p:nvSpPr>
          <p:cNvPr id="12" name="view 1 value label"/>
          <p:cNvSpPr txBox="1"/>
          <p:nvPr/>
        </p:nvSpPr>
        <p:spPr>
          <a:xfrm>
            <a:off x="822960" y="3566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alerts over 6 months (11.8 a day)</a:t>
            </a:r>
            <a:endParaRPr lang="en-US" sz="1400" dirty="0"/>
          </a:p>
        </p:txBody>
      </p:sp>
      <p:sp>
        <p:nvSpPr>
          <p:cNvPr id="13" name="view 1 line 1"/>
          <p:cNvSpPr txBox="1"/>
          <p:nvPr/>
        </p:nvSpPr>
        <p:spPr>
          <a:xfrm>
            <a:off x="822960" y="42062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9F8E"/>
                </a:solidFill>
              </a:rPr>
              <a:t>89.0%  </a:t>
            </a:r>
            <a:r>
              <a:rPr lang="en-US" sz="1800" dirty="0">
                <a:solidFill>
                  <a:srgbClr val="1B2A41"/>
                </a:solidFill>
              </a:rPr>
              <a:t>precision</a:t>
            </a:r>
            <a:endParaRPr lang="en-US" sz="1800" dirty="0"/>
          </a:p>
        </p:txBody>
      </p:sp>
      <p:sp>
        <p:nvSpPr>
          <p:cNvPr id="14" name="view 1 line 2"/>
          <p:cNvSpPr txBox="1"/>
          <p:nvPr/>
        </p:nvSpPr>
        <p:spPr>
          <a:xfrm>
            <a:off x="822960" y="4709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9F8E"/>
                </a:solidFill>
              </a:rPr>
              <a:t>94.7%  </a:t>
            </a:r>
            <a:r>
              <a:rPr lang="en-US" sz="1800" dirty="0">
                <a:solidFill>
                  <a:srgbClr val="1B2A41"/>
                </a:solidFill>
              </a:rPr>
              <a:t>recall</a:t>
            </a:r>
            <a:endParaRPr lang="en-US" sz="1800" dirty="0"/>
          </a:p>
        </p:txBody>
      </p:sp>
      <p:sp>
        <p:nvSpPr>
          <p:cNvPr id="15" name="view 1 line 3"/>
          <p:cNvSpPr txBox="1"/>
          <p:nvPr/>
        </p:nvSpPr>
        <p:spPr>
          <a:xfrm>
            <a:off x="822960" y="52120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9F8E"/>
                </a:solidFill>
              </a:rPr>
              <a:t>$967K  </a:t>
            </a:r>
            <a:r>
              <a:rPr lang="en-US" sz="1800" dirty="0">
                <a:solidFill>
                  <a:srgbClr val="1B2A41"/>
                </a:solidFill>
              </a:rPr>
              <a:t>net benefit</a:t>
            </a:r>
            <a:endParaRPr lang="en-US" sz="1800" dirty="0"/>
          </a:p>
        </p:txBody>
      </p:sp>
      <p:sp>
        <p:nvSpPr>
          <p:cNvPr id="16" name="view card 2"/>
          <p:cNvSpPr/>
          <p:nvPr/>
        </p:nvSpPr>
        <p:spPr>
          <a:xfrm>
            <a:off x="4343400" y="1691640"/>
            <a:ext cx="3474720" cy="44348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blurRad="101600" dist="25400" dir="5400000" algn="bl" rotWithShape="0">
              <a:srgbClr val="1B2A4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view 2 circle"/>
          <p:cNvSpPr/>
          <p:nvPr/>
        </p:nvSpPr>
        <p:spPr>
          <a:xfrm>
            <a:off x="4617720" y="1965960"/>
            <a:ext cx="640080" cy="640080"/>
          </a:xfrm>
          <a:prstGeom prst="ellipse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view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4141" y="2132381"/>
            <a:ext cx="307238" cy="307238"/>
          </a:xfrm>
          <a:prstGeom prst="rect">
            <a:avLst/>
          </a:prstGeom>
        </p:spPr>
      </p:pic>
      <p:sp>
        <p:nvSpPr>
          <p:cNvPr id="19" name="view 2 name"/>
          <p:cNvSpPr txBox="1"/>
          <p:nvPr/>
        </p:nvSpPr>
        <p:spPr>
          <a:xfrm>
            <a:off x="5394960" y="2011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2  Alert queue</a:t>
            </a:r>
            <a:endParaRPr lang="en-US" sz="1800" dirty="0"/>
          </a:p>
        </p:txBody>
      </p:sp>
      <p:sp>
        <p:nvSpPr>
          <p:cNvPr id="20" name="view 2 value"/>
          <p:cNvSpPr txBox="1"/>
          <p:nvPr/>
        </p:nvSpPr>
        <p:spPr>
          <a:xfrm>
            <a:off x="4617720" y="28346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card</a:t>
            </a:r>
            <a:endParaRPr lang="en-US" sz="3800" dirty="0"/>
          </a:p>
        </p:txBody>
      </p:sp>
      <p:sp>
        <p:nvSpPr>
          <p:cNvPr id="21" name="view 2 value label"/>
          <p:cNvSpPr txBox="1"/>
          <p:nvPr/>
        </p:nvSpPr>
        <p:spPr>
          <a:xfrm>
            <a:off x="4617720" y="3566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fraud arrives in ~45-hour bursts</a:t>
            </a:r>
            <a:endParaRPr lang="en-US" sz="1400" dirty="0"/>
          </a:p>
        </p:txBody>
      </p:sp>
      <p:sp>
        <p:nvSpPr>
          <p:cNvPr id="22" name="reason tag 1"/>
          <p:cNvSpPr/>
          <p:nvPr/>
        </p:nvSpPr>
        <p:spPr>
          <a:xfrm>
            <a:off x="4617720" y="420624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reason tag 1 text"/>
          <p:cNvSpPr txBox="1"/>
          <p:nvPr/>
        </p:nvSpPr>
        <p:spPr>
          <a:xfrm>
            <a:off x="4617720" y="42062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Amount far above usual</a:t>
            </a:r>
            <a:endParaRPr lang="en-US" sz="1300" dirty="0"/>
          </a:p>
        </p:txBody>
      </p:sp>
      <p:sp>
        <p:nvSpPr>
          <p:cNvPr id="24" name="reason tag 2"/>
          <p:cNvSpPr/>
          <p:nvPr/>
        </p:nvSpPr>
        <p:spPr>
          <a:xfrm>
            <a:off x="4617720" y="466344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reason tag 2 text"/>
          <p:cNvSpPr txBox="1"/>
          <p:nvPr/>
        </p:nvSpPr>
        <p:spPr>
          <a:xfrm>
            <a:off x="4617720" y="46634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Night-time</a:t>
            </a:r>
            <a:endParaRPr lang="en-US" sz="1300" dirty="0"/>
          </a:p>
        </p:txBody>
      </p:sp>
      <p:sp>
        <p:nvSpPr>
          <p:cNvPr id="26" name="reason tag 3"/>
          <p:cNvSpPr/>
          <p:nvPr/>
        </p:nvSpPr>
        <p:spPr>
          <a:xfrm>
            <a:off x="4617720" y="512064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reason tag 3 text"/>
          <p:cNvSpPr txBox="1"/>
          <p:nvPr/>
        </p:nvSpPr>
        <p:spPr>
          <a:xfrm>
            <a:off x="4617720" y="51206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High-risk category</a:t>
            </a:r>
            <a:endParaRPr lang="en-US" sz="1300" dirty="0"/>
          </a:p>
        </p:txBody>
      </p:sp>
      <p:sp>
        <p:nvSpPr>
          <p:cNvPr id="28" name="reason tag 4"/>
          <p:cNvSpPr/>
          <p:nvPr/>
        </p:nvSpPr>
        <p:spPr>
          <a:xfrm>
            <a:off x="4617720" y="557784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reason tag 4 text"/>
          <p:cNvSpPr txBox="1"/>
          <p:nvPr/>
        </p:nvSpPr>
        <p:spPr>
          <a:xfrm>
            <a:off x="4617720" y="55778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Burst of activity</a:t>
            </a:r>
            <a:endParaRPr lang="en-US" sz="1300" dirty="0"/>
          </a:p>
        </p:txBody>
      </p:sp>
      <p:sp>
        <p:nvSpPr>
          <p:cNvPr id="30" name="view card 3"/>
          <p:cNvSpPr/>
          <p:nvPr/>
        </p:nvSpPr>
        <p:spPr>
          <a:xfrm>
            <a:off x="8138160" y="1691640"/>
            <a:ext cx="3474720" cy="44348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blurRad="101600" dist="25400" dir="5400000" algn="bl" rotWithShape="0">
              <a:srgbClr val="1B2A4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view 3 circle"/>
          <p:cNvSpPr/>
          <p:nvPr/>
        </p:nvSpPr>
        <p:spPr>
          <a:xfrm>
            <a:off x="8412480" y="1965960"/>
            <a:ext cx="640080" cy="640080"/>
          </a:xfrm>
          <a:prstGeom prst="ellipse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view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8901" y="2132381"/>
            <a:ext cx="307238" cy="307238"/>
          </a:xfrm>
          <a:prstGeom prst="rect">
            <a:avLst/>
          </a:prstGeom>
        </p:spPr>
      </p:pic>
      <p:sp>
        <p:nvSpPr>
          <p:cNvPr id="33" name="view 3 name"/>
          <p:cNvSpPr txBox="1"/>
          <p:nvPr/>
        </p:nvSpPr>
        <p:spPr>
          <a:xfrm>
            <a:off x="9189720" y="2011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3  Threshold &amp; cost</a:t>
            </a:r>
            <a:endParaRPr lang="en-US" sz="1800" dirty="0"/>
          </a:p>
        </p:txBody>
      </p:sp>
      <p:sp>
        <p:nvSpPr>
          <p:cNvPr id="34" name="view 3 value"/>
          <p:cNvSpPr txBox="1"/>
          <p:nvPr/>
        </p:nvSpPr>
        <p:spPr>
          <a:xfrm>
            <a:off x="8412480" y="28346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$2.65</a:t>
            </a:r>
            <a:endParaRPr lang="en-US" sz="3800" dirty="0"/>
          </a:p>
        </p:txBody>
      </p:sp>
      <p:sp>
        <p:nvSpPr>
          <p:cNvPr id="35" name="view 3 value label"/>
          <p:cNvSpPr txBox="1"/>
          <p:nvPr/>
        </p:nvSpPr>
        <p:spPr>
          <a:xfrm>
            <a:off x="8412480" y="3566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break-even cost per review</a:t>
            </a:r>
            <a:endParaRPr lang="en-US" sz="1400" dirty="0"/>
          </a:p>
        </p:txBody>
      </p:sp>
      <p:sp>
        <p:nvSpPr>
          <p:cNvPr id="36" name="view 3 text"/>
          <p:cNvSpPr txBox="1"/>
          <p:nvPr/>
        </p:nvSpPr>
        <p:spPr>
          <a:xfrm>
            <a:off x="8412480" y="42062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Move the threshold and watch precision, recall and net benefit update for any filter.</a:t>
            </a:r>
            <a:endParaRPr lang="en-US" sz="1600" dirty="0"/>
          </a:p>
        </p:txBody>
      </p:sp>
      <p:sp>
        <p:nvSpPr>
          <p:cNvPr id="37" name="slider track"/>
          <p:cNvSpPr/>
          <p:nvPr/>
        </p:nvSpPr>
        <p:spPr>
          <a:xfrm>
            <a:off x="8412480" y="5394960"/>
            <a:ext cx="2926080" cy="109728"/>
          </a:xfrm>
          <a:prstGeom prst="roundRect">
            <a:avLst>
              <a:gd name="adj" fmla="val 50000"/>
            </a:avLst>
          </a:prstGeom>
          <a:solidFill>
            <a:srgbClr val="D9E1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lider fill"/>
          <p:cNvSpPr/>
          <p:nvPr/>
        </p:nvSpPr>
        <p:spPr>
          <a:xfrm>
            <a:off x="8412480" y="5394960"/>
            <a:ext cx="1814170" cy="10972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lider knob"/>
          <p:cNvSpPr/>
          <p:nvPr/>
        </p:nvSpPr>
        <p:spPr>
          <a:xfrm>
            <a:off x="10080346" y="5303520"/>
            <a:ext cx="292608" cy="292608"/>
          </a:xfrm>
          <a:prstGeom prst="ellipse">
            <a:avLst/>
          </a:prstGeom>
          <a:solidFill>
            <a:srgbClr val="0F1B2D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lider left label"/>
          <p:cNvSpPr txBox="1"/>
          <p:nvPr/>
        </p:nvSpPr>
        <p:spPr>
          <a:xfrm>
            <a:off x="8412480" y="56418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more fraud caught</a:t>
            </a:r>
            <a:endParaRPr lang="en-US" sz="1100" dirty="0"/>
          </a:p>
        </p:txBody>
      </p:sp>
      <p:sp>
        <p:nvSpPr>
          <p:cNvPr id="41" name="slider right label"/>
          <p:cNvSpPr txBox="1"/>
          <p:nvPr/>
        </p:nvSpPr>
        <p:spPr>
          <a:xfrm>
            <a:off x="9875520" y="56418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chemeClr val="accent6"/>
                </a:solidFill>
              </a:rPr>
              <a:t>fewer alerts</a:t>
            </a:r>
            <a:endParaRPr lang="en-US" sz="11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pill"/>
          <p:cNvSpPr/>
          <p:nvPr/>
        </p:nvSpPr>
        <p:spPr>
          <a:xfrm>
            <a:off x="548640" y="347472"/>
            <a:ext cx="265176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ection pill text"/>
          <p:cNvSpPr txBox="1"/>
          <p:nvPr/>
        </p:nvSpPr>
        <p:spPr>
          <a:xfrm>
            <a:off x="548640" y="3474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ANALYTICS &amp; ML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models, one honest test</a:t>
            </a:r>
            <a:endParaRPr lang="en-US" sz="3400" dirty="0"/>
          </a:p>
        </p:txBody>
      </p:sp>
      <p:sp>
        <p:nvSpPr>
          <p:cNvPr id="5" name="timeline Fit"/>
          <p:cNvSpPr/>
          <p:nvPr/>
        </p:nvSpPr>
        <p:spPr>
          <a:xfrm>
            <a:off x="548640" y="2011680"/>
            <a:ext cx="7523683" cy="457200"/>
          </a:xfrm>
          <a:prstGeom prst="rect">
            <a:avLst/>
          </a:prstGeom>
          <a:solidFill>
            <a:srgbClr val="3B5B8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imeline Fit label"/>
          <p:cNvSpPr txBox="1"/>
          <p:nvPr/>
        </p:nvSpPr>
        <p:spPr>
          <a:xfrm>
            <a:off x="548640" y="1600200"/>
            <a:ext cx="75236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1"/>
                </a:solidFill>
              </a:rPr>
              <a:t>Fit</a:t>
            </a:r>
            <a:endParaRPr lang="en-US" sz="1500" dirty="0"/>
          </a:p>
        </p:txBody>
      </p:sp>
      <p:sp>
        <p:nvSpPr>
          <p:cNvPr id="7" name="timeline Fit detail"/>
          <p:cNvSpPr txBox="1"/>
          <p:nvPr/>
        </p:nvSpPr>
        <p:spPr>
          <a:xfrm>
            <a:off x="685800" y="2011680"/>
            <a:ext cx="72493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Train: Jan 2019 – May 2020</a:t>
            </a:r>
            <a:endParaRPr lang="en-US" sz="1300" dirty="0"/>
          </a:p>
        </p:txBody>
      </p:sp>
      <p:sp>
        <p:nvSpPr>
          <p:cNvPr id="8" name="timeline Select"/>
          <p:cNvSpPr/>
          <p:nvPr/>
        </p:nvSpPr>
        <p:spPr>
          <a:xfrm>
            <a:off x="8072323" y="2011680"/>
            <a:ext cx="663854" cy="457200"/>
          </a:xfrm>
          <a:prstGeom prst="rect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imeline Report once"/>
          <p:cNvSpPr/>
          <p:nvPr/>
        </p:nvSpPr>
        <p:spPr>
          <a:xfrm>
            <a:off x="8736178" y="2011680"/>
            <a:ext cx="2876702" cy="457200"/>
          </a:xfrm>
          <a:prstGeom prst="rect">
            <a:avLst/>
          </a:prstGeom>
          <a:solidFill>
            <a:srgbClr val="0E9F8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imeline Report once label"/>
          <p:cNvSpPr txBox="1"/>
          <p:nvPr/>
        </p:nvSpPr>
        <p:spPr>
          <a:xfrm>
            <a:off x="8736178" y="1600200"/>
            <a:ext cx="28767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1"/>
                </a:solidFill>
              </a:rPr>
              <a:t>Report once</a:t>
            </a:r>
            <a:endParaRPr lang="en-US" sz="1500" dirty="0"/>
          </a:p>
        </p:txBody>
      </p:sp>
      <p:sp>
        <p:nvSpPr>
          <p:cNvPr id="11" name="timeline Report once detail"/>
          <p:cNvSpPr txBox="1"/>
          <p:nvPr/>
        </p:nvSpPr>
        <p:spPr>
          <a:xfrm>
            <a:off x="8873338" y="2011680"/>
            <a:ext cx="26023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Test: Jun – Dec 2020</a:t>
            </a:r>
            <a:endParaRPr lang="en-US" sz="1300" dirty="0"/>
          </a:p>
        </p:txBody>
      </p:sp>
      <p:sp>
        <p:nvSpPr>
          <p:cNvPr id="12" name="validation detail"/>
          <p:cNvSpPr txBox="1"/>
          <p:nvPr/>
        </p:nvSpPr>
        <p:spPr>
          <a:xfrm>
            <a:off x="6700723" y="25420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1"/>
                </a:solidFill>
              </a:rPr>
              <a:t>Select</a:t>
            </a:r>
            <a:r>
              <a:rPr lang="en-US" sz="1300" dirty="0">
                <a:solidFill>
                  <a:srgbClr val="64748B"/>
                </a:solidFill>
              </a:rPr>
              <a:t>  on 6 weeks of validation</a:t>
            </a:r>
            <a:endParaRPr lang="en-US" sz="1300" dirty="0"/>
          </a:p>
        </p:txBody>
      </p:sp>
      <p:graphicFrame>
        <p:nvGraphicFramePr>
          <p:cNvPr id="13" name="model comparison chart"/>
          <p:cNvGraphicFramePr/>
          <p:nvPr/>
        </p:nvGraphicFramePr>
        <p:xfrm>
          <a:off x="548640" y="3017520"/>
          <a:ext cx="658368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fact 1 circle"/>
          <p:cNvSpPr/>
          <p:nvPr/>
        </p:nvSpPr>
        <p:spPr>
          <a:xfrm>
            <a:off x="7498080" y="3154680"/>
            <a:ext cx="640080" cy="640080"/>
          </a:xfrm>
          <a:prstGeom prst="ellipse">
            <a:avLst/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fact 1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501" y="3321101"/>
            <a:ext cx="307238" cy="307238"/>
          </a:xfrm>
          <a:prstGeom prst="rect">
            <a:avLst/>
          </a:prstGeom>
        </p:spPr>
      </p:pic>
      <p:sp>
        <p:nvSpPr>
          <p:cNvPr id="16" name="fact 1 head"/>
          <p:cNvSpPr txBox="1"/>
          <p:nvPr/>
        </p:nvSpPr>
        <p:spPr>
          <a:xfrm>
            <a:off x="8321040" y="311810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Class weights only</a:t>
            </a:r>
            <a:endParaRPr lang="en-US" sz="1600" dirty="0"/>
          </a:p>
        </p:txBody>
      </p:sp>
      <p:sp>
        <p:nvSpPr>
          <p:cNvPr id="17" name="fact 1 text"/>
          <p:cNvSpPr txBox="1"/>
          <p:nvPr/>
        </p:nvSpPr>
        <p:spPr>
          <a:xfrm>
            <a:off x="8321040" y="346557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Fraud weighted ~172×. No SMOTE, no resampling of any split.</a:t>
            </a:r>
            <a:endParaRPr lang="en-US" sz="1300" dirty="0"/>
          </a:p>
        </p:txBody>
      </p:sp>
      <p:sp>
        <p:nvSpPr>
          <p:cNvPr id="18" name="fact 2 circle"/>
          <p:cNvSpPr/>
          <p:nvPr/>
        </p:nvSpPr>
        <p:spPr>
          <a:xfrm>
            <a:off x="7498080" y="4178808"/>
            <a:ext cx="640080" cy="640080"/>
          </a:xfrm>
          <a:prstGeom prst="ellipse">
            <a:avLst/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fact 2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4501" y="4345229"/>
            <a:ext cx="307238" cy="307238"/>
          </a:xfrm>
          <a:prstGeom prst="rect">
            <a:avLst/>
          </a:prstGeom>
        </p:spPr>
      </p:pic>
      <p:sp>
        <p:nvSpPr>
          <p:cNvPr id="20" name="fact 2 head"/>
          <p:cNvSpPr txBox="1"/>
          <p:nvPr/>
        </p:nvSpPr>
        <p:spPr>
          <a:xfrm>
            <a:off x="8321040" y="41422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PR-AUC, not accuracy</a:t>
            </a:r>
            <a:endParaRPr lang="en-US" sz="1600" dirty="0"/>
          </a:p>
        </p:txBody>
      </p:sp>
      <p:sp>
        <p:nvSpPr>
          <p:cNvPr id="21" name="fact 2 text"/>
          <p:cNvSpPr txBox="1"/>
          <p:nvPr/>
        </p:nvSpPr>
        <p:spPr>
          <a:xfrm>
            <a:off x="8321040" y="448970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Guessing “legitimate” every time already scores 99.4% accuracy.</a:t>
            </a:r>
            <a:endParaRPr lang="en-US" sz="1300" dirty="0"/>
          </a:p>
        </p:txBody>
      </p:sp>
      <p:sp>
        <p:nvSpPr>
          <p:cNvPr id="22" name="fact 3 circle"/>
          <p:cNvSpPr/>
          <p:nvPr/>
        </p:nvSpPr>
        <p:spPr>
          <a:xfrm>
            <a:off x="7498080" y="5202936"/>
            <a:ext cx="640080" cy="640080"/>
          </a:xfrm>
          <a:prstGeom prst="ellipse">
            <a:avLst/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fact 3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4501" y="5369357"/>
            <a:ext cx="307238" cy="307238"/>
          </a:xfrm>
          <a:prstGeom prst="rect">
            <a:avLst/>
          </a:prstGeom>
        </p:spPr>
      </p:pic>
      <p:sp>
        <p:nvSpPr>
          <p:cNvPr id="24" name="fact 3 head"/>
          <p:cNvSpPr txBox="1"/>
          <p:nvPr/>
        </p:nvSpPr>
        <p:spPr>
          <a:xfrm>
            <a:off x="8321040" y="51663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Test touched once</a:t>
            </a:r>
            <a:endParaRPr lang="en-US" sz="1600" dirty="0"/>
          </a:p>
        </p:txBody>
      </p:sp>
      <p:sp>
        <p:nvSpPr>
          <p:cNvPr id="25" name="fact 3 text"/>
          <p:cNvSpPr txBox="1"/>
          <p:nvPr/>
        </p:nvSpPr>
        <p:spPr>
          <a:xfrm>
            <a:off x="8321040" y="55138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Model and threshold were fixed on validation first.</a:t>
            </a:r>
            <a:endParaRPr lang="en-US" sz="13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pill"/>
          <p:cNvSpPr/>
          <p:nvPr/>
        </p:nvSpPr>
        <p:spPr>
          <a:xfrm>
            <a:off x="548640" y="347472"/>
            <a:ext cx="265176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ection pill text"/>
          <p:cNvSpPr txBox="1"/>
          <p:nvPr/>
        </p:nvSpPr>
        <p:spPr>
          <a:xfrm>
            <a:off x="548640" y="3474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ANALYTICS &amp; ML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simpler model won on evidence</a:t>
            </a:r>
            <a:endParaRPr lang="en-US" sz="3400" dirty="0"/>
          </a:p>
        </p:txBody>
      </p:sp>
      <p:sp>
        <p:nvSpPr>
          <p:cNvPr id="5" name="Gradient boosting card"/>
          <p:cNvSpPr/>
          <p:nvPr/>
        </p:nvSpPr>
        <p:spPr>
          <a:xfrm>
            <a:off x="548640" y="1645920"/>
            <a:ext cx="5440680" cy="2514600"/>
          </a:xfrm>
          <a:prstGeom prst="roundRect">
            <a:avLst>
              <a:gd name="adj" fmla="val 4364"/>
            </a:avLst>
          </a:prstGeom>
          <a:solidFill>
            <a:srgbClr val="E6F6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Gradient boosting title"/>
          <p:cNvSpPr txBox="1"/>
          <p:nvPr/>
        </p:nvSpPr>
        <p:spPr>
          <a:xfrm>
            <a:off x="822960" y="184708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Gradient boosting</a:t>
            </a:r>
            <a:endParaRPr lang="en-US" sz="2000" dirty="0"/>
          </a:p>
        </p:txBody>
      </p:sp>
      <p:sp>
        <p:nvSpPr>
          <p:cNvPr id="7" name="Gradient boosting tag"/>
          <p:cNvSpPr/>
          <p:nvPr/>
        </p:nvSpPr>
        <p:spPr>
          <a:xfrm>
            <a:off x="4206240" y="1892808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0E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Gradient boosting tag text"/>
          <p:cNvSpPr txBox="1"/>
          <p:nvPr/>
        </p:nvSpPr>
        <p:spPr>
          <a:xfrm>
            <a:off x="4206240" y="189280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CHAMPION</a:t>
            </a:r>
            <a:endParaRPr lang="en-US" sz="1100" dirty="0"/>
          </a:p>
        </p:txBody>
      </p:sp>
      <p:sp>
        <p:nvSpPr>
          <p:cNvPr id="9" name="Gradient boosting row 1 label"/>
          <p:cNvSpPr txBox="1"/>
          <p:nvPr/>
        </p:nvSpPr>
        <p:spPr>
          <a:xfrm>
            <a:off x="822960" y="2468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Validation PR-AUC</a:t>
            </a:r>
            <a:endParaRPr lang="en-US" sz="1500" dirty="0"/>
          </a:p>
        </p:txBody>
      </p:sp>
      <p:sp>
        <p:nvSpPr>
          <p:cNvPr id="10" name="Gradient boosting row 1 value"/>
          <p:cNvSpPr txBox="1"/>
          <p:nvPr/>
        </p:nvSpPr>
        <p:spPr>
          <a:xfrm>
            <a:off x="3886200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chemeClr val="tx2"/>
                </a:solidFill>
              </a:rPr>
              <a:t>0.9840</a:t>
            </a:r>
            <a:endParaRPr lang="en-US" sz="1500" dirty="0"/>
          </a:p>
        </p:txBody>
      </p:sp>
      <p:sp>
        <p:nvSpPr>
          <p:cNvPr id="11" name="Gradient boosting row 2 label"/>
          <p:cNvSpPr txBox="1"/>
          <p:nvPr/>
        </p:nvSpPr>
        <p:spPr>
          <a:xfrm>
            <a:off x="822960" y="28712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Frauds caught (validation)</a:t>
            </a:r>
            <a:endParaRPr lang="en-US" sz="1500" dirty="0"/>
          </a:p>
        </p:txBody>
      </p:sp>
      <p:sp>
        <p:nvSpPr>
          <p:cNvPr id="12" name="Gradient boosting row 2 value"/>
          <p:cNvSpPr txBox="1"/>
          <p:nvPr/>
        </p:nvSpPr>
        <p:spPr>
          <a:xfrm>
            <a:off x="3886200" y="28712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chemeClr val="tx2"/>
                </a:solidFill>
              </a:rPr>
              <a:t>646</a:t>
            </a:r>
            <a:endParaRPr lang="en-US" sz="1500" dirty="0"/>
          </a:p>
        </p:txBody>
      </p:sp>
      <p:sp>
        <p:nvSpPr>
          <p:cNvPr id="13" name="Gradient boosting row 3 label"/>
          <p:cNvSpPr txBox="1"/>
          <p:nvPr/>
        </p:nvSpPr>
        <p:spPr>
          <a:xfrm>
            <a:off x="822960" y="32735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Alerts raised</a:t>
            </a:r>
            <a:endParaRPr lang="en-US" sz="1500" dirty="0"/>
          </a:p>
        </p:txBody>
      </p:sp>
      <p:sp>
        <p:nvSpPr>
          <p:cNvPr id="14" name="Gradient boosting row 3 value"/>
          <p:cNvSpPr txBox="1"/>
          <p:nvPr/>
        </p:nvSpPr>
        <p:spPr>
          <a:xfrm>
            <a:off x="3886200" y="32735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chemeClr val="tx2"/>
                </a:solidFill>
              </a:rPr>
              <a:t>701</a:t>
            </a:r>
            <a:endParaRPr lang="en-US" sz="1500" dirty="0"/>
          </a:p>
        </p:txBody>
      </p:sp>
      <p:sp>
        <p:nvSpPr>
          <p:cNvPr id="15" name="Gradient boosting row 4 label"/>
          <p:cNvSpPr txBox="1"/>
          <p:nvPr/>
        </p:nvSpPr>
        <p:spPr>
          <a:xfrm>
            <a:off x="822960" y="36758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Components to run</a:t>
            </a:r>
            <a:endParaRPr lang="en-US" sz="1500" dirty="0"/>
          </a:p>
        </p:txBody>
      </p:sp>
      <p:sp>
        <p:nvSpPr>
          <p:cNvPr id="16" name="Gradient boosting row 4 value"/>
          <p:cNvSpPr txBox="1"/>
          <p:nvPr/>
        </p:nvSpPr>
        <p:spPr>
          <a:xfrm>
            <a:off x="3886200" y="36758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chemeClr val="tx2"/>
                </a:solidFill>
              </a:rPr>
              <a:t>1 model</a:t>
            </a:r>
            <a:endParaRPr lang="en-US" sz="1500" dirty="0"/>
          </a:p>
        </p:txBody>
      </p:sp>
      <p:sp>
        <p:nvSpPr>
          <p:cNvPr id="17" name="Hybrid gradient boosting card"/>
          <p:cNvSpPr/>
          <p:nvPr/>
        </p:nvSpPr>
        <p:spPr>
          <a:xfrm>
            <a:off x="6172200" y="1645920"/>
            <a:ext cx="5440680" cy="2514600"/>
          </a:xfrm>
          <a:prstGeom prst="roundRect">
            <a:avLst>
              <a:gd name="adj" fmla="val 4364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Hybrid gradient boosting title"/>
          <p:cNvSpPr txBox="1"/>
          <p:nvPr/>
        </p:nvSpPr>
        <p:spPr>
          <a:xfrm>
            <a:off x="6446520" y="184708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Hybrid gradient boosting</a:t>
            </a:r>
            <a:endParaRPr lang="en-US" sz="2000" dirty="0"/>
          </a:p>
        </p:txBody>
      </p:sp>
      <p:sp>
        <p:nvSpPr>
          <p:cNvPr id="19" name="Hybrid gradient boosting tag"/>
          <p:cNvSpPr/>
          <p:nvPr/>
        </p:nvSpPr>
        <p:spPr>
          <a:xfrm>
            <a:off x="9829800" y="1892808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Hybrid gradient boosting tag text"/>
          <p:cNvSpPr txBox="1"/>
          <p:nvPr/>
        </p:nvSpPr>
        <p:spPr>
          <a:xfrm>
            <a:off x="9829800" y="189280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NOT SELECTED</a:t>
            </a:r>
            <a:endParaRPr lang="en-US" sz="1100" dirty="0"/>
          </a:p>
        </p:txBody>
      </p:sp>
      <p:sp>
        <p:nvSpPr>
          <p:cNvPr id="21" name="Hybrid gradient boosting row 1 label"/>
          <p:cNvSpPr txBox="1"/>
          <p:nvPr/>
        </p:nvSpPr>
        <p:spPr>
          <a:xfrm>
            <a:off x="6446520" y="2468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Validation PR-AUC</a:t>
            </a:r>
            <a:endParaRPr lang="en-US" sz="1500" dirty="0"/>
          </a:p>
        </p:txBody>
      </p:sp>
      <p:sp>
        <p:nvSpPr>
          <p:cNvPr id="22" name="Hybrid gradient boosting row 1 value"/>
          <p:cNvSpPr txBox="1"/>
          <p:nvPr/>
        </p:nvSpPr>
        <p:spPr>
          <a:xfrm>
            <a:off x="9509760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chemeClr val="tx2"/>
                </a:solidFill>
              </a:rPr>
              <a:t>0.9841</a:t>
            </a:r>
            <a:endParaRPr lang="en-US" sz="1500" dirty="0"/>
          </a:p>
        </p:txBody>
      </p:sp>
      <p:sp>
        <p:nvSpPr>
          <p:cNvPr id="23" name="Hybrid gradient boosting row 2 label"/>
          <p:cNvSpPr txBox="1"/>
          <p:nvPr/>
        </p:nvSpPr>
        <p:spPr>
          <a:xfrm>
            <a:off x="6446520" y="28712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Frauds caught (validation)</a:t>
            </a:r>
            <a:endParaRPr lang="en-US" sz="1500" dirty="0"/>
          </a:p>
        </p:txBody>
      </p:sp>
      <p:sp>
        <p:nvSpPr>
          <p:cNvPr id="24" name="Hybrid gradient boosting row 2 value"/>
          <p:cNvSpPr txBox="1"/>
          <p:nvPr/>
        </p:nvSpPr>
        <p:spPr>
          <a:xfrm>
            <a:off x="9509760" y="28712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chemeClr val="tx2"/>
                </a:solidFill>
              </a:rPr>
              <a:t>647</a:t>
            </a:r>
            <a:endParaRPr lang="en-US" sz="1500" dirty="0"/>
          </a:p>
        </p:txBody>
      </p:sp>
      <p:sp>
        <p:nvSpPr>
          <p:cNvPr id="25" name="Hybrid gradient boosting row 3 label"/>
          <p:cNvSpPr txBox="1"/>
          <p:nvPr/>
        </p:nvSpPr>
        <p:spPr>
          <a:xfrm>
            <a:off x="6446520" y="32735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Alerts raised</a:t>
            </a:r>
            <a:endParaRPr lang="en-US" sz="1500" dirty="0"/>
          </a:p>
        </p:txBody>
      </p:sp>
      <p:sp>
        <p:nvSpPr>
          <p:cNvPr id="26" name="Hybrid gradient boosting row 3 value"/>
          <p:cNvSpPr txBox="1"/>
          <p:nvPr/>
        </p:nvSpPr>
        <p:spPr>
          <a:xfrm>
            <a:off x="9509760" y="32735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chemeClr val="tx2"/>
                </a:solidFill>
              </a:rPr>
              <a:t>701</a:t>
            </a:r>
            <a:endParaRPr lang="en-US" sz="1500" dirty="0"/>
          </a:p>
        </p:txBody>
      </p:sp>
      <p:sp>
        <p:nvSpPr>
          <p:cNvPr id="27" name="Hybrid gradient boosting row 4 label"/>
          <p:cNvSpPr txBox="1"/>
          <p:nvPr/>
        </p:nvSpPr>
        <p:spPr>
          <a:xfrm>
            <a:off x="6446520" y="36758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Components to run</a:t>
            </a:r>
            <a:endParaRPr lang="en-US" sz="1500" dirty="0"/>
          </a:p>
        </p:txBody>
      </p:sp>
      <p:sp>
        <p:nvSpPr>
          <p:cNvPr id="28" name="Hybrid gradient boosting row 4 value"/>
          <p:cNvSpPr txBox="1"/>
          <p:nvPr/>
        </p:nvSpPr>
        <p:spPr>
          <a:xfrm>
            <a:off x="9509760" y="36758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chemeClr val="tx2"/>
                </a:solidFill>
              </a:rPr>
              <a:t>2 models</a:t>
            </a:r>
            <a:endParaRPr lang="en-US" sz="1500" dirty="0"/>
          </a:p>
        </p:txBody>
      </p:sp>
      <p:sp>
        <p:nvSpPr>
          <p:cNvPr id="29" name="rule statement"/>
          <p:cNvSpPr txBox="1"/>
          <p:nvPr/>
        </p:nvSpPr>
        <p:spPr>
          <a:xfrm>
            <a:off x="548640" y="4343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Rule: choose the simplest model whose PR-AUC gap to the best is provably below 0.01</a:t>
            </a:r>
            <a:endParaRPr lang="en-US" sz="1600" dirty="0"/>
          </a:p>
        </p:txBody>
      </p:sp>
      <p:sp>
        <p:nvSpPr>
          <p:cNvPr id="30" name="acceptable zone"/>
          <p:cNvSpPr/>
          <p:nvPr/>
        </p:nvSpPr>
        <p:spPr>
          <a:xfrm>
            <a:off x="1097280" y="5074920"/>
            <a:ext cx="7752080" cy="548640"/>
          </a:xfrm>
          <a:prstGeom prst="rect">
            <a:avLst/>
          </a:prstGeom>
          <a:solidFill>
            <a:srgbClr val="E6F6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number line"/>
          <p:cNvSpPr/>
          <p:nvPr/>
        </p:nvSpPr>
        <p:spPr>
          <a:xfrm>
            <a:off x="1097280" y="5349240"/>
            <a:ext cx="99669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margin line"/>
          <p:cNvSpPr/>
          <p:nvPr/>
        </p:nvSpPr>
        <p:spPr>
          <a:xfrm>
            <a:off x="8849360" y="4983480"/>
            <a:ext cx="0" cy="731520"/>
          </a:xfrm>
          <a:prstGeom prst="line">
            <a:avLst/>
          </a:prstGeom>
          <a:noFill/>
          <a:ln w="25400">
            <a:solidFill>
              <a:srgbClr val="D6454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3" name="margin label"/>
          <p:cNvSpPr txBox="1"/>
          <p:nvPr/>
        </p:nvSpPr>
        <p:spPr>
          <a:xfrm>
            <a:off x="8922512" y="49560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margin 0.01</a:t>
            </a:r>
            <a:endParaRPr lang="en-US" sz="1200" dirty="0"/>
          </a:p>
        </p:txBody>
      </p:sp>
      <p:sp>
        <p:nvSpPr>
          <p:cNvPr id="34" name="confidence interval"/>
          <p:cNvSpPr/>
          <p:nvPr/>
        </p:nvSpPr>
        <p:spPr>
          <a:xfrm>
            <a:off x="2758440" y="5239512"/>
            <a:ext cx="1218184" cy="219456"/>
          </a:xfrm>
          <a:prstGeom prst="rect">
            <a:avLst/>
          </a:prstGeom>
          <a:solidFill>
            <a:srgbClr val="0E9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interval label"/>
          <p:cNvSpPr txBox="1"/>
          <p:nvPr/>
        </p:nvSpPr>
        <p:spPr>
          <a:xfrm>
            <a:off x="2758440" y="47548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95% interval of the gap: −0.0010 to +0.0012</a:t>
            </a:r>
            <a:endParaRPr lang="en-US" sz="1300" dirty="0"/>
          </a:p>
        </p:txBody>
      </p:sp>
      <p:sp>
        <p:nvSpPr>
          <p:cNvPr id="36" name="tick 1"/>
          <p:cNvSpPr txBox="1"/>
          <p:nvPr/>
        </p:nvSpPr>
        <p:spPr>
          <a:xfrm>
            <a:off x="2946400" y="568756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6"/>
                </a:solidFill>
              </a:rPr>
              <a:t>0</a:t>
            </a:r>
            <a:endParaRPr lang="en-US" sz="1100" dirty="0"/>
          </a:p>
        </p:txBody>
      </p:sp>
      <p:sp>
        <p:nvSpPr>
          <p:cNvPr id="37" name="tick 2"/>
          <p:cNvSpPr txBox="1"/>
          <p:nvPr/>
        </p:nvSpPr>
        <p:spPr>
          <a:xfrm>
            <a:off x="5715000" y="568756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6"/>
                </a:solidFill>
              </a:rPr>
              <a:t>0.005</a:t>
            </a:r>
            <a:endParaRPr lang="en-US" sz="1100" dirty="0"/>
          </a:p>
        </p:txBody>
      </p:sp>
      <p:sp>
        <p:nvSpPr>
          <p:cNvPr id="38" name="tick 3"/>
          <p:cNvSpPr txBox="1"/>
          <p:nvPr/>
        </p:nvSpPr>
        <p:spPr>
          <a:xfrm>
            <a:off x="8483600" y="568756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6"/>
                </a:solidFill>
              </a:rPr>
              <a:t>0.010</a:t>
            </a:r>
            <a:endParaRPr lang="en-US" sz="1100" dirty="0"/>
          </a:p>
        </p:txBody>
      </p:sp>
      <p:sp>
        <p:nvSpPr>
          <p:cNvPr id="39" name="logistic note"/>
          <p:cNvSpPr txBox="1"/>
          <p:nvPr/>
        </p:nvSpPr>
        <p:spPr>
          <a:xfrm>
            <a:off x="54864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Logistic regression: gap +0.270 to +0.331, excluded</a:t>
            </a:r>
            <a:endParaRPr lang="en-US" sz="12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pill"/>
          <p:cNvSpPr/>
          <p:nvPr/>
        </p:nvSpPr>
        <p:spPr>
          <a:xfrm>
            <a:off x="548640" y="347472"/>
            <a:ext cx="265176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ection pill text"/>
          <p:cNvSpPr txBox="1"/>
          <p:nvPr/>
        </p:nvSpPr>
        <p:spPr>
          <a:xfrm>
            <a:off x="548640" y="3474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ANALYTICS &amp; ML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 of fraud caught at 12 alerts a day</a:t>
            </a:r>
            <a:endParaRPr lang="en-US" sz="3400" dirty="0"/>
          </a:p>
        </p:txBody>
      </p:sp>
      <p:sp>
        <p:nvSpPr>
          <p:cNvPr id="5" name="impact card 1"/>
          <p:cNvSpPr/>
          <p:nvPr/>
        </p:nvSpPr>
        <p:spPr>
          <a:xfrm>
            <a:off x="548640" y="164592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impact 1 value"/>
          <p:cNvSpPr txBox="1"/>
          <p:nvPr/>
        </p:nvSpPr>
        <p:spPr>
          <a:xfrm>
            <a:off x="777240" y="18288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94.7%</a:t>
            </a:r>
            <a:endParaRPr lang="en-US" sz="3800" dirty="0"/>
          </a:p>
        </p:txBody>
      </p:sp>
      <p:sp>
        <p:nvSpPr>
          <p:cNvPr id="7" name="impact 1 label"/>
          <p:cNvSpPr txBox="1"/>
          <p:nvPr/>
        </p:nvSpPr>
        <p:spPr>
          <a:xfrm>
            <a:off x="777240" y="26060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recall</a:t>
            </a:r>
            <a:endParaRPr lang="en-US" sz="1600" dirty="0"/>
          </a:p>
        </p:txBody>
      </p:sp>
      <p:sp>
        <p:nvSpPr>
          <p:cNvPr id="8" name="impact 1 detail"/>
          <p:cNvSpPr txBox="1"/>
          <p:nvPr/>
        </p:nvSpPr>
        <p:spPr>
          <a:xfrm>
            <a:off x="777240" y="2971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2,031 of 2,145 test frauds</a:t>
            </a:r>
            <a:endParaRPr lang="en-US" sz="1300" dirty="0"/>
          </a:p>
        </p:txBody>
      </p:sp>
      <p:sp>
        <p:nvSpPr>
          <p:cNvPr id="9" name="impact card 2"/>
          <p:cNvSpPr/>
          <p:nvPr/>
        </p:nvSpPr>
        <p:spPr>
          <a:xfrm>
            <a:off x="3337560" y="164592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impact 2 value"/>
          <p:cNvSpPr txBox="1"/>
          <p:nvPr/>
        </p:nvSpPr>
        <p:spPr>
          <a:xfrm>
            <a:off x="3566160" y="18288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89.0%</a:t>
            </a:r>
            <a:endParaRPr lang="en-US" sz="3800" dirty="0"/>
          </a:p>
        </p:txBody>
      </p:sp>
      <p:sp>
        <p:nvSpPr>
          <p:cNvPr id="11" name="impact 2 label"/>
          <p:cNvSpPr txBox="1"/>
          <p:nvPr/>
        </p:nvSpPr>
        <p:spPr>
          <a:xfrm>
            <a:off x="3566160" y="26060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precision</a:t>
            </a:r>
            <a:endParaRPr lang="en-US" sz="1600" dirty="0"/>
          </a:p>
        </p:txBody>
      </p:sp>
      <p:sp>
        <p:nvSpPr>
          <p:cNvPr id="12" name="impact 2 detail"/>
          <p:cNvSpPr txBox="1"/>
          <p:nvPr/>
        </p:nvSpPr>
        <p:spPr>
          <a:xfrm>
            <a:off x="3566160" y="2971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1 false alarm per 8 frauds caught</a:t>
            </a:r>
            <a:endParaRPr lang="en-US" sz="1300" dirty="0"/>
          </a:p>
        </p:txBody>
      </p:sp>
      <p:sp>
        <p:nvSpPr>
          <p:cNvPr id="13" name="impact card 3"/>
          <p:cNvSpPr/>
          <p:nvPr/>
        </p:nvSpPr>
        <p:spPr>
          <a:xfrm>
            <a:off x="548640" y="393192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impact 3 value"/>
          <p:cNvSpPr txBox="1"/>
          <p:nvPr/>
        </p:nvSpPr>
        <p:spPr>
          <a:xfrm>
            <a:off x="777240" y="41148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11.8</a:t>
            </a:r>
            <a:endParaRPr lang="en-US" sz="3800" dirty="0"/>
          </a:p>
        </p:txBody>
      </p:sp>
      <p:sp>
        <p:nvSpPr>
          <p:cNvPr id="15" name="impact 3 label"/>
          <p:cNvSpPr txBox="1"/>
          <p:nvPr/>
        </p:nvSpPr>
        <p:spPr>
          <a:xfrm>
            <a:off x="777240" y="48920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alerts per day</a:t>
            </a:r>
            <a:endParaRPr lang="en-US" sz="1600" dirty="0"/>
          </a:p>
        </p:txBody>
      </p:sp>
      <p:sp>
        <p:nvSpPr>
          <p:cNvPr id="16" name="impact 3 detail"/>
          <p:cNvSpPr txBox="1"/>
          <p:nvPr/>
        </p:nvSpPr>
        <p:spPr>
          <a:xfrm>
            <a:off x="777240" y="5257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a workable review queue</a:t>
            </a:r>
            <a:endParaRPr lang="en-US" sz="1300" dirty="0"/>
          </a:p>
        </p:txBody>
      </p:sp>
      <p:sp>
        <p:nvSpPr>
          <p:cNvPr id="17" name="impact card 4"/>
          <p:cNvSpPr/>
          <p:nvPr/>
        </p:nvSpPr>
        <p:spPr>
          <a:xfrm>
            <a:off x="3337560" y="393192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impact 4 value"/>
          <p:cNvSpPr txBox="1"/>
          <p:nvPr/>
        </p:nvSpPr>
        <p:spPr>
          <a:xfrm>
            <a:off x="3566160" y="41148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$967K</a:t>
            </a:r>
            <a:endParaRPr lang="en-US" sz="3800" dirty="0"/>
          </a:p>
        </p:txBody>
      </p:sp>
      <p:sp>
        <p:nvSpPr>
          <p:cNvPr id="19" name="impact 4 label"/>
          <p:cNvSpPr txBox="1"/>
          <p:nvPr/>
        </p:nvSpPr>
        <p:spPr>
          <a:xfrm>
            <a:off x="3566160" y="48920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net benefit</a:t>
            </a:r>
            <a:endParaRPr lang="en-US" sz="1600" dirty="0"/>
          </a:p>
        </p:txBody>
      </p:sp>
      <p:sp>
        <p:nvSpPr>
          <p:cNvPr id="20" name="impact 4 detail"/>
          <p:cNvSpPr txBox="1"/>
          <p:nvPr/>
        </p:nvSpPr>
        <p:spPr>
          <a:xfrm>
            <a:off x="3566160" y="5257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recovered fraud minus review cost</a:t>
            </a:r>
            <a:endParaRPr lang="en-US" sz="1300" dirty="0"/>
          </a:p>
        </p:txBody>
      </p:sp>
      <p:graphicFrame>
        <p:nvGraphicFramePr>
          <p:cNvPr id="21" name="operating point chart"/>
          <p:cNvGraphicFramePr/>
          <p:nvPr/>
        </p:nvGraphicFramePr>
        <p:xfrm>
          <a:off x="6309360" y="1645920"/>
          <a:ext cx="530352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break-even callout"/>
          <p:cNvSpPr/>
          <p:nvPr/>
        </p:nvSpPr>
        <p:spPr>
          <a:xfrm>
            <a:off x="6309360" y="5257800"/>
            <a:ext cx="5303520" cy="777240"/>
          </a:xfrm>
          <a:prstGeom prst="roundRect">
            <a:avLst>
              <a:gd name="adj" fmla="val 14118"/>
            </a:avLst>
          </a:prstGeom>
          <a:solidFill>
            <a:srgbClr val="FEF3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break-even text"/>
          <p:cNvSpPr txBox="1"/>
          <p:nvPr/>
        </p:nvSpPr>
        <p:spPr>
          <a:xfrm>
            <a:off x="6492240" y="52578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</a:rPr>
              <a:t>Break-even: $2.65 per review. </a:t>
            </a:r>
            <a:r>
              <a:rPr lang="en-US" sz="1400" dirty="0">
                <a:solidFill>
                  <a:srgbClr val="1B2A41"/>
                </a:solidFill>
              </a:rPr>
              <a:t>The wider net catches 99.3%, but at $15 a review it nets $82K less.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3" name="takeaway 1 circle"/>
          <p:cNvSpPr/>
          <p:nvPr/>
        </p:nvSpPr>
        <p:spPr>
          <a:xfrm>
            <a:off x="731520" y="1691640"/>
            <a:ext cx="777240" cy="7772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takeaway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602" y="1893722"/>
            <a:ext cx="373075" cy="373075"/>
          </a:xfrm>
          <a:prstGeom prst="rect">
            <a:avLst/>
          </a:prstGeom>
        </p:spPr>
      </p:pic>
      <p:sp>
        <p:nvSpPr>
          <p:cNvPr id="5" name="takeaway 1 head"/>
          <p:cNvSpPr txBox="1"/>
          <p:nvPr/>
        </p:nvSpPr>
        <p:spPr>
          <a:xfrm>
            <a:off x="1783080" y="167335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Reproducible and verified</a:t>
            </a:r>
            <a:endParaRPr lang="en-US" sz="2200" dirty="0"/>
          </a:p>
        </p:txBody>
      </p:sp>
      <p:sp>
        <p:nvSpPr>
          <p:cNvPr id="6" name="takeaway 1 text"/>
          <p:cNvSpPr txBox="1"/>
          <p:nvPr/>
        </p:nvSpPr>
        <p:spPr>
          <a:xfrm>
            <a:off x="1783080" y="21031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</a:rPr>
              <a:t>One command rebuilds everything; 48 of 48 end-to-end checks pass.</a:t>
            </a:r>
            <a:endParaRPr lang="en-US" sz="1600" dirty="0"/>
          </a:p>
        </p:txBody>
      </p:sp>
      <p:sp>
        <p:nvSpPr>
          <p:cNvPr id="7" name="takeaway 2 circle"/>
          <p:cNvSpPr/>
          <p:nvPr/>
        </p:nvSpPr>
        <p:spPr>
          <a:xfrm>
            <a:off x="731520" y="2880360"/>
            <a:ext cx="777240" cy="7772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takeaway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602" y="3082442"/>
            <a:ext cx="373075" cy="373075"/>
          </a:xfrm>
          <a:prstGeom prst="rect">
            <a:avLst/>
          </a:prstGeom>
        </p:spPr>
      </p:pic>
      <p:sp>
        <p:nvSpPr>
          <p:cNvPr id="9" name="takeaway 2 head"/>
          <p:cNvSpPr txBox="1"/>
          <p:nvPr/>
        </p:nvSpPr>
        <p:spPr>
          <a:xfrm>
            <a:off x="1783080" y="28620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Behaviour beats raw data</a:t>
            </a:r>
            <a:endParaRPr lang="en-US" sz="2200" dirty="0"/>
          </a:p>
        </p:txBody>
      </p:sp>
      <p:sp>
        <p:nvSpPr>
          <p:cNvPr id="10" name="takeaway 2 text"/>
          <p:cNvSpPr txBox="1"/>
          <p:nvPr/>
        </p:nvSpPr>
        <p:spPr>
          <a:xfrm>
            <a:off x="1783080" y="32918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</a:rPr>
              <a:t>Card-relative features and a non-linear model: 0.975 PR-AUC versus 0.590 for a linear one.</a:t>
            </a:r>
            <a:endParaRPr lang="en-US" sz="1600" dirty="0"/>
          </a:p>
        </p:txBody>
      </p:sp>
      <p:sp>
        <p:nvSpPr>
          <p:cNvPr id="11" name="takeaway 3 circle"/>
          <p:cNvSpPr/>
          <p:nvPr/>
        </p:nvSpPr>
        <p:spPr>
          <a:xfrm>
            <a:off x="731520" y="4069080"/>
            <a:ext cx="777240" cy="7772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takeaway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602" y="4271162"/>
            <a:ext cx="373075" cy="373075"/>
          </a:xfrm>
          <a:prstGeom prst="rect">
            <a:avLst/>
          </a:prstGeom>
        </p:spPr>
      </p:pic>
      <p:sp>
        <p:nvSpPr>
          <p:cNvPr id="13" name="takeaway 3 head"/>
          <p:cNvSpPr txBox="1"/>
          <p:nvPr/>
        </p:nvSpPr>
        <p:spPr>
          <a:xfrm>
            <a:off x="1783080" y="405079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Decisions, not just scores</a:t>
            </a:r>
            <a:endParaRPr lang="en-US" sz="2200" dirty="0"/>
          </a:p>
        </p:txBody>
      </p:sp>
      <p:sp>
        <p:nvSpPr>
          <p:cNvPr id="14" name="takeaway 3 text"/>
          <p:cNvSpPr txBox="1"/>
          <p:nvPr/>
        </p:nvSpPr>
        <p:spPr>
          <a:xfrm>
            <a:off x="1783080" y="44805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</a:rPr>
              <a:t>Alerts grouped by card, with reasons and a cost-aware threshold.</a:t>
            </a:r>
            <a:endParaRPr lang="en-US" sz="1600" dirty="0"/>
          </a:p>
        </p:txBody>
      </p:sp>
      <p:sp>
        <p:nvSpPr>
          <p:cNvPr id="15" name="caveat"/>
          <p:cNvSpPr txBox="1"/>
          <p:nvPr/>
        </p:nvSpPr>
        <p:spPr>
          <a:xfrm>
            <a:off x="731520" y="53492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Caveat: the data is simulated. The method transfers to real transactions; the absolute scores will not.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 lIns="0" tIns="0" rIns="0" bIns="0" anchor="ctr"/>
          <a:lstStyle/>
          <a:p>
            <a:r>
              <a:t>Four challenges shaped the build</a:t>
            </a:r>
          </a:p>
        </p:txBody>
      </p:sp>
      <p:sp>
        <p:nvSpPr>
          <p:cNvPr id="3" name="section pill"/>
          <p:cNvSpPr/>
          <p:nvPr/>
        </p:nvSpPr>
        <p:spPr>
          <a:xfrm>
            <a:off x="548640" y="347472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3B5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section pill text"/>
          <p:cNvSpPr txBox="1"/>
          <p:nvPr/>
        </p:nvSpPr>
        <p:spPr>
          <a:xfrm>
            <a:off x="548640" y="347472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spc="100">
                <a:solidFill>
                  <a:srgbClr val="FFFFFF"/>
                </a:solidFill>
              </a:rPr>
              <a:t>TECHNICAL CHALLENGES</a:t>
            </a:r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  <p:sp>
        <p:nvSpPr>
          <p:cNvPr id="50" name="challenge card 01"/>
          <p:cNvSpPr/>
          <p:nvPr/>
        </p:nvSpPr>
        <p:spPr>
          <a:xfrm>
            <a:off x="548640" y="1554480"/>
            <a:ext cx="5372100" cy="192024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number circle"/>
          <p:cNvSpPr/>
          <p:nvPr/>
        </p:nvSpPr>
        <p:spPr>
          <a:xfrm>
            <a:off x="822959" y="1783080"/>
            <a:ext cx="548640" cy="548640"/>
          </a:xfrm>
          <a:prstGeom prst="ellipse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number"/>
          <p:cNvSpPr txBox="1"/>
          <p:nvPr/>
        </p:nvSpPr>
        <p:spPr>
          <a:xfrm>
            <a:off x="822959" y="178308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01</a:t>
            </a:r>
          </a:p>
        </p:txBody>
      </p:sp>
      <p:sp>
        <p:nvSpPr>
          <p:cNvPr id="53" name="challenge 01 head"/>
          <p:cNvSpPr txBox="1"/>
          <p:nvPr/>
        </p:nvSpPr>
        <p:spPr>
          <a:xfrm>
            <a:off x="1554480" y="1783080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1B2A41"/>
                </a:solidFill>
              </a:rPr>
              <a:t>Extreme class imbalance</a:t>
            </a:r>
          </a:p>
        </p:txBody>
      </p:sp>
      <p:sp>
        <p:nvSpPr>
          <p:cNvPr id="54" name="challenge 01 problem"/>
          <p:cNvSpPr txBox="1"/>
          <p:nvPr/>
        </p:nvSpPr>
        <p:spPr>
          <a:xfrm>
            <a:off x="822959" y="242316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</a:rPr>
              <a:t>About 1 fraud per 172 transactions, so guessing “legitimate” already scores 99.4% accuracy.</a:t>
            </a:r>
          </a:p>
        </p:txBody>
      </p:sp>
      <p:sp>
        <p:nvSpPr>
          <p:cNvPr id="55" name="challenge 01 fix"/>
          <p:cNvSpPr txBox="1"/>
          <p:nvPr/>
        </p:nvSpPr>
        <p:spPr>
          <a:xfrm>
            <a:off x="822959" y="292608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E9F8E"/>
                </a:solidFill>
              </a:rPr>
              <a:t>Fix:  </a:t>
            </a:r>
            <a:r>
              <a:rPr sz="1400" b="0">
                <a:solidFill>
                  <a:srgbClr val="1B2A41"/>
                </a:solidFill>
              </a:rPr>
              <a:t>Class weights on the training split only, and PR-AUC instead of accuracy.</a:t>
            </a:r>
          </a:p>
        </p:txBody>
      </p:sp>
      <p:sp>
        <p:nvSpPr>
          <p:cNvPr id="56" name="challenge card 02"/>
          <p:cNvSpPr/>
          <p:nvPr/>
        </p:nvSpPr>
        <p:spPr>
          <a:xfrm>
            <a:off x="6240779" y="1554480"/>
            <a:ext cx="5372100" cy="192024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number circle"/>
          <p:cNvSpPr/>
          <p:nvPr/>
        </p:nvSpPr>
        <p:spPr>
          <a:xfrm>
            <a:off x="6515099" y="1783080"/>
            <a:ext cx="548640" cy="548640"/>
          </a:xfrm>
          <a:prstGeom prst="ellipse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number"/>
          <p:cNvSpPr txBox="1"/>
          <p:nvPr/>
        </p:nvSpPr>
        <p:spPr>
          <a:xfrm>
            <a:off x="6515099" y="178308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02</a:t>
            </a:r>
          </a:p>
        </p:txBody>
      </p:sp>
      <p:sp>
        <p:nvSpPr>
          <p:cNvPr id="59" name="challenge 02 head"/>
          <p:cNvSpPr txBox="1"/>
          <p:nvPr/>
        </p:nvSpPr>
        <p:spPr>
          <a:xfrm>
            <a:off x="7246619" y="1783080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1B2A41"/>
                </a:solidFill>
              </a:rPr>
              <a:t>Leakage across time</a:t>
            </a:r>
          </a:p>
        </p:txBody>
      </p:sp>
      <p:sp>
        <p:nvSpPr>
          <p:cNvPr id="60" name="challenge 02 problem"/>
          <p:cNvSpPr txBox="1"/>
          <p:nvPr/>
        </p:nvSpPr>
        <p:spPr>
          <a:xfrm>
            <a:off x="6515099" y="242316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</a:rPr>
              <a:t>A random split or synthetic oversampling lets the model see the future and inflates results.</a:t>
            </a:r>
          </a:p>
        </p:txBody>
      </p:sp>
      <p:sp>
        <p:nvSpPr>
          <p:cNvPr id="61" name="challenge 02 fix"/>
          <p:cNvSpPr txBox="1"/>
          <p:nvPr/>
        </p:nvSpPr>
        <p:spPr>
          <a:xfrm>
            <a:off x="6515099" y="292608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E9F8E"/>
                </a:solidFill>
              </a:rPr>
              <a:t>Fix:  </a:t>
            </a:r>
            <a:r>
              <a:rPr sz="1400" b="0">
                <a:solidFill>
                  <a:srgbClr val="1B2A41"/>
                </a:solidFill>
              </a:rPr>
              <a:t>Chronological train, validation and test split; no SMOTE; test set touched once.</a:t>
            </a:r>
          </a:p>
        </p:txBody>
      </p:sp>
      <p:sp>
        <p:nvSpPr>
          <p:cNvPr id="62" name="challenge card 03"/>
          <p:cNvSpPr/>
          <p:nvPr/>
        </p:nvSpPr>
        <p:spPr>
          <a:xfrm>
            <a:off x="548640" y="3566160"/>
            <a:ext cx="5372100" cy="192024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number circle"/>
          <p:cNvSpPr/>
          <p:nvPr/>
        </p:nvSpPr>
        <p:spPr>
          <a:xfrm>
            <a:off x="822959" y="3794760"/>
            <a:ext cx="548640" cy="548640"/>
          </a:xfrm>
          <a:prstGeom prst="ellipse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number"/>
          <p:cNvSpPr txBox="1"/>
          <p:nvPr/>
        </p:nvSpPr>
        <p:spPr>
          <a:xfrm>
            <a:off x="822959" y="37947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03</a:t>
            </a:r>
          </a:p>
        </p:txBody>
      </p:sp>
      <p:sp>
        <p:nvSpPr>
          <p:cNvPr id="65" name="challenge 03 head"/>
          <p:cNvSpPr txBox="1"/>
          <p:nvPr/>
        </p:nvSpPr>
        <p:spPr>
          <a:xfrm>
            <a:off x="1554480" y="3794760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1B2A41"/>
                </a:solidFill>
              </a:rPr>
              <a:t>Two models almost tied</a:t>
            </a:r>
          </a:p>
        </p:txBody>
      </p:sp>
      <p:sp>
        <p:nvSpPr>
          <p:cNvPr id="66" name="challenge 03 problem"/>
          <p:cNvSpPr txBox="1"/>
          <p:nvPr/>
        </p:nvSpPr>
        <p:spPr>
          <a:xfrm>
            <a:off x="822959" y="443484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</a:rPr>
              <a:t>Gradient boosting and the hybrid differ by only 0.0001 validation PR-AUC.</a:t>
            </a:r>
          </a:p>
        </p:txBody>
      </p:sp>
      <p:sp>
        <p:nvSpPr>
          <p:cNvPr id="67" name="challenge 03 fix"/>
          <p:cNvSpPr txBox="1"/>
          <p:nvPr/>
        </p:nvSpPr>
        <p:spPr>
          <a:xfrm>
            <a:off x="822959" y="493776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E9F8E"/>
                </a:solidFill>
              </a:rPr>
              <a:t>Fix:  </a:t>
            </a:r>
            <a:r>
              <a:rPr sz="1400" b="0">
                <a:solidFill>
                  <a:srgbClr val="1B2A41"/>
                </a:solidFill>
              </a:rPr>
              <a:t>A pre-set rule: compare the gap using a 95% interval and a 0.01 margin.</a:t>
            </a:r>
          </a:p>
        </p:txBody>
      </p:sp>
      <p:sp>
        <p:nvSpPr>
          <p:cNvPr id="68" name="challenge card 04"/>
          <p:cNvSpPr/>
          <p:nvPr/>
        </p:nvSpPr>
        <p:spPr>
          <a:xfrm>
            <a:off x="6240779" y="3566160"/>
            <a:ext cx="5372100" cy="192024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number circle"/>
          <p:cNvSpPr/>
          <p:nvPr/>
        </p:nvSpPr>
        <p:spPr>
          <a:xfrm>
            <a:off x="6515099" y="3794760"/>
            <a:ext cx="548640" cy="548640"/>
          </a:xfrm>
          <a:prstGeom prst="ellipse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number"/>
          <p:cNvSpPr txBox="1"/>
          <p:nvPr/>
        </p:nvSpPr>
        <p:spPr>
          <a:xfrm>
            <a:off x="6515099" y="37947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04</a:t>
            </a:r>
          </a:p>
        </p:txBody>
      </p:sp>
      <p:sp>
        <p:nvSpPr>
          <p:cNvPr id="71" name="challenge 04 head"/>
          <p:cNvSpPr txBox="1"/>
          <p:nvPr/>
        </p:nvSpPr>
        <p:spPr>
          <a:xfrm>
            <a:off x="7246619" y="3794760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1B2A41"/>
                </a:solidFill>
              </a:rPr>
              <a:t>Too many alerts to review</a:t>
            </a:r>
          </a:p>
        </p:txBody>
      </p:sp>
      <p:sp>
        <p:nvSpPr>
          <p:cNvPr id="72" name="challenge 04 problem"/>
          <p:cNvSpPr txBox="1"/>
          <p:nvPr/>
        </p:nvSpPr>
        <p:spPr>
          <a:xfrm>
            <a:off x="6515099" y="443484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</a:rPr>
              <a:t>Catching 99.3% of fraud needs 46.2 alerts a day, and every review costs money.</a:t>
            </a:r>
          </a:p>
        </p:txBody>
      </p:sp>
      <p:sp>
        <p:nvSpPr>
          <p:cNvPr id="73" name="challenge 04 fix"/>
          <p:cNvSpPr txBox="1"/>
          <p:nvPr/>
        </p:nvSpPr>
        <p:spPr>
          <a:xfrm>
            <a:off x="6515099" y="493776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E9F8E"/>
                </a:solidFill>
              </a:rPr>
              <a:t>Fix:  </a:t>
            </a:r>
            <a:r>
              <a:rPr sz="1400" b="0">
                <a:solidFill>
                  <a:srgbClr val="1B2A41"/>
                </a:solidFill>
              </a:rPr>
              <a:t>A cost-aware threshold: about 95% recall at roughly 12 alerts a day.</a:t>
            </a:r>
          </a:p>
        </p:txBody>
      </p:sp>
      <p:sp>
        <p:nvSpPr>
          <p:cNvPr id="74" name="open issue callout"/>
          <p:cNvSpPr/>
          <p:nvPr/>
        </p:nvSpPr>
        <p:spPr>
          <a:xfrm>
            <a:off x="548640" y="5623560"/>
            <a:ext cx="11064240" cy="502920"/>
          </a:xfrm>
          <a:prstGeom prst="roundRect">
            <a:avLst>
              <a:gd name="adj" fmla="val 20000"/>
            </a:avLst>
          </a:prstGeom>
          <a:solidFill>
            <a:srgbClr val="FE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pen issue text"/>
          <p:cNvSpPr txBox="1"/>
          <p:nvPr/>
        </p:nvSpPr>
        <p:spPr>
          <a:xfrm>
            <a:off x="822960" y="562356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B2A41"/>
                </a:solidFill>
              </a:rPr>
              <a:t>Still open:  </a:t>
            </a:r>
            <a:r>
              <a:rPr sz="1400" b="0">
                <a:solidFill>
                  <a:srgbClr val="1B2A41"/>
                </a:solidFill>
              </a:rPr>
              <a:t>the data is simulated, so the method transfers to real transactions but the absolute scores will not.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 lIns="0" tIns="0" rIns="0" bIns="0" anchor="ctr"/>
          <a:lstStyle/>
          <a:p>
            <a:r>
              <a:t>What we finish before Assessment 4</a:t>
            </a:r>
          </a:p>
        </p:txBody>
      </p:sp>
      <p:sp>
        <p:nvSpPr>
          <p:cNvPr id="3" name="section pill"/>
          <p:cNvSpPr/>
          <p:nvPr/>
        </p:nvSpPr>
        <p:spPr>
          <a:xfrm>
            <a:off x="548640" y="347472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3B5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section pill text"/>
          <p:cNvSpPr txBox="1"/>
          <p:nvPr/>
        </p:nvSpPr>
        <p:spPr>
          <a:xfrm>
            <a:off x="548640" y="347472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spc="100">
                <a:solidFill>
                  <a:srgbClr val="FFFFFF"/>
                </a:solidFill>
              </a:rPr>
              <a:t>FUTURE WORK</a:t>
            </a:r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  <p:sp>
        <p:nvSpPr>
          <p:cNvPr id="50" name="future card 1"/>
          <p:cNvSpPr/>
          <p:nvPr/>
        </p:nvSpPr>
        <p:spPr>
          <a:xfrm>
            <a:off x="548640" y="1645920"/>
            <a:ext cx="2560320" cy="356616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number circle"/>
          <p:cNvSpPr/>
          <p:nvPr/>
        </p:nvSpPr>
        <p:spPr>
          <a:xfrm>
            <a:off x="822959" y="1920240"/>
            <a:ext cx="685800" cy="685800"/>
          </a:xfrm>
          <a:prstGeom prst="ellipse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number"/>
          <p:cNvSpPr txBox="1"/>
          <p:nvPr/>
        </p:nvSpPr>
        <p:spPr>
          <a:xfrm>
            <a:off x="822959" y="192024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3" name="future 1 head"/>
          <p:cNvSpPr txBox="1"/>
          <p:nvPr/>
        </p:nvSpPr>
        <p:spPr>
          <a:xfrm>
            <a:off x="822959" y="2834640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B2A41"/>
                </a:solidFill>
              </a:rPr>
              <a:t>Lock the model</a:t>
            </a:r>
          </a:p>
        </p:txBody>
      </p:sp>
      <p:sp>
        <p:nvSpPr>
          <p:cNvPr id="54" name="future 1 text"/>
          <p:cNvSpPr txBox="1"/>
          <p:nvPr/>
        </p:nvSpPr>
        <p:spPr>
          <a:xfrm>
            <a:off x="822959" y="3611880"/>
            <a:ext cx="20116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1B2A41"/>
                </a:solidFill>
              </a:rPr>
              <a:t>Confirm the final champion and threshold on validation, with no further tuning on the test set.</a:t>
            </a:r>
          </a:p>
        </p:txBody>
      </p:sp>
      <p:cxnSp>
        <p:nvCxnSpPr>
          <p:cNvPr id="55" name="arrow"/>
          <p:cNvCxnSpPr/>
          <p:nvPr/>
        </p:nvCxnSpPr>
        <p:spPr>
          <a:xfrm>
            <a:off x="3145536" y="3429000"/>
            <a:ext cx="201168" cy="0"/>
          </a:xfrm>
          <a:prstGeom prst="line">
            <a:avLst/>
          </a:prstGeom>
          <a:ln w="25400">
            <a:solidFill>
              <a:srgbClr val="94A3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future card 2"/>
          <p:cNvSpPr/>
          <p:nvPr/>
        </p:nvSpPr>
        <p:spPr>
          <a:xfrm>
            <a:off x="3383280" y="1645920"/>
            <a:ext cx="2560320" cy="356616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number circle"/>
          <p:cNvSpPr/>
          <p:nvPr/>
        </p:nvSpPr>
        <p:spPr>
          <a:xfrm>
            <a:off x="3657600" y="1920240"/>
            <a:ext cx="685800" cy="685800"/>
          </a:xfrm>
          <a:prstGeom prst="ellipse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number"/>
          <p:cNvSpPr txBox="1"/>
          <p:nvPr/>
        </p:nvSpPr>
        <p:spPr>
          <a:xfrm>
            <a:off x="3657600" y="192024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59" name="future 2 head"/>
          <p:cNvSpPr txBox="1"/>
          <p:nvPr/>
        </p:nvSpPr>
        <p:spPr>
          <a:xfrm>
            <a:off x="3657600" y="2834640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B2A41"/>
                </a:solidFill>
              </a:rPr>
              <a:t>Stress-test over time</a:t>
            </a:r>
          </a:p>
        </p:txBody>
      </p:sp>
      <p:sp>
        <p:nvSpPr>
          <p:cNvPr id="60" name="future 2 text"/>
          <p:cNvSpPr txBox="1"/>
          <p:nvPr/>
        </p:nvSpPr>
        <p:spPr>
          <a:xfrm>
            <a:off x="3657600" y="3611880"/>
            <a:ext cx="20116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1B2A41"/>
                </a:solidFill>
              </a:rPr>
              <a:t>Check performance month by month across the test period to see whether it drifts.</a:t>
            </a:r>
          </a:p>
        </p:txBody>
      </p:sp>
      <p:cxnSp>
        <p:nvCxnSpPr>
          <p:cNvPr id="61" name="arrow"/>
          <p:cNvCxnSpPr/>
          <p:nvPr/>
        </p:nvCxnSpPr>
        <p:spPr>
          <a:xfrm>
            <a:off x="5980176" y="3429000"/>
            <a:ext cx="201168" cy="0"/>
          </a:xfrm>
          <a:prstGeom prst="line">
            <a:avLst/>
          </a:prstGeom>
          <a:ln w="25400">
            <a:solidFill>
              <a:srgbClr val="94A3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uture card 3"/>
          <p:cNvSpPr/>
          <p:nvPr/>
        </p:nvSpPr>
        <p:spPr>
          <a:xfrm>
            <a:off x="6217920" y="1645920"/>
            <a:ext cx="2560320" cy="356616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number circle"/>
          <p:cNvSpPr/>
          <p:nvPr/>
        </p:nvSpPr>
        <p:spPr>
          <a:xfrm>
            <a:off x="6492240" y="1920240"/>
            <a:ext cx="685800" cy="685800"/>
          </a:xfrm>
          <a:prstGeom prst="ellipse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number"/>
          <p:cNvSpPr txBox="1"/>
          <p:nvPr/>
        </p:nvSpPr>
        <p:spPr>
          <a:xfrm>
            <a:off x="6492240" y="192024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65" name="future 3 head"/>
          <p:cNvSpPr txBox="1"/>
          <p:nvPr/>
        </p:nvSpPr>
        <p:spPr>
          <a:xfrm>
            <a:off x="6492240" y="2834640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B2A41"/>
                </a:solidFill>
              </a:rPr>
              <a:t>Finish the dashboard</a:t>
            </a:r>
          </a:p>
        </p:txBody>
      </p:sp>
      <p:sp>
        <p:nvSpPr>
          <p:cNvPr id="66" name="future 3 text"/>
          <p:cNvSpPr txBox="1"/>
          <p:nvPr/>
        </p:nvSpPr>
        <p:spPr>
          <a:xfrm>
            <a:off x="6492240" y="3611880"/>
            <a:ext cx="20116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1B2A41"/>
                </a:solidFill>
              </a:rPr>
              <a:t>Move from demo to analyst-ready: alert reasons, filters and the threshold control.</a:t>
            </a:r>
          </a:p>
        </p:txBody>
      </p:sp>
      <p:cxnSp>
        <p:nvCxnSpPr>
          <p:cNvPr id="67" name="arrow"/>
          <p:cNvCxnSpPr/>
          <p:nvPr/>
        </p:nvCxnSpPr>
        <p:spPr>
          <a:xfrm>
            <a:off x="8814816" y="3429000"/>
            <a:ext cx="201168" cy="0"/>
          </a:xfrm>
          <a:prstGeom prst="line">
            <a:avLst/>
          </a:prstGeom>
          <a:ln w="25400">
            <a:solidFill>
              <a:srgbClr val="94A3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future card 4"/>
          <p:cNvSpPr/>
          <p:nvPr/>
        </p:nvSpPr>
        <p:spPr>
          <a:xfrm>
            <a:off x="9052560" y="1645920"/>
            <a:ext cx="2560320" cy="356616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number circle"/>
          <p:cNvSpPr/>
          <p:nvPr/>
        </p:nvSpPr>
        <p:spPr>
          <a:xfrm>
            <a:off x="9326880" y="1920240"/>
            <a:ext cx="685800" cy="6858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number"/>
          <p:cNvSpPr txBox="1"/>
          <p:nvPr/>
        </p:nvSpPr>
        <p:spPr>
          <a:xfrm>
            <a:off x="9326880" y="192024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0F1B2D"/>
                </a:solidFill>
                <a:latin typeface="Cambria"/>
              </a:rPr>
              <a:t>4</a:t>
            </a:r>
          </a:p>
        </p:txBody>
      </p:sp>
      <p:sp>
        <p:nvSpPr>
          <p:cNvPr id="71" name="future 4 head"/>
          <p:cNvSpPr txBox="1"/>
          <p:nvPr/>
        </p:nvSpPr>
        <p:spPr>
          <a:xfrm>
            <a:off x="9326880" y="2834640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B2A41"/>
                </a:solidFill>
              </a:rPr>
              <a:t>Document and package</a:t>
            </a:r>
          </a:p>
        </p:txBody>
      </p:sp>
      <p:sp>
        <p:nvSpPr>
          <p:cNvPr id="72" name="future 4 text"/>
          <p:cNvSpPr txBox="1"/>
          <p:nvPr/>
        </p:nvSpPr>
        <p:spPr>
          <a:xfrm>
            <a:off x="9326880" y="3611880"/>
            <a:ext cx="20116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1B2A41"/>
                </a:solidFill>
              </a:rPr>
              <a:t>Final report, run guide and reproducibility evidence for the Assessment 4 submission.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 lIns="0" tIns="0" rIns="0" bIns="0" anchor="ctr"/>
          <a:lstStyle/>
          <a:p>
            <a:r>
              <a:t>Conclusion</a:t>
            </a:r>
          </a:p>
        </p:txBody>
      </p:sp>
      <p:sp>
        <p:nvSpPr>
          <p:cNvPr id="3" name="conclusion 1 circle"/>
          <p:cNvSpPr/>
          <p:nvPr/>
        </p:nvSpPr>
        <p:spPr>
          <a:xfrm>
            <a:off x="731520" y="1691640"/>
            <a:ext cx="777240" cy="7772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onclusion 1 number"/>
          <p:cNvSpPr txBox="1"/>
          <p:nvPr/>
        </p:nvSpPr>
        <p:spPr>
          <a:xfrm>
            <a:off x="731520" y="169164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0F1B2D"/>
                </a:solidFill>
                <a:latin typeface="Cambria"/>
              </a:rPr>
              <a:t>1</a:t>
            </a:r>
          </a:p>
        </p:txBody>
      </p:sp>
      <p:sp>
        <p:nvSpPr>
          <p:cNvPr id="5" name="conclusion 1 head"/>
          <p:cNvSpPr txBox="1"/>
          <p:nvPr/>
        </p:nvSpPr>
        <p:spPr>
          <a:xfrm>
            <a:off x="1783080" y="1673352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A working, reproducible pipeline</a:t>
            </a:r>
          </a:p>
        </p:txBody>
      </p:sp>
      <p:sp>
        <p:nvSpPr>
          <p:cNvPr id="6" name="conclusion 1 text"/>
          <p:cNvSpPr txBox="1"/>
          <p:nvPr/>
        </p:nvSpPr>
        <p:spPr>
          <a:xfrm>
            <a:off x="1783080" y="2103120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CADCFC"/>
                </a:solidFill>
              </a:rPr>
              <a:t>1,852,394 transactions go from raw files to a dashboard in one command.</a:t>
            </a:r>
          </a:p>
        </p:txBody>
      </p:sp>
      <p:sp>
        <p:nvSpPr>
          <p:cNvPr id="7" name="conclusion 2 circle"/>
          <p:cNvSpPr/>
          <p:nvPr/>
        </p:nvSpPr>
        <p:spPr>
          <a:xfrm>
            <a:off x="731520" y="2880360"/>
            <a:ext cx="777240" cy="7772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onclusion 2 number"/>
          <p:cNvSpPr txBox="1"/>
          <p:nvPr/>
        </p:nvSpPr>
        <p:spPr>
          <a:xfrm>
            <a:off x="731520" y="288036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0F1B2D"/>
                </a:solidFill>
                <a:latin typeface="Cambria"/>
              </a:rPr>
              <a:t>2</a:t>
            </a:r>
          </a:p>
        </p:txBody>
      </p:sp>
      <p:sp>
        <p:nvSpPr>
          <p:cNvPr id="9" name="conclusion 2 head"/>
          <p:cNvSpPr txBox="1"/>
          <p:nvPr/>
        </p:nvSpPr>
        <p:spPr>
          <a:xfrm>
            <a:off x="1783080" y="2862072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Clear progress beyond Assessment 2</a:t>
            </a:r>
          </a:p>
        </p:txBody>
      </p:sp>
      <p:sp>
        <p:nvSpPr>
          <p:cNvPr id="10" name="conclusion 2 text"/>
          <p:cNvSpPr txBox="1"/>
          <p:nvPr/>
        </p:nvSpPr>
        <p:spPr>
          <a:xfrm>
            <a:off x="1783080" y="3291840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CADCFC"/>
                </a:solidFill>
              </a:rPr>
              <a:t>A layered architecture, four models compared and a cost-aware alert threshold.</a:t>
            </a:r>
          </a:p>
        </p:txBody>
      </p:sp>
      <p:sp>
        <p:nvSpPr>
          <p:cNvPr id="11" name="conclusion 3 circle"/>
          <p:cNvSpPr/>
          <p:nvPr/>
        </p:nvSpPr>
        <p:spPr>
          <a:xfrm>
            <a:off x="731520" y="4069080"/>
            <a:ext cx="777240" cy="7772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onclusion 3 number"/>
          <p:cNvSpPr txBox="1"/>
          <p:nvPr/>
        </p:nvSpPr>
        <p:spPr>
          <a:xfrm>
            <a:off x="731520" y="406908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0F1B2D"/>
                </a:solidFill>
                <a:latin typeface="Cambria"/>
              </a:rPr>
              <a:t>3</a:t>
            </a:r>
          </a:p>
        </p:txBody>
      </p:sp>
      <p:sp>
        <p:nvSpPr>
          <p:cNvPr id="13" name="conclusion 3 head"/>
          <p:cNvSpPr txBox="1"/>
          <p:nvPr/>
        </p:nvSpPr>
        <p:spPr>
          <a:xfrm>
            <a:off x="1783080" y="4050792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Results an analyst can act on</a:t>
            </a:r>
          </a:p>
        </p:txBody>
      </p:sp>
      <p:sp>
        <p:nvSpPr>
          <p:cNvPr id="14" name="conclusion 3 text"/>
          <p:cNvSpPr txBox="1"/>
          <p:nvPr/>
        </p:nvSpPr>
        <p:spPr>
          <a:xfrm>
            <a:off x="1783080" y="4480560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CADCFC"/>
                </a:solidFill>
              </a:rPr>
              <a:t>About 95% of fraud caught at roughly 12 alerts a day.</a:t>
            </a:r>
          </a:p>
        </p:txBody>
      </p:sp>
      <p:sp>
        <p:nvSpPr>
          <p:cNvPr id="15" name="thanks"/>
          <p:cNvSpPr txBox="1"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F59E0B"/>
                </a:solidFill>
                <a:latin typeface="Cambria"/>
              </a:rPr>
              <a:t>Thank you.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audLens">
  <a:themeElements>
    <a:clrScheme name="FraudLens">
      <a:dk1>
        <a:srgbClr val="1B2A41"/>
      </a:dk1>
      <a:lt1>
        <a:srgbClr val="FFFFFF"/>
      </a:lt1>
      <a:dk2>
        <a:srgbClr val="0F1B2D"/>
      </a:dk2>
      <a:lt2>
        <a:srgbClr val="EEF2F7"/>
      </a:lt2>
      <a:accent1>
        <a:srgbClr val="F59E0B"/>
      </a:accent1>
      <a:accent2>
        <a:srgbClr val="0E9F8E"/>
      </a:accent2>
      <a:accent3>
        <a:srgbClr val="D64545"/>
      </a:accent3>
      <a:accent4>
        <a:srgbClr val="3B5B8C"/>
      </a:accent4>
      <a:accent5>
        <a:srgbClr val="94A3B8"/>
      </a:accent5>
      <a:accent6>
        <a:srgbClr val="64748B"/>
      </a:accent6>
      <a:hlink>
        <a:srgbClr val="3B5B8C"/>
      </a:hlink>
      <a:folHlink>
        <a:srgbClr val="64748B"/>
      </a:folHlink>
    </a:clrScheme>
    <a:fontScheme name="FraudLen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1610</Words>
  <Application>Microsoft Macintosh PowerPoint</Application>
  <PresentationFormat>Widescreen</PresentationFormat>
  <Paragraphs>332</Paragraphs>
  <Slides>20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</vt:lpstr>
      <vt:lpstr>Courier New</vt:lpstr>
      <vt:lpstr>FraudLens</vt:lpstr>
      <vt:lpstr>PowerPoint Presentation</vt:lpstr>
      <vt:lpstr>Why FraudLens?</vt:lpstr>
      <vt:lpstr>What FraudLens Covers</vt:lpstr>
      <vt:lpstr>Five Objectives of FraudLens</vt:lpstr>
      <vt:lpstr>From Proposal to Developed Solution</vt:lpstr>
      <vt:lpstr>Updated System Architecture</vt:lpstr>
      <vt:lpstr>Why a Layered Architecture</vt:lpstr>
      <vt:lpstr>Workflow</vt:lpstr>
      <vt:lpstr>Implementation Progress — Model Lineup</vt:lpstr>
      <vt:lpstr>Where We Stand</vt:lpstr>
      <vt:lpstr>One command, raw data to dashboard</vt:lpstr>
      <vt:lpstr>Fraud follows learnable patterns</vt:lpstr>
      <vt:lpstr>The dashboard turns scores into decisions</vt:lpstr>
      <vt:lpstr>Four models, one honest test</vt:lpstr>
      <vt:lpstr>The simpler model won on evidence</vt:lpstr>
      <vt:lpstr>95% of fraud caught at 12 alerts a day</vt:lpstr>
      <vt:lpstr>Key takeaways</vt:lpstr>
      <vt:lpstr>Four challenges shaped the build</vt:lpstr>
      <vt:lpstr>What we finish before Assessment 4</vt:lpstr>
      <vt:lpstr>Conclusion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FraudLens: Current System, Analytics and Machine Learning</dc:title>
  <dc:subject>PptxGenJS Presentation</dc:subject>
  <dc:creator>PptxGenJS</dc:creator>
  <cp:lastModifiedBy>Ahmed Zabir Hussain</cp:lastModifiedBy>
  <cp:revision>4</cp:revision>
  <dcterms:created xsi:type="dcterms:W3CDTF">2026-10-03T14:47:03Z</dcterms:created>
  <dcterms:modified xsi:type="dcterms:W3CDTF">2026-10-04T09:29:54Z</dcterms:modified>
</cp:coreProperties>
</file>